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e11c5d9-cfa9-45eb-715c-5dbcb5a320b6}">
          <p14:sldIdLst>
            <p14:sldId id="256"/>
          </p14:sldIdLst>
        </p14:section>
        <p14:section name="The challenge" id="{0b09d012-6fb5-dca5-7d81-ef486eaa6ab7}">
          <p14:sldIdLst>
            <p14:sldId id="257"/>
          </p14:sldIdLst>
        </p14:section>
        <p14:section name="The work" id="{ea3a0535-41ac-d14f-4806-488dfc59e6c6}">
          <p14:sldIdLst>
            <p14:sldId id="258"/>
          </p14:sldIdLst>
        </p14:section>
        <p14:section name="The study" id="{8a65413e-657b-0724-75f3-e08405875234}">
          <p14:sldIdLst>
            <p14:sldId id="259"/>
          </p14:sldIdLst>
        </p14:section>
        <p14:section name="What we built" id="{b6bf9fa1-3ec3-40a9-59d0-93066d43b481}">
          <p14:sldIdLst>
            <p14:sldId id="260"/>
            <p14:sldId id="261"/>
            <p14:sldId id="262"/>
            <p14:sldId id="263"/>
            <p14:sldId id="264"/>
          </p14:sldIdLst>
        </p14:section>
        <p14:section name="The proof" id="{62f71a59-9675-4b95-6d35-3811c7ae7a2d}">
          <p14:sldIdLst>
            <p14:sldId id="265"/>
            <p14:sldId id="266"/>
            <p14:sldId id="267"/>
          </p14:sldIdLst>
        </p14:section>
        <p14:section name="Impact" id="{43ff7205-1047-97b6-3a0f-916b18f786cb}">
          <p14:sldIdLst>
            <p14:sldId id="268"/>
          </p14:sldIdLst>
        </p14:section>
        <p14:section name="Next level" id="{93da0271-4dd7-7ad2-dbbe-139a3c22040f}">
          <p14:sldIdLst>
            <p14:sldId id="269"/>
            <p14:sldId id="270"/>
            <p14:sldId id="271"/>
            <p14:sldId id="272"/>
            <p14:sldId id="273"/>
            <p14:sldId id="274"/>
          </p14:sldIdLst>
        </p14:section>
        <p14:section name="The future" id="{718e268c-5e3e-1efe-41d0-0cdb5a5ec45d}">
          <p14:sldIdLst>
            <p14:sldId id="275"/>
            <p14:sldId id="276"/>
            <p14:sldId id="277"/>
            <p14:sldId id="278"/>
          </p14:sldIdLst>
        </p14:section>
        <p14:section name="Closing" id="{f66424a5-7e25-59ab-17ad-479ce1041422}">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2232B"/>
                </a:solidFill>
                <a:latin typeface="+mn-lt"/>
              </a:defRPr>
            </a:pPr>
            <a:r>
              <a:rPr sz="1600" b="0" i="0" u="none" strike="noStrike">
                <a:solidFill>
                  <a:srgbClr val="12232B"/>
                </a:solidFill>
                <a:latin typeface="+mn-lt"/>
              </a:rPr>
              <a:t>Rush test: 5,000 buyers for 4,500 seats</a:t>
            </a:r>
          </a:p>
        </c:rich>
      </c:tx>
      <c:layout/>
      <c:overlay val="0"/>
    </c:title>
    <c:autoTitleDeleted val="0"/>
    <c:plotArea>
      <c:layout/>
      <c:barChart>
        <c:barDir val="col"/>
        <c:grouping val="clustered"/>
        <c:varyColors val="0"/>
        <c:ser>
          <c:idx val="0"/>
          <c:order val="0"/>
          <c:tx>
            <c:strRef>
              <c:f>Sheet1!$B$1</c:f>
              <c:strCache>
                <c:ptCount val="1"/>
                <c:pt idx="0">
                  <c:v>Buyers</c:v>
                </c:pt>
              </c:strCache>
            </c:strRef>
          </c:tx>
          <c:spPr>
            <a:solidFill>
              <a:srgbClr val="0B6E6E"/>
            </a:solidFill>
            <a:effectLst/>
          </c:spPr>
          <c:invertIfNegative val="0"/>
          <c:dLbls>
            <c:numFmt formatCode="#,##0" sourceLinked="0"/>
            <c:txPr>
              <a:bodyPr/>
              <a:lstStyle/>
              <a:p>
                <a:pPr>
                  <a:defRPr b="0" i="0" strike="noStrike" sz="1400" u="none">
                    <a:solidFill>
                      <a:srgbClr val="12232B"/>
                    </a:solidFill>
                    <a:latin typeface="+mn-lt"/>
                  </a:defRPr>
                </a:pPr>
              </a:p>
            </c:txPr>
            <c:showLegendKey val="0"/>
            <c:showVal val="1"/>
            <c:showCatName val="0"/>
            <c:showSerName val="0"/>
            <c:showPercent val="0"/>
            <c:showBubbleSize val="0"/>
            <c:showLeaderLines val="0"/>
          </c:dLbls>
          <c:dPt>
            <c:idx val="0"/>
            <c:invertIfNegative val="0"/>
            <c:bubble3D val="0"/>
            <c:spPr>
              <a:solidFill>
                <a:srgbClr val="0B6E6E"/>
              </a:solidFill>
              <a:effectLst/>
            </c:spPr>
          </c:dPt>
          <c:dPt>
            <c:idx val="1"/>
            <c:invertIfNegative val="0"/>
            <c:bubble3D val="0"/>
            <c:spPr>
              <a:solidFill>
                <a:srgbClr val="A8431F"/>
              </a:solidFill>
              <a:effectLst/>
            </c:spPr>
          </c:dPt>
          <c:cat>
            <c:multiLvlStrRef>
              <c:f>Sheet1!$A$2:$A$3</c:f>
              <c:multiLvlStrCache>
                <c:ptCount val="2"/>
                <c:lvl>
                  <c:pt idx="0">
                    <c:v>Got a seat</c:v>
                  </c:pt>
                  <c:pt idx="1">
                    <c:v>Sold out</c:v>
                  </c:pt>
                </c:lvl>
              </c:multiLvlStrCache>
            </c:multiLvlStrRef>
          </c:cat>
          <c:val>
            <c:numRef>
              <c:f>Sheet1!$B$2:$B$3</c:f>
              <c:numCache>
                <c:formatCode>General</c:formatCode>
                <c:ptCount val="2"/>
                <c:pt idx="0">
                  <c:v>4500</c:v>
                </c:pt>
                <c:pt idx="1">
                  <c:v>500</c:v>
                </c:pt>
              </c:numCache>
            </c:numRef>
          </c:val>
        </c:ser>
        <c:dLbls>
          <c:numFmt formatCode="#,##0" sourceLinked="0"/>
          <c:txPr>
            <a:bodyPr/>
            <a:lstStyle/>
            <a:p>
              <a:pPr>
                <a:defRPr b="0" i="0" strike="noStrike" sz="1400" u="none">
                  <a:solidFill>
                    <a:srgbClr val="1223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5000"/>
        </c:scaling>
        <c:delete val="0"/>
        <c:axPos val="l"/>
        <c:majorGridlines>
          <c:spPr>
            <a:ln w="6350" cap="flat">
              <a:solidFill>
                <a:srgbClr val="D9D5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who you are and the one-sentence story: 5,000 students press Buy at 6 PM; we studied a real app, found twelve weak spots, and rebuilt the core so each rule is one all-or-nothing step. The numbers on the right are from our own rush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in plain words. Three things must never go wrong: selling more than exists, locking seats for people who never pay, and letting one pass in twice. Everything we did serves these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one to three happened Monday: study, find weak spots, write the design. Phases four and five were Tuesday morning: build and deliver. Nothing was copied from the original; it is PHP and ours is TypeScript.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something we read in the Hi.Events code, with its file and line. Be clear that some findings are reasoned from the code and were not reproduced; the documents mark which. The honest framing builds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targets the most serious weakness, shared seats. The differentiator is something Hi.Events does not have at all: a waiting room and a per-buyer limit. Both are tested, including races between separate database 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waiting room is optional. A hold reserves seats and starts a timer. Pay turns reserved into sold and creates tickets with secret QR codes. At the gate each QR works once. Two small code boxes show that the key rules are single guarded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to bottom. People talk to one web layer that only checks input and keys. The web layer calls a few small modules, one per job. Only the inventory module changes the held and sold counters, so there is one place to get right. Everything ends in one SQLite file where each request is one all-or-nothing transaction and the database itself refuses an impossible count. This is the code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steps left to right. Under each one are the refusals it can give, each with its code. Every refusal is the same kind of step: a conditional update where the number of rows changed is the answer. Nothing is checked first and changed later, so there is no gap for a second buyer to slip into. The self-check recomputes all counts after every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required killer tests, with an everyday picture each. The word to stress is "at the same moment": we test with parallel requests and, more strongly, with separate database connections released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numbers from our own runs on one Windows laptop. The rush test is the picture: 5,000 buyers, 4,500 seats, exactly 4,500 holds and 500 refusals. After every test, an automatic check recomputes all the counts from the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test that can never fail proves nothing. We removed one safeguard at a time, ran the tests, and put it back. Each time the matching tests turned red. This is written up in the agent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these in order. The first shows all tests green, the second the waiting room and the buyer limit, the third the rush. If anything is slow, keep talking and wait; if it fails, run it once more or show the evidence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"what exactly did you change". Left is what we read in Hi.Events, right is what we did, with the effect. Remember the honesty note: findings marked reasoned were not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patterns come from public system-design write-ups about BookMyShow-style and Ticketmaster-style systems, not from their private internals. We already share the core ideas; the differences are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clearly: this is a separate folder, built after the submission, not part of what was submitted. It is a backend with tests. There are no screens, the payment gateway is simulated, and Redis was only tried through an in-process stand-in. Each card is something the submitted version did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next-level prototype, in a separate folder. The API can run as any number of copies. They share PostgreSQL, which is the judge, and Redis, which is only a shield and a cache. The payment gateway is simulated: it signs webhooks and keeps its own books, so reconciliation has something to compare against. Workers run in every copy and are safe to run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then the four cases. The gateway here is simulated, but the webhook path (signature check, store each message once, late-payment refund) is the real code a gateway adapter would use. Each of the four cases has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then the honest part. Six safeguards were removed one at a time and a test went red each time. The first try caught only some, because the Redis shield hid the database check. We fixed the tests so the database is proven on its own. Two real server processes were run against one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both halves. Correctness: 5,000 buyers, 4,500 seats, every winner paid, nothing oversold, audit clean. Speed: the hold rush took 186 seconds on this laptop, far slower than the submitted version. In-process the same step ran at about 385 a second, so the waiting is at the one hot counter. We did not find the full cause and did not try Linux. Do not hide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zero is built and measured. Stages one to six are plans with targets, each gated by a measurement. The key idea: our rules are single guarded steps and events are independent, so scaling is infrastructure, not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a plan, not built. The idea: the rules stay the same single guarded steps, so scaling is infrastructure. Put a waiting room and a content network in front, run many API copies, shard the database by event because events are independent, split the hottest counter into sub-pools, and move payment messages to workers. The self-check and the race tests already exist to prove each change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huge scale every buyer wants the same event, so its single held counter becomes the bottleneck. The usual attack is layered: queue first, cache the looks, a fast gate, the database as the real judge, and an audit that heals drift. We already have the audit and the race tests that make counter-splitting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plan with targets, each gated by a measurement. The first job is to find the speed limit on a Linux database, because speed on one laptop is the open problem. Then split the hot counter. Real Redis and a real gateway sandbox need accounts and keys. Screens come after the engine is fast. The last gate is the one that matters: a real small event where every rupee reconciles.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before anyone asks. Then give the single most useful next step: move to PostgreSQL and run the existing tests from two servers. It removes the one-machine ceiling, and the tests already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 sentence, then the four numbers. Invite questions. Have the repo open and the terminal ready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74320"/>
          </a:xfrm>
          <a:prstGeom prst="rect">
            <a:avLst/>
          </a:prstGeom>
          <a:noFill/>
          <a:ln/>
        </p:spPr>
        <p:txBody>
          <a:bodyPr wrap="square" lIns="0" tIns="0" rIns="0" bIns="0" rtlCol="0" anchor="ctr"/>
          <a:lstStyle/>
          <a:p>
            <a:pPr indent="0" marL="0">
              <a:buNone/>
            </a:pPr>
            <a:r>
              <a:rPr lang="en-US" sz="1100" dirty="0">
                <a:solidFill>
                  <a:schemeClr val="accent4"/>
                </a:solidFill>
                <a:latin typeface="Calibri" pitchFamily="34" charset="0"/>
                <a:ea typeface="Calibri" pitchFamily="34" charset="-122"/>
                <a:cs typeface="Calibri" pitchFamily="34" charset="-120"/>
              </a:rPr>
              <a:t>AtomicPass · Team DBG-462</a:t>
            </a:r>
            <a:endParaRPr lang="en-US" sz="11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777240"/>
            <a:ext cx="7772400" cy="365760"/>
          </a:xfrm>
          <a:prstGeom prst="rect">
            <a:avLst/>
          </a:prstGeom>
          <a:noFill/>
          <a:ln/>
        </p:spPr>
        <p:txBody>
          <a:bodyPr wrap="square" lIns="508" tIns="508" rIns="508" bIns="508" rtlCol="0" anchor="t"/>
          <a:lstStyle/>
          <a:p>
            <a:pPr algn="l" indent="0" marL="0">
              <a:buNone/>
            </a:pPr>
            <a:r>
              <a:rPr lang="en-US" sz="1400" b="1" spc="300" kern="0" dirty="0">
                <a:solidFill>
                  <a:schemeClr val="accent2"/>
                </a:solidFill>
                <a:latin typeface="Calibri" pitchFamily="34" charset="0"/>
                <a:ea typeface="Calibri" pitchFamily="34" charset="-122"/>
                <a:cs typeface="Calibri" pitchFamily="34" charset="-120"/>
              </a:rPr>
              <a:t>FINTECH · PS 01 “THE BOX OFFICE” · TEAM DBG-462</a:t>
            </a:r>
            <a:endParaRPr lang="en-US" sz="1400" dirty="0"/>
          </a:p>
        </p:txBody>
      </p:sp>
      <p:sp>
        <p:nvSpPr>
          <p:cNvPr id="3" name="Text 1"/>
          <p:cNvSpPr/>
          <p:nvPr/>
        </p:nvSpPr>
        <p:spPr>
          <a:xfrm>
            <a:off x="0" y="0"/>
            <a:ext cx="9144000" cy="0"/>
          </a:xfrm>
          <a:prstGeom prst="rect">
            <a:avLst/>
          </a:prstGeom>
          <a:noFill/>
          <a:ln/>
        </p:spPr>
        <p:txBody>
          <a:bodyPr wrap="square" rtlCol="0"/>
          <a:lstStyle/>
          <a:p>
            <a:pPr indent="0" marL="0">
              <a:buNone/>
            </a:pPr>
            <a:r>
              <a:rPr lang="en-US" dirty="0"/>
              <a:t>AtomicPass</a:t>
            </a:r>
            <a:endParaRPr lang="en-US" dirty="0"/>
          </a:p>
        </p:txBody>
      </p:sp>
      <p:sp>
        <p:nvSpPr>
          <p:cNvPr id="4" name="subtitle"/>
          <p:cNvSpPr txBox="1"/>
          <p:nvPr/>
        </p:nvSpPr>
        <p:spPr>
          <a:xfrm>
            <a:off x="731520" y="2697480"/>
            <a:ext cx="6766560" cy="914400"/>
          </a:xfrm>
          <a:prstGeom prst="rect">
            <a:avLst/>
          </a:prstGeom>
          <a:noFill/>
          <a:ln/>
        </p:spPr>
        <p:txBody>
          <a:bodyPr wrap="square" lIns="508" tIns="508" rIns="508" bIns="508" rtlCol="0" anchor="t"/>
          <a:lstStyle/>
          <a:p>
            <a:pPr algn="l" indent="0" marL="0">
              <a:buNone/>
            </a:pPr>
            <a:r>
              <a:rPr lang="en-US" sz="2600" dirty="0">
                <a:solidFill>
                  <a:schemeClr val="bg2"/>
                </a:solidFill>
                <a:latin typeface="Calibri" pitchFamily="34" charset="0"/>
                <a:ea typeface="Calibri" pitchFamily="34" charset="-122"/>
                <a:cs typeface="Calibri" pitchFamily="34" charset="-120"/>
              </a:rPr>
              <a:t>Concurrency-safe, rush-proof event ticketing</a:t>
            </a:r>
            <a:endParaRPr lang="en-US" sz="2600" dirty="0"/>
          </a:p>
        </p:txBody>
      </p:sp>
      <p:sp>
        <p:nvSpPr>
          <p:cNvPr id="5" name="summary"/>
          <p:cNvSpPr txBox="1"/>
          <p:nvPr/>
        </p:nvSpPr>
        <p:spPr>
          <a:xfrm>
            <a:off x="731520" y="3657600"/>
            <a:ext cx="6583680" cy="1188720"/>
          </a:xfrm>
          <a:prstGeom prst="rect">
            <a:avLst/>
          </a:prstGeom>
          <a:noFill/>
          <a:ln/>
        </p:spPr>
        <p:txBody>
          <a:bodyPr wrap="square" lIns="508" tIns="508" rIns="508" bIns="508" rtlCol="0" anchor="t"/>
          <a:lstStyle/>
          <a:p>
            <a:pPr algn="l" indent="0" marL="0">
              <a:buNone/>
            </a:pPr>
            <a:r>
              <a:rPr lang="en-US" sz="1800" dirty="0">
                <a:solidFill>
                  <a:schemeClr val="bg2"/>
                </a:solidFill>
                <a:latin typeface="Calibri" pitchFamily="34" charset="0"/>
                <a:ea typeface="Calibri" pitchFamily="34" charset="-122"/>
                <a:cs typeface="Calibri" pitchFamily="34" charset="-120"/>
              </a:rPr>
              <a:t>We studied a real ticketing app, found where it is weak, rebuilt the core so every rule is one all-or-nothing step, then took it further on PostgreSQL.</a:t>
            </a:r>
            <a:endParaRPr lang="en-US" sz="1800" dirty="0"/>
          </a:p>
        </p:txBody>
      </p:sp>
      <p:sp>
        <p:nvSpPr>
          <p:cNvPr id="6" name="team"/>
          <p:cNvSpPr txBox="1"/>
          <p:nvPr/>
        </p:nvSpPr>
        <p:spPr>
          <a:xfrm>
            <a:off x="731520" y="5486400"/>
            <a:ext cx="6858000" cy="731520"/>
          </a:xfrm>
          <a:prstGeom prst="rect">
            <a:avLst/>
          </a:prstGeom>
          <a:noFill/>
          <a:ln/>
        </p:spPr>
        <p:txBody>
          <a:bodyPr wrap="square" lIns="508" tIns="508" rIns="508" bIns="508" rtlCol="0" anchor="t"/>
          <a:lstStyle/>
          <a:p>
            <a:pPr algn="l" indent="0" marL="0">
              <a:buNone/>
            </a:pPr>
            <a:r>
              <a:rPr lang="en-US" sz="1600" dirty="0">
                <a:solidFill>
                  <a:schemeClr val="bg1"/>
                </a:solidFill>
                <a:latin typeface="Calibri" pitchFamily="34" charset="0"/>
                <a:ea typeface="Calibri" pitchFamily="34" charset="-122"/>
                <a:cs typeface="Calibri" pitchFamily="34" charset="-120"/>
              </a:rPr>
              <a:t>A Yash · Ayush · G Kavin</a:t>
            </a:r>
            <a:endParaRPr lang="en-US" sz="1600" dirty="0"/>
          </a:p>
          <a:p>
            <a:pPr algn="l" indent="0" marL="0">
              <a:buNone/>
            </a:pPr>
            <a:r>
              <a:rPr lang="en-US" sz="1600" dirty="0">
                <a:solidFill>
                  <a:schemeClr val="bg1"/>
                </a:solidFill>
                <a:latin typeface="Calibri" pitchFamily="34" charset="0"/>
                <a:ea typeface="Calibri" pitchFamily="34" charset="-122"/>
                <a:cs typeface="Calibri" pitchFamily="34" charset="-120"/>
              </a:rPr>
              <a:t>github.com/Yash13606/debugdevise</a:t>
            </a:r>
            <a:endParaRPr lang="en-US" sz="1600" dirty="0"/>
          </a:p>
        </p:txBody>
      </p:sp>
      <p:sp>
        <p:nvSpPr>
          <p:cNvPr id="7" name="stat panel"/>
          <p:cNvSpPr/>
          <p:nvPr/>
        </p:nvSpPr>
        <p:spPr>
          <a:xfrm>
            <a:off x="7955280" y="1005840"/>
            <a:ext cx="3657600" cy="4846320"/>
          </a:xfrm>
          <a:prstGeom prst="roundRect">
            <a:avLst>
              <a:gd name="adj" fmla="val 3000"/>
            </a:avLst>
          </a:prstGeom>
          <a:solidFill>
            <a:schemeClr val="accent6"/>
          </a:solidFill>
          <a:ln w="12700">
            <a:solidFill>
              <a:schemeClr val="accent6"/>
            </a:solidFill>
            <a:prstDash val="solid"/>
          </a:ln>
        </p:spPr>
      </p:sp>
      <p:sp>
        <p:nvSpPr>
          <p:cNvPr id="8" name="stat 5,000"/>
          <p:cNvSpPr txBox="1"/>
          <p:nvPr/>
        </p:nvSpPr>
        <p:spPr>
          <a:xfrm>
            <a:off x="8229600" y="1234440"/>
            <a:ext cx="3108960" cy="777240"/>
          </a:xfrm>
          <a:prstGeom prst="rect">
            <a:avLst/>
          </a:prstGeom>
          <a:noFill/>
          <a:ln/>
        </p:spPr>
        <p:txBody>
          <a:bodyPr wrap="square" lIns="508" tIns="508" rIns="508" bIns="508"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5,000</a:t>
            </a:r>
            <a:endParaRPr lang="en-US" sz="4400" dirty="0"/>
          </a:p>
        </p:txBody>
      </p:sp>
      <p:sp>
        <p:nvSpPr>
          <p:cNvPr id="9" name="stat label 5,000"/>
          <p:cNvSpPr txBox="1"/>
          <p:nvPr/>
        </p:nvSpPr>
        <p:spPr>
          <a:xfrm>
            <a:off x="8229600" y="2011680"/>
            <a:ext cx="3108960" cy="411480"/>
          </a:xfrm>
          <a:prstGeom prst="rect">
            <a:avLst/>
          </a:prstGeom>
          <a:noFill/>
          <a:ln/>
        </p:spPr>
        <p:txBody>
          <a:bodyPr wrap="square" lIns="508" tIns="508" rIns="508" bIns="508" rtlCol="0" anchor="t"/>
          <a:lstStyle/>
          <a:p>
            <a:pPr algn="l" indent="0" marL="0">
              <a:buNone/>
            </a:pPr>
            <a:r>
              <a:rPr lang="en-US" sz="1600" dirty="0">
                <a:solidFill>
                  <a:schemeClr val="bg2"/>
                </a:solidFill>
                <a:latin typeface="Calibri" pitchFamily="34" charset="0"/>
                <a:ea typeface="Calibri" pitchFamily="34" charset="-122"/>
                <a:cs typeface="Calibri" pitchFamily="34" charset="-120"/>
              </a:rPr>
              <a:t>buyers press Buy at once</a:t>
            </a:r>
            <a:endParaRPr lang="en-US" sz="1600" dirty="0"/>
          </a:p>
        </p:txBody>
      </p:sp>
      <p:sp>
        <p:nvSpPr>
          <p:cNvPr id="10" name="stat 4,500"/>
          <p:cNvSpPr txBox="1"/>
          <p:nvPr/>
        </p:nvSpPr>
        <p:spPr>
          <a:xfrm>
            <a:off x="8229600" y="2743200"/>
            <a:ext cx="3108960" cy="777240"/>
          </a:xfrm>
          <a:prstGeom prst="rect">
            <a:avLst/>
          </a:prstGeom>
          <a:noFill/>
          <a:ln/>
        </p:spPr>
        <p:txBody>
          <a:bodyPr wrap="square" lIns="508" tIns="508" rIns="508" bIns="508" rtlCol="0" anchor="t"/>
          <a:lstStyle/>
          <a:p>
            <a:pPr algn="l" indent="0" marL="0">
              <a:buNone/>
            </a:pPr>
            <a:r>
              <a:rPr lang="en-US" sz="4400" b="1" dirty="0">
                <a:solidFill>
                  <a:schemeClr val="accent2"/>
                </a:solidFill>
                <a:latin typeface="Cambria" pitchFamily="34" charset="0"/>
                <a:ea typeface="Cambria" pitchFamily="34" charset="-122"/>
                <a:cs typeface="Cambria" pitchFamily="34" charset="-120"/>
              </a:rPr>
              <a:t>4,500</a:t>
            </a:r>
            <a:endParaRPr lang="en-US" sz="4400" dirty="0"/>
          </a:p>
        </p:txBody>
      </p:sp>
      <p:sp>
        <p:nvSpPr>
          <p:cNvPr id="11" name="stat label 4,500"/>
          <p:cNvSpPr txBox="1"/>
          <p:nvPr/>
        </p:nvSpPr>
        <p:spPr>
          <a:xfrm>
            <a:off x="8229600" y="3520440"/>
            <a:ext cx="3108960" cy="411480"/>
          </a:xfrm>
          <a:prstGeom prst="rect">
            <a:avLst/>
          </a:prstGeom>
          <a:noFill/>
          <a:ln/>
        </p:spPr>
        <p:txBody>
          <a:bodyPr wrap="square" lIns="508" tIns="508" rIns="508" bIns="508" rtlCol="0" anchor="t"/>
          <a:lstStyle/>
          <a:p>
            <a:pPr algn="l" indent="0" marL="0">
              <a:buNone/>
            </a:pPr>
            <a:r>
              <a:rPr lang="en-US" sz="1600" dirty="0">
                <a:solidFill>
                  <a:schemeClr val="bg2"/>
                </a:solidFill>
                <a:latin typeface="Calibri" pitchFamily="34" charset="0"/>
                <a:ea typeface="Calibri" pitchFamily="34" charset="-122"/>
                <a:cs typeface="Calibri" pitchFamily="34" charset="-120"/>
              </a:rPr>
              <a:t>seats on sale</a:t>
            </a:r>
            <a:endParaRPr lang="en-US" sz="1600" dirty="0"/>
          </a:p>
        </p:txBody>
      </p:sp>
      <p:sp>
        <p:nvSpPr>
          <p:cNvPr id="12" name="stat 0"/>
          <p:cNvSpPr txBox="1"/>
          <p:nvPr/>
        </p:nvSpPr>
        <p:spPr>
          <a:xfrm>
            <a:off x="8229600" y="4251960"/>
            <a:ext cx="3108960" cy="777240"/>
          </a:xfrm>
          <a:prstGeom prst="rect">
            <a:avLst/>
          </a:prstGeom>
          <a:noFill/>
          <a:ln/>
        </p:spPr>
        <p:txBody>
          <a:bodyPr wrap="square" lIns="508" tIns="508" rIns="508" bIns="508"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0</a:t>
            </a:r>
            <a:endParaRPr lang="en-US" sz="4400" dirty="0"/>
          </a:p>
        </p:txBody>
      </p:sp>
      <p:sp>
        <p:nvSpPr>
          <p:cNvPr id="13" name="stat label 0"/>
          <p:cNvSpPr txBox="1"/>
          <p:nvPr/>
        </p:nvSpPr>
        <p:spPr>
          <a:xfrm>
            <a:off x="8229600" y="5029200"/>
            <a:ext cx="3108960" cy="411480"/>
          </a:xfrm>
          <a:prstGeom prst="rect">
            <a:avLst/>
          </a:prstGeom>
          <a:noFill/>
          <a:ln/>
        </p:spPr>
        <p:txBody>
          <a:bodyPr wrap="square" lIns="508" tIns="508" rIns="508" bIns="508" rtlCol="0" anchor="t"/>
          <a:lstStyle/>
          <a:p>
            <a:pPr algn="l" indent="0" marL="0">
              <a:buNone/>
            </a:pPr>
            <a:r>
              <a:rPr lang="en-US" sz="1600" dirty="0">
                <a:solidFill>
                  <a:schemeClr val="bg2"/>
                </a:solidFill>
                <a:latin typeface="Calibri" pitchFamily="34" charset="0"/>
                <a:ea typeface="Calibri" pitchFamily="34" charset="-122"/>
                <a:cs typeface="Calibri" pitchFamily="34" charset="-120"/>
              </a:rPr>
              <a:t>oversold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5,000 students press Buy in the same second</a:t>
            </a:r>
            <a:endParaRPr lang="en-US" dirty="0"/>
          </a:p>
        </p:txBody>
      </p:sp>
      <p:sp>
        <p:nvSpPr>
          <p:cNvPr id="4" name="quote card"/>
          <p:cNvSpPr/>
          <p:nvPr/>
        </p:nvSpPr>
        <p:spPr>
          <a:xfrm>
            <a:off x="548640" y="1417320"/>
            <a:ext cx="4846320" cy="4297680"/>
          </a:xfrm>
          <a:prstGeom prst="roundRect">
            <a:avLst>
              <a:gd name="adj" fmla="val 2553"/>
            </a:avLst>
          </a:prstGeom>
          <a:solidFill>
            <a:schemeClr val="accent6"/>
          </a:solidFill>
          <a:ln w="12700">
            <a:solidFill>
              <a:schemeClr val="accent6"/>
            </a:solidFill>
            <a:prstDash val="solid"/>
          </a:ln>
        </p:spPr>
      </p:sp>
      <p:sp>
        <p:nvSpPr>
          <p:cNvPr id="5" name="quote"/>
          <p:cNvSpPr txBox="1"/>
          <p:nvPr/>
        </p:nvSpPr>
        <p:spPr>
          <a:xfrm>
            <a:off x="822960" y="1691640"/>
            <a:ext cx="4297680" cy="1463040"/>
          </a:xfrm>
          <a:prstGeom prst="rect">
            <a:avLst/>
          </a:prstGeom>
          <a:noFill/>
          <a:ln/>
        </p:spPr>
        <p:txBody>
          <a:bodyPr wrap="square" lIns="508" tIns="508" rIns="508" bIns="508"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A college fest releases 5,000 passes at 6 PM.</a:t>
            </a:r>
            <a:endParaRPr lang="en-US" sz="2800" dirty="0"/>
          </a:p>
        </p:txBody>
      </p:sp>
      <p:sp>
        <p:nvSpPr>
          <p:cNvPr id="6" name="quote sub"/>
          <p:cNvSpPr txBox="1"/>
          <p:nvPr/>
        </p:nvSpPr>
        <p:spPr>
          <a:xfrm>
            <a:off x="822960" y="3474720"/>
            <a:ext cx="4297680" cy="1463040"/>
          </a:xfrm>
          <a:prstGeom prst="rect">
            <a:avLst/>
          </a:prstGeom>
          <a:noFill/>
          <a:ln/>
        </p:spPr>
        <p:txBody>
          <a:bodyPr wrap="square" lIns="508" tIns="508" rIns="508" bIns="508" rtlCol="0" anchor="t"/>
          <a:lstStyle/>
          <a:p>
            <a:pPr algn="l" indent="0" marL="0">
              <a:buNone/>
            </a:pPr>
            <a:r>
              <a:rPr lang="en-US" sz="1800" dirty="0">
                <a:solidFill>
                  <a:schemeClr val="bg2"/>
                </a:solidFill>
                <a:latin typeface="Calibri" pitchFamily="34" charset="0"/>
                <a:ea typeface="Calibri" pitchFamily="34" charset="-122"/>
                <a:cs typeface="Calibri" pitchFamily="34" charset="-120"/>
              </a:rPr>
              <a:t>Most systems break in one of three ways. The next slide’s three rules are what we had to guarantee.</a:t>
            </a:r>
            <a:endParaRPr lang="en-US" sz="1800" dirty="0"/>
          </a:p>
        </p:txBody>
      </p:sp>
      <p:sp>
        <p:nvSpPr>
          <p:cNvPr id="7" name="badge 1"/>
          <p:cNvSpPr/>
          <p:nvPr/>
        </p:nvSpPr>
        <p:spPr>
          <a:xfrm>
            <a:off x="5760720" y="1508760"/>
            <a:ext cx="640080" cy="640080"/>
          </a:xfrm>
          <a:prstGeom prst="ellipse">
            <a:avLst/>
          </a:prstGeom>
          <a:solidFill>
            <a:schemeClr val="accent1"/>
          </a:solidFill>
          <a:ln w="12700">
            <a:solidFill>
              <a:schemeClr val="accent1"/>
            </a:solidFill>
            <a:prstDash val="solid"/>
          </a:ln>
        </p:spPr>
      </p:sp>
      <p:sp>
        <p:nvSpPr>
          <p:cNvPr id="8" name="Text 5"/>
          <p:cNvSpPr txBox="1"/>
          <p:nvPr/>
        </p:nvSpPr>
        <p:spPr>
          <a:xfrm>
            <a:off x="5760720" y="15087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9" name="req Never oversell"/>
          <p:cNvSpPr txBox="1"/>
          <p:nvPr/>
        </p:nvSpPr>
        <p:spPr>
          <a:xfrm>
            <a:off x="6583680" y="1417320"/>
            <a:ext cx="5029200" cy="457200"/>
          </a:xfrm>
          <a:prstGeom prst="rect">
            <a:avLst/>
          </a:prstGeom>
          <a:noFill/>
          <a:ln/>
        </p:spPr>
        <p:txBody>
          <a:bodyPr wrap="square" lIns="508" tIns="508" rIns="508" bIns="508" rtlCol="0" anchor="t"/>
          <a:lstStyle/>
          <a:p>
            <a:pPr algn="l" indent="0" marL="0">
              <a:buNone/>
            </a:pPr>
            <a:r>
              <a:rPr lang="en-US" sz="2200" b="1" dirty="0">
                <a:solidFill>
                  <a:schemeClr val="tx1"/>
                </a:solidFill>
                <a:latin typeface="Cambria" pitchFamily="34" charset="0"/>
                <a:ea typeface="Cambria" pitchFamily="34" charset="-122"/>
                <a:cs typeface="Cambria" pitchFamily="34" charset="-120"/>
              </a:rPr>
              <a:t>Never oversell</a:t>
            </a:r>
            <a:endParaRPr lang="en-US" sz="2200" dirty="0"/>
          </a:p>
        </p:txBody>
      </p:sp>
      <p:sp>
        <p:nvSpPr>
          <p:cNvPr id="10" name="req text Never oversell"/>
          <p:cNvSpPr txBox="1"/>
          <p:nvPr/>
        </p:nvSpPr>
        <p:spPr>
          <a:xfrm>
            <a:off x="6583680" y="1920240"/>
            <a:ext cx="5029200" cy="77724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Not by one ticket, not across ticket types, not under pressure.</a:t>
            </a:r>
            <a:endParaRPr lang="en-US" sz="1600" dirty="0"/>
          </a:p>
        </p:txBody>
      </p:sp>
      <p:sp>
        <p:nvSpPr>
          <p:cNvPr id="11" name="badge 2"/>
          <p:cNvSpPr/>
          <p:nvPr/>
        </p:nvSpPr>
        <p:spPr>
          <a:xfrm>
            <a:off x="5760720" y="2971800"/>
            <a:ext cx="640080" cy="640080"/>
          </a:xfrm>
          <a:prstGeom prst="ellipse">
            <a:avLst/>
          </a:prstGeom>
          <a:solidFill>
            <a:schemeClr val="accent1"/>
          </a:solidFill>
          <a:ln w="12700">
            <a:solidFill>
              <a:schemeClr val="accent1"/>
            </a:solidFill>
            <a:prstDash val="solid"/>
          </a:ln>
        </p:spPr>
      </p:sp>
      <p:sp>
        <p:nvSpPr>
          <p:cNvPr id="12" name="Text 9"/>
          <p:cNvSpPr txBox="1"/>
          <p:nvPr/>
        </p:nvSpPr>
        <p:spPr>
          <a:xfrm>
            <a:off x="5760720" y="297180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13" name="req Free unpaid seats"/>
          <p:cNvSpPr txBox="1"/>
          <p:nvPr/>
        </p:nvSpPr>
        <p:spPr>
          <a:xfrm>
            <a:off x="6583680" y="2880360"/>
            <a:ext cx="5029200" cy="457200"/>
          </a:xfrm>
          <a:prstGeom prst="rect">
            <a:avLst/>
          </a:prstGeom>
          <a:noFill/>
          <a:ln/>
        </p:spPr>
        <p:txBody>
          <a:bodyPr wrap="square" lIns="508" tIns="508" rIns="508" bIns="508" rtlCol="0" anchor="t"/>
          <a:lstStyle/>
          <a:p>
            <a:pPr algn="l" indent="0" marL="0">
              <a:buNone/>
            </a:pPr>
            <a:r>
              <a:rPr lang="en-US" sz="2200" b="1" dirty="0">
                <a:solidFill>
                  <a:schemeClr val="tx1"/>
                </a:solidFill>
                <a:latin typeface="Cambria" pitchFamily="34" charset="0"/>
                <a:ea typeface="Cambria" pitchFamily="34" charset="-122"/>
                <a:cs typeface="Cambria" pitchFamily="34" charset="-120"/>
              </a:rPr>
              <a:t>Free unpaid seats</a:t>
            </a:r>
            <a:endParaRPr lang="en-US" sz="2200" dirty="0"/>
          </a:p>
        </p:txBody>
      </p:sp>
      <p:sp>
        <p:nvSpPr>
          <p:cNvPr id="14" name="req text Free unpaid seats"/>
          <p:cNvSpPr txBox="1"/>
          <p:nvPr/>
        </p:nvSpPr>
        <p:spPr>
          <a:xfrm>
            <a:off x="6583680" y="3383280"/>
            <a:ext cx="5029200" cy="77724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A checkout nobody pays for must not lock a seat forever.</a:t>
            </a:r>
            <a:endParaRPr lang="en-US" sz="1600" dirty="0"/>
          </a:p>
        </p:txBody>
      </p:sp>
      <p:sp>
        <p:nvSpPr>
          <p:cNvPr id="15" name="badge 3"/>
          <p:cNvSpPr/>
          <p:nvPr/>
        </p:nvSpPr>
        <p:spPr>
          <a:xfrm>
            <a:off x="5760720" y="4434840"/>
            <a:ext cx="640080" cy="640080"/>
          </a:xfrm>
          <a:prstGeom prst="ellipse">
            <a:avLst/>
          </a:prstGeom>
          <a:solidFill>
            <a:schemeClr val="accent1"/>
          </a:solidFill>
          <a:ln w="12700">
            <a:solidFill>
              <a:schemeClr val="accent1"/>
            </a:solidFill>
            <a:prstDash val="solid"/>
          </a:ln>
        </p:spPr>
      </p:sp>
      <p:sp>
        <p:nvSpPr>
          <p:cNvPr id="16" name="Text 13"/>
          <p:cNvSpPr txBox="1"/>
          <p:nvPr/>
        </p:nvSpPr>
        <p:spPr>
          <a:xfrm>
            <a:off x="5760720" y="443484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7" name="req Admit each pass once"/>
          <p:cNvSpPr txBox="1"/>
          <p:nvPr/>
        </p:nvSpPr>
        <p:spPr>
          <a:xfrm>
            <a:off x="6583680" y="4343400"/>
            <a:ext cx="5029200" cy="457200"/>
          </a:xfrm>
          <a:prstGeom prst="rect">
            <a:avLst/>
          </a:prstGeom>
          <a:noFill/>
          <a:ln/>
        </p:spPr>
        <p:txBody>
          <a:bodyPr wrap="square" lIns="508" tIns="508" rIns="508" bIns="508" rtlCol="0" anchor="t"/>
          <a:lstStyle/>
          <a:p>
            <a:pPr algn="l" indent="0" marL="0">
              <a:buNone/>
            </a:pPr>
            <a:r>
              <a:rPr lang="en-US" sz="2200" b="1" dirty="0">
                <a:solidFill>
                  <a:schemeClr val="tx1"/>
                </a:solidFill>
                <a:latin typeface="Cambria" pitchFamily="34" charset="0"/>
                <a:ea typeface="Cambria" pitchFamily="34" charset="-122"/>
                <a:cs typeface="Cambria" pitchFamily="34" charset="-120"/>
              </a:rPr>
              <a:t>Admit each pass once</a:t>
            </a:r>
            <a:endParaRPr lang="en-US" sz="2200" dirty="0"/>
          </a:p>
        </p:txBody>
      </p:sp>
      <p:sp>
        <p:nvSpPr>
          <p:cNvPr id="18" name="req text Admit each pass once"/>
          <p:cNvSpPr txBox="1"/>
          <p:nvPr/>
        </p:nvSpPr>
        <p:spPr>
          <a:xfrm>
            <a:off x="6583680" y="4846320"/>
            <a:ext cx="5029200" cy="77724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One QR, one entry. The second scan is refused.</a:t>
            </a:r>
            <a:endParaRPr lang="en-US" sz="1600" dirty="0"/>
          </a:p>
        </p:txBody>
      </p:sp>
      <p:sp>
        <p:nvSpPr>
          <p:cNvPr id="19" name="assignment"/>
          <p:cNvSpPr txBox="1"/>
          <p:nvPr/>
        </p:nvSpPr>
        <p:spPr>
          <a:xfrm>
            <a:off x="548640" y="5852160"/>
            <a:ext cx="11064240" cy="548640"/>
          </a:xfrm>
          <a:prstGeom prst="rect">
            <a:avLst/>
          </a:prstGeom>
          <a:noFill/>
          <a:ln/>
        </p:spPr>
        <p:txBody>
          <a:bodyPr wrap="square" lIns="508" tIns="508" rIns="508" bIns="508" rtlCol="0" anchor="t"/>
          <a:lstStyle/>
          <a:p>
            <a:pPr algn="l" indent="0" marL="0">
              <a:buNone/>
            </a:pPr>
            <a:r>
              <a:rPr lang="en-US" sz="1500" dirty="0">
                <a:solidFill>
                  <a:schemeClr val="accent4"/>
                </a:solidFill>
                <a:latin typeface="Calibri" pitchFamily="34" charset="0"/>
                <a:ea typeface="Calibri" pitchFamily="34" charset="-122"/>
                <a:cs typeface="Calibri" pitchFamily="34" charset="-120"/>
              </a:rPr>
              <a:t>The assignment: study a real open-source app (Hi.Events), find where it breaks, rebuild the core from our own documents.</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Five phases, from reading to shipping</a:t>
            </a:r>
            <a:endParaRPr lang="en-US" dirty="0"/>
          </a:p>
        </p:txBody>
      </p:sp>
      <p:sp>
        <p:nvSpPr>
          <p:cNvPr id="4" name="phase card 1"/>
          <p:cNvSpPr/>
          <p:nvPr/>
        </p:nvSpPr>
        <p:spPr>
          <a:xfrm>
            <a:off x="548640" y="1463040"/>
            <a:ext cx="2103120" cy="3657600"/>
          </a:xfrm>
          <a:prstGeom prst="roundRect">
            <a:avLst>
              <a:gd name="adj" fmla="val 5217"/>
            </a:avLst>
          </a:prstGeom>
          <a:solidFill>
            <a:schemeClr val="bg2"/>
          </a:solidFill>
          <a:ln w="12700">
            <a:solidFill>
              <a:schemeClr val="bg2"/>
            </a:solidFill>
            <a:prstDash val="solid"/>
          </a:ln>
        </p:spPr>
      </p:sp>
      <p:sp>
        <p:nvSpPr>
          <p:cNvPr id="5" name="badge 1"/>
          <p:cNvSpPr/>
          <p:nvPr/>
        </p:nvSpPr>
        <p:spPr>
          <a:xfrm>
            <a:off x="685800" y="1600200"/>
            <a:ext cx="548640" cy="548640"/>
          </a:xfrm>
          <a:prstGeom prst="ellipse">
            <a:avLst/>
          </a:prstGeom>
          <a:solidFill>
            <a:schemeClr val="accent1"/>
          </a:solidFill>
          <a:ln w="12700">
            <a:solidFill>
              <a:schemeClr val="accent1"/>
            </a:solidFill>
            <a:prstDash val="solid"/>
          </a:ln>
        </p:spPr>
      </p:sp>
      <p:sp>
        <p:nvSpPr>
          <p:cNvPr id="6" name="Text 3"/>
          <p:cNvSpPr txBox="1"/>
          <p:nvPr/>
        </p:nvSpPr>
        <p:spPr>
          <a:xfrm>
            <a:off x="685800" y="160020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7" name="phase Study the original"/>
          <p:cNvSpPr txBox="1"/>
          <p:nvPr/>
        </p:nvSpPr>
        <p:spPr>
          <a:xfrm>
            <a:off x="658368" y="2286000"/>
            <a:ext cx="1883664" cy="6858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Study the original</a:t>
            </a:r>
            <a:endParaRPr lang="en-US" sz="1800" dirty="0"/>
          </a:p>
        </p:txBody>
      </p:sp>
      <p:sp>
        <p:nvSpPr>
          <p:cNvPr id="8" name="phase text 1"/>
          <p:cNvSpPr txBox="1"/>
          <p:nvPr/>
        </p:nvSpPr>
        <p:spPr>
          <a:xfrm>
            <a:off x="658368" y="3017520"/>
            <a:ext cx="1883664" cy="141732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Read how Hi.Events handles the last ticket, holds, QR check-in, promos and refunds. Reading only.</a:t>
            </a:r>
            <a:endParaRPr lang="en-US" sz="1400" dirty="0"/>
          </a:p>
        </p:txBody>
      </p:sp>
      <p:sp>
        <p:nvSpPr>
          <p:cNvPr id="9" name="phase output 1"/>
          <p:cNvSpPr txBox="1"/>
          <p:nvPr/>
        </p:nvSpPr>
        <p:spPr>
          <a:xfrm>
            <a:off x="658368" y="4526280"/>
            <a:ext cx="1883664" cy="548640"/>
          </a:xfrm>
          <a:prstGeom prst="rect">
            <a:avLst/>
          </a:prstGeom>
          <a:noFill/>
          <a:ln/>
        </p:spPr>
        <p:txBody>
          <a:bodyPr wrap="square" lIns="508" tIns="508" rIns="508" bIns="508" rtlCol="0" anchor="t"/>
          <a:lstStyle/>
          <a:p>
            <a:pPr algn="l" indent="0" marL="0">
              <a:buNone/>
            </a:pPr>
            <a:r>
              <a:rPr lang="en-US" sz="1200" b="1" dirty="0">
                <a:solidFill>
                  <a:schemeClr val="accent1"/>
                </a:solidFill>
                <a:latin typeface="Calibri" pitchFamily="34" charset="0"/>
                <a:ea typeface="Calibri" pitchFamily="34" charset="-122"/>
                <a:cs typeface="Calibri" pitchFamily="34" charset="-120"/>
              </a:rPr>
              <a:t>221 file:line references checked</a:t>
            </a:r>
            <a:endParaRPr lang="en-US" sz="1200" dirty="0"/>
          </a:p>
        </p:txBody>
      </p:sp>
      <p:sp>
        <p:nvSpPr>
          <p:cNvPr id="10" name="phase card 2"/>
          <p:cNvSpPr/>
          <p:nvPr/>
        </p:nvSpPr>
        <p:spPr>
          <a:xfrm>
            <a:off x="2788920" y="1463040"/>
            <a:ext cx="2103120" cy="3657600"/>
          </a:xfrm>
          <a:prstGeom prst="roundRect">
            <a:avLst>
              <a:gd name="adj" fmla="val 5217"/>
            </a:avLst>
          </a:prstGeom>
          <a:solidFill>
            <a:schemeClr val="bg2"/>
          </a:solidFill>
          <a:ln w="12700">
            <a:solidFill>
              <a:schemeClr val="bg2"/>
            </a:solidFill>
            <a:prstDash val="solid"/>
          </a:ln>
        </p:spPr>
      </p:sp>
      <p:sp>
        <p:nvSpPr>
          <p:cNvPr id="11" name="badge 2"/>
          <p:cNvSpPr/>
          <p:nvPr/>
        </p:nvSpPr>
        <p:spPr>
          <a:xfrm>
            <a:off x="2926080" y="1600200"/>
            <a:ext cx="548640" cy="548640"/>
          </a:xfrm>
          <a:prstGeom prst="ellipse">
            <a:avLst/>
          </a:prstGeom>
          <a:solidFill>
            <a:schemeClr val="accent1"/>
          </a:solidFill>
          <a:ln w="12700">
            <a:solidFill>
              <a:schemeClr val="accent1"/>
            </a:solidFill>
            <a:prstDash val="solid"/>
          </a:ln>
        </p:spPr>
      </p:sp>
      <p:sp>
        <p:nvSpPr>
          <p:cNvPr id="12" name="Text 9"/>
          <p:cNvSpPr txBox="1"/>
          <p:nvPr/>
        </p:nvSpPr>
        <p:spPr>
          <a:xfrm>
            <a:off x="2926080" y="160020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13" name="phase Find weak spots"/>
          <p:cNvSpPr txBox="1"/>
          <p:nvPr/>
        </p:nvSpPr>
        <p:spPr>
          <a:xfrm>
            <a:off x="2898648" y="2286000"/>
            <a:ext cx="1883664" cy="6858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Find weak spots</a:t>
            </a:r>
            <a:endParaRPr lang="en-US" sz="1800" dirty="0"/>
          </a:p>
        </p:txBody>
      </p:sp>
      <p:sp>
        <p:nvSpPr>
          <p:cNvPr id="14" name="phase text 2"/>
          <p:cNvSpPr txBox="1"/>
          <p:nvPr/>
        </p:nvSpPr>
        <p:spPr>
          <a:xfrm>
            <a:off x="2898648" y="3017520"/>
            <a:ext cx="1883664" cy="141732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12 found. We chose two improvements to build.</a:t>
            </a:r>
            <a:endParaRPr lang="en-US" sz="1400" dirty="0"/>
          </a:p>
        </p:txBody>
      </p:sp>
      <p:sp>
        <p:nvSpPr>
          <p:cNvPr id="15" name="phase output 2"/>
          <p:cNvSpPr txBox="1"/>
          <p:nvPr/>
        </p:nvSpPr>
        <p:spPr>
          <a:xfrm>
            <a:off x="2898648" y="4526280"/>
            <a:ext cx="1883664" cy="548640"/>
          </a:xfrm>
          <a:prstGeom prst="rect">
            <a:avLst/>
          </a:prstGeom>
          <a:noFill/>
          <a:ln/>
        </p:spPr>
        <p:txBody>
          <a:bodyPr wrap="square" lIns="508" tIns="508" rIns="508" bIns="508" rtlCol="0" anchor="t"/>
          <a:lstStyle/>
          <a:p>
            <a:pPr algn="l" indent="0" marL="0">
              <a:buNone/>
            </a:pPr>
            <a:r>
              <a:rPr lang="en-US" sz="1200" b="1" dirty="0">
                <a:solidFill>
                  <a:schemeClr val="accent1"/>
                </a:solidFill>
                <a:latin typeface="Calibri" pitchFamily="34" charset="0"/>
                <a:ea typeface="Calibri" pitchFamily="34" charset="-122"/>
                <a:cs typeface="Calibri" pitchFamily="34" charset="-120"/>
              </a:rPr>
              <a:t>docs/GAPS.md</a:t>
            </a:r>
            <a:endParaRPr lang="en-US" sz="1200" dirty="0"/>
          </a:p>
        </p:txBody>
      </p:sp>
      <p:sp>
        <p:nvSpPr>
          <p:cNvPr id="16" name="phase card 3"/>
          <p:cNvSpPr/>
          <p:nvPr/>
        </p:nvSpPr>
        <p:spPr>
          <a:xfrm>
            <a:off x="5029200" y="1463040"/>
            <a:ext cx="2103120" cy="3657600"/>
          </a:xfrm>
          <a:prstGeom prst="roundRect">
            <a:avLst>
              <a:gd name="adj" fmla="val 5217"/>
            </a:avLst>
          </a:prstGeom>
          <a:solidFill>
            <a:schemeClr val="bg2"/>
          </a:solidFill>
          <a:ln w="12700">
            <a:solidFill>
              <a:schemeClr val="bg2"/>
            </a:solidFill>
            <a:prstDash val="solid"/>
          </a:ln>
        </p:spPr>
      </p:sp>
      <p:sp>
        <p:nvSpPr>
          <p:cNvPr id="17" name="badge 3"/>
          <p:cNvSpPr/>
          <p:nvPr/>
        </p:nvSpPr>
        <p:spPr>
          <a:xfrm>
            <a:off x="5166360" y="1600200"/>
            <a:ext cx="548640" cy="548640"/>
          </a:xfrm>
          <a:prstGeom prst="ellipse">
            <a:avLst/>
          </a:prstGeom>
          <a:solidFill>
            <a:schemeClr val="accent1"/>
          </a:solidFill>
          <a:ln w="12700">
            <a:solidFill>
              <a:schemeClr val="accent1"/>
            </a:solidFill>
            <a:prstDash val="solid"/>
          </a:ln>
        </p:spPr>
      </p:sp>
      <p:sp>
        <p:nvSpPr>
          <p:cNvPr id="18" name="Text 15"/>
          <p:cNvSpPr txBox="1"/>
          <p:nvPr/>
        </p:nvSpPr>
        <p:spPr>
          <a:xfrm>
            <a:off x="5166360" y="160020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9" name="phase Design on paper"/>
          <p:cNvSpPr txBox="1"/>
          <p:nvPr/>
        </p:nvSpPr>
        <p:spPr>
          <a:xfrm>
            <a:off x="5138928" y="2286000"/>
            <a:ext cx="1883664" cy="6858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Design on paper</a:t>
            </a:r>
            <a:endParaRPr lang="en-US" sz="1800" dirty="0"/>
          </a:p>
        </p:txBody>
      </p:sp>
      <p:sp>
        <p:nvSpPr>
          <p:cNvPr id="20" name="phase text 3"/>
          <p:cNvSpPr txBox="1"/>
          <p:nvPr/>
        </p:nvSpPr>
        <p:spPr>
          <a:xfrm>
            <a:off x="5138928" y="3017520"/>
            <a:ext cx="1883664" cy="141732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Seven documents, about 13,500 words, written before any code.</a:t>
            </a:r>
            <a:endParaRPr lang="en-US" sz="1400" dirty="0"/>
          </a:p>
        </p:txBody>
      </p:sp>
      <p:sp>
        <p:nvSpPr>
          <p:cNvPr id="21" name="phase output 3"/>
          <p:cNvSpPr txBox="1"/>
          <p:nvPr/>
        </p:nvSpPr>
        <p:spPr>
          <a:xfrm>
            <a:off x="5138928" y="4526280"/>
            <a:ext cx="1883664" cy="548640"/>
          </a:xfrm>
          <a:prstGeom prst="rect">
            <a:avLst/>
          </a:prstGeom>
          <a:noFill/>
          <a:ln/>
        </p:spPr>
        <p:txBody>
          <a:bodyPr wrap="square" lIns="508" tIns="508" rIns="508" bIns="508" rtlCol="0" anchor="t"/>
          <a:lstStyle/>
          <a:p>
            <a:pPr algn="l" indent="0" marL="0">
              <a:buNone/>
            </a:pPr>
            <a:r>
              <a:rPr lang="en-US" sz="1200" b="1" dirty="0">
                <a:solidFill>
                  <a:schemeClr val="accent1"/>
                </a:solidFill>
                <a:latin typeface="Calibri" pitchFamily="34" charset="0"/>
                <a:ea typeface="Calibri" pitchFamily="34" charset="-122"/>
                <a:cs typeface="Calibri" pitchFamily="34" charset="-120"/>
              </a:rPr>
              <a:t>PRD · ARCHITECTURE · DATA_MODEL · API</a:t>
            </a:r>
            <a:endParaRPr lang="en-US" sz="1200" dirty="0"/>
          </a:p>
        </p:txBody>
      </p:sp>
      <p:sp>
        <p:nvSpPr>
          <p:cNvPr id="22" name="phase card 4"/>
          <p:cNvSpPr/>
          <p:nvPr/>
        </p:nvSpPr>
        <p:spPr>
          <a:xfrm>
            <a:off x="7269480" y="1463040"/>
            <a:ext cx="2103120" cy="3657600"/>
          </a:xfrm>
          <a:prstGeom prst="roundRect">
            <a:avLst>
              <a:gd name="adj" fmla="val 5217"/>
            </a:avLst>
          </a:prstGeom>
          <a:solidFill>
            <a:schemeClr val="bg2"/>
          </a:solidFill>
          <a:ln w="12700">
            <a:solidFill>
              <a:schemeClr val="bg2"/>
            </a:solidFill>
            <a:prstDash val="solid"/>
          </a:ln>
        </p:spPr>
      </p:sp>
      <p:sp>
        <p:nvSpPr>
          <p:cNvPr id="23" name="badge 4"/>
          <p:cNvSpPr/>
          <p:nvPr/>
        </p:nvSpPr>
        <p:spPr>
          <a:xfrm>
            <a:off x="7406640" y="1600200"/>
            <a:ext cx="548640" cy="548640"/>
          </a:xfrm>
          <a:prstGeom prst="ellipse">
            <a:avLst/>
          </a:prstGeom>
          <a:solidFill>
            <a:schemeClr val="accent1"/>
          </a:solidFill>
          <a:ln w="12700">
            <a:solidFill>
              <a:schemeClr val="accent1"/>
            </a:solidFill>
            <a:prstDash val="solid"/>
          </a:ln>
        </p:spPr>
      </p:sp>
      <p:sp>
        <p:nvSpPr>
          <p:cNvPr id="24" name="Text 21"/>
          <p:cNvSpPr txBox="1"/>
          <p:nvPr/>
        </p:nvSpPr>
        <p:spPr>
          <a:xfrm>
            <a:off x="7406640" y="160020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4</a:t>
            </a:r>
            <a:endParaRPr lang="en-US" sz="2200" dirty="0"/>
          </a:p>
        </p:txBody>
      </p:sp>
      <p:sp>
        <p:nvSpPr>
          <p:cNvPr id="25" name="phase Build from the docs"/>
          <p:cNvSpPr txBox="1"/>
          <p:nvPr/>
        </p:nvSpPr>
        <p:spPr>
          <a:xfrm>
            <a:off x="7379208" y="2286000"/>
            <a:ext cx="1883664" cy="6858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Build from the docs</a:t>
            </a:r>
            <a:endParaRPr lang="en-US" sz="1800" dirty="0"/>
          </a:p>
        </p:txBody>
      </p:sp>
      <p:sp>
        <p:nvSpPr>
          <p:cNvPr id="26" name="phase text 4"/>
          <p:cNvSpPr txBox="1"/>
          <p:nvPr/>
        </p:nvSpPr>
        <p:spPr>
          <a:xfrm>
            <a:off x="7379208" y="3017520"/>
            <a:ext cx="1883664" cy="141732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Rebuilt from our documents only, test first, step by step.</a:t>
            </a:r>
            <a:endParaRPr lang="en-US" sz="1400" dirty="0"/>
          </a:p>
        </p:txBody>
      </p:sp>
      <p:sp>
        <p:nvSpPr>
          <p:cNvPr id="27" name="phase output 4"/>
          <p:cNvSpPr txBox="1"/>
          <p:nvPr/>
        </p:nvSpPr>
        <p:spPr>
          <a:xfrm>
            <a:off x="7379208" y="4526280"/>
            <a:ext cx="1883664" cy="548640"/>
          </a:xfrm>
          <a:prstGeom prst="rect">
            <a:avLst/>
          </a:prstGeom>
          <a:noFill/>
          <a:ln/>
        </p:spPr>
        <p:txBody>
          <a:bodyPr wrap="square" lIns="508" tIns="508" rIns="508" bIns="508" rtlCol="0" anchor="t"/>
          <a:lstStyle/>
          <a:p>
            <a:pPr algn="l" indent="0" marL="0">
              <a:buNone/>
            </a:pPr>
            <a:r>
              <a:rPr lang="en-US" sz="1200" b="1" dirty="0">
                <a:solidFill>
                  <a:schemeClr val="accent1"/>
                </a:solidFill>
                <a:latin typeface="Calibri" pitchFamily="34" charset="0"/>
                <a:ea typeface="Calibri" pitchFamily="34" charset="-122"/>
                <a:cs typeface="Calibri" pitchFamily="34" charset="-120"/>
              </a:rPr>
              <a:t>1,669 lines · 163 tests</a:t>
            </a:r>
            <a:endParaRPr lang="en-US" sz="1200" dirty="0"/>
          </a:p>
        </p:txBody>
      </p:sp>
      <p:sp>
        <p:nvSpPr>
          <p:cNvPr id="28" name="phase card 5"/>
          <p:cNvSpPr/>
          <p:nvPr/>
        </p:nvSpPr>
        <p:spPr>
          <a:xfrm>
            <a:off x="9509760" y="1463040"/>
            <a:ext cx="2103120" cy="3657600"/>
          </a:xfrm>
          <a:prstGeom prst="roundRect">
            <a:avLst>
              <a:gd name="adj" fmla="val 5217"/>
            </a:avLst>
          </a:prstGeom>
          <a:solidFill>
            <a:schemeClr val="bg2"/>
          </a:solidFill>
          <a:ln w="12700">
            <a:solidFill>
              <a:schemeClr val="bg2"/>
            </a:solidFill>
            <a:prstDash val="solid"/>
          </a:ln>
        </p:spPr>
      </p:sp>
      <p:sp>
        <p:nvSpPr>
          <p:cNvPr id="29" name="badge 5"/>
          <p:cNvSpPr/>
          <p:nvPr/>
        </p:nvSpPr>
        <p:spPr>
          <a:xfrm>
            <a:off x="9646920" y="1600200"/>
            <a:ext cx="548640" cy="548640"/>
          </a:xfrm>
          <a:prstGeom prst="ellipse">
            <a:avLst/>
          </a:prstGeom>
          <a:solidFill>
            <a:schemeClr val="accent1"/>
          </a:solidFill>
          <a:ln w="12700">
            <a:solidFill>
              <a:schemeClr val="accent1"/>
            </a:solidFill>
            <a:prstDash val="solid"/>
          </a:ln>
        </p:spPr>
      </p:sp>
      <p:sp>
        <p:nvSpPr>
          <p:cNvPr id="30" name="Text 27"/>
          <p:cNvSpPr txBox="1"/>
          <p:nvPr/>
        </p:nvSpPr>
        <p:spPr>
          <a:xfrm>
            <a:off x="9646920" y="160020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5</a:t>
            </a:r>
            <a:endParaRPr lang="en-US" sz="2200" dirty="0"/>
          </a:p>
        </p:txBody>
      </p:sp>
      <p:sp>
        <p:nvSpPr>
          <p:cNvPr id="31" name="phase Deliver"/>
          <p:cNvSpPr txBox="1"/>
          <p:nvPr/>
        </p:nvSpPr>
        <p:spPr>
          <a:xfrm>
            <a:off x="9619488" y="2286000"/>
            <a:ext cx="1883664" cy="6858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Deliver</a:t>
            </a:r>
            <a:endParaRPr lang="en-US" sz="1800" dirty="0"/>
          </a:p>
        </p:txBody>
      </p:sp>
      <p:sp>
        <p:nvSpPr>
          <p:cNvPr id="32" name="phase text 5"/>
          <p:cNvSpPr txBox="1"/>
          <p:nvPr/>
        </p:nvSpPr>
        <p:spPr>
          <a:xfrm>
            <a:off x="9619488" y="3017520"/>
            <a:ext cx="1883664" cy="141732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README, SUBMISSION, a 5-slide deck and .env.example.</a:t>
            </a:r>
            <a:endParaRPr lang="en-US" sz="1400" dirty="0"/>
          </a:p>
        </p:txBody>
      </p:sp>
      <p:sp>
        <p:nvSpPr>
          <p:cNvPr id="33" name="phase output 5"/>
          <p:cNvSpPr txBox="1"/>
          <p:nvPr/>
        </p:nvSpPr>
        <p:spPr>
          <a:xfrm>
            <a:off x="9619488" y="4526280"/>
            <a:ext cx="1883664" cy="548640"/>
          </a:xfrm>
          <a:prstGeom prst="rect">
            <a:avLst/>
          </a:prstGeom>
          <a:noFill/>
          <a:ln/>
        </p:spPr>
        <p:txBody>
          <a:bodyPr wrap="square" lIns="508" tIns="508" rIns="508" bIns="508" rtlCol="0" anchor="t"/>
          <a:lstStyle/>
          <a:p>
            <a:pPr algn="l" indent="0" marL="0">
              <a:buNone/>
            </a:pPr>
            <a:r>
              <a:rPr lang="en-US" sz="1200" b="1" dirty="0">
                <a:solidFill>
                  <a:schemeClr val="accent1"/>
                </a:solidFill>
                <a:latin typeface="Calibri" pitchFamily="34" charset="0"/>
                <a:ea typeface="Calibri" pitchFamily="34" charset="-122"/>
                <a:cs typeface="Calibri" pitchFamily="34" charset="-120"/>
              </a:rPr>
              <a:t>Platform check: 11 of 11</a:t>
            </a:r>
            <a:endParaRPr lang="en-US" sz="1200" dirty="0"/>
          </a:p>
        </p:txBody>
      </p:sp>
      <p:sp>
        <p:nvSpPr>
          <p:cNvPr id="34" name="phases note"/>
          <p:cNvSpPr txBox="1"/>
          <p:nvPr/>
        </p:nvSpPr>
        <p:spPr>
          <a:xfrm>
            <a:off x="548640" y="5440680"/>
            <a:ext cx="11064240" cy="64008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Phases 1 to 3 on Monday, 4 and 5 on Tuesday morning. Nothing is copied from the original: it is PHP, ours is TypeScript.</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Where the original is weak (6 of the 12 we found)</a:t>
            </a:r>
            <a:endParaRPr lang="en-US"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023360"/>
                <a:gridCol w="3840480"/>
                <a:gridCol w="3200400"/>
              </a:tblGrid>
              <a:tr h="41148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What Hi.Events does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Evidence (file:line)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Why it hurts at 6 PM</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r>
              <a:tr h="65836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One lock per event wraps all order creation</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accent4"/>
                          </a:solidFill>
                          <a:latin typeface="Calibri" pitchFamily="34" charset="0"/>
                          <a:ea typeface="Calibri" pitchFamily="34" charset="-122"/>
                          <a:cs typeface="Calibri" pitchFamily="34" charset="-120"/>
                        </a:rPr>
                        <a:t>CreateOrderHandler.php:61-62</a:t>
                      </a:r>
                      <a:endParaRPr lang="en-US" sz="1300" dirty="0">
                        <a:latin typeface="Calibri" charset="0"/>
                        <a:ea typeface="Calibri" charset="0"/>
                        <a:cs typeface="Calibri" charset="0"/>
                      </a:endParaRPr>
                    </a:p>
                    <a:p>
                      <a:pPr indent="0" marL="0">
                        <a:buNone/>
                      </a:pPr>
                      <a:r>
                        <a:rPr lang="en-US" sz="1300" dirty="0">
                          <a:solidFill>
                            <a:schemeClr val="accent4"/>
                          </a:solidFill>
                          <a:latin typeface="Calibri" pitchFamily="34" charset="0"/>
                          <a:ea typeface="Calibri" pitchFamily="34" charset="-122"/>
                          <a:cs typeface="Calibri" pitchFamily="34" charset="-120"/>
                        </a:rPr>
                        <a:t>TransactionLockService.php:21-27</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5,000 buyers queue behind one lock</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65836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An expired hold is only ignored when counting</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accent4"/>
                          </a:solidFill>
                          <a:latin typeface="Calibri" pitchFamily="34" charset="0"/>
                          <a:ea typeface="Calibri" pitchFamily="34" charset="-122"/>
                          <a:cs typeface="Calibri" pitchFamily="34" charset="-120"/>
                        </a:rPr>
                        <a:t>OrderItemRepository.php:81-88</a:t>
                      </a:r>
                      <a:endParaRPr lang="en-US" sz="1300" dirty="0">
                        <a:latin typeface="Calibri" charset="0"/>
                        <a:ea typeface="Calibri" charset="0"/>
                        <a:cs typeface="Calibri" charset="0"/>
                      </a:endParaRPr>
                    </a:p>
                    <a:p>
                      <a:pPr indent="0" marL="0">
                        <a:buNone/>
                      </a:pPr>
                      <a:r>
                        <a:rPr lang="en-US" sz="1300" dirty="0">
                          <a:solidFill>
                            <a:schemeClr val="accent4"/>
                          </a:solidFill>
                          <a:latin typeface="Calibri" pitchFamily="34" charset="0"/>
                          <a:ea typeface="Calibri" pitchFamily="34" charset="-122"/>
                          <a:cs typeface="Calibri" pitchFamily="34" charset="-120"/>
                        </a:rPr>
                        <a:t>no expiry job: Console/Kernel.php:22-34</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Nothing cleans up; nobody is told a seat is free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65836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Shared-pool check ignores live holds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accent4"/>
                          </a:solidFill>
                          <a:latin typeface="Calibri" pitchFamily="34" charset="0"/>
                          <a:ea typeface="Calibri" pitchFamily="34" charset="-122"/>
                          <a:cs typeface="Calibri" pitchFamily="34" charset="-120"/>
                        </a:rPr>
                        <a:t>AvailableProductQuantitiesFetchService.php:75-83</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Pool can be oversold (reasoned, not reproduced)</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65836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“Sold” is counted later by an unguarded update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accent4"/>
                          </a:solidFill>
                          <a:latin typeface="Calibri" pitchFamily="34" charset="0"/>
                          <a:ea typeface="Calibri" pitchFamily="34" charset="-122"/>
                          <a:cs typeface="Calibri" pitchFamily="34" charset="-120"/>
                        </a:rPr>
                        <a:t>ProductQuantityUpdateService.php:38-42</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Hold to sold is not one atomic step</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65836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Admin check-in reads, then writes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accent4"/>
                          </a:solidFill>
                          <a:latin typeface="Calibri" pitchFamily="34" charset="0"/>
                          <a:ea typeface="Calibri" pitchFamily="34" charset="-122"/>
                          <a:cs typeface="Calibri" pitchFamily="34" charset="-120"/>
                        </a:rPr>
                        <a:t>CheckInAttendeeHandler.php:78-123</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Two paths; one can admit twice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65836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 used-up promo is dropped silently</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accent4"/>
                          </a:solidFill>
                          <a:latin typeface="Calibri" pitchFamily="34" charset="0"/>
                          <a:ea typeface="Calibri" pitchFamily="34" charset="-122"/>
                          <a:cs typeface="Calibri" pitchFamily="34" charset="-120"/>
                        </a:rPr>
                        <a:t>CreateOrderHandler.php:116-118</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accent3"/>
                          </a:solidFill>
                          <a:latin typeface="Calibri" pitchFamily="34" charset="0"/>
                          <a:ea typeface="Calibri" pitchFamily="34" charset="-122"/>
                          <a:cs typeface="Calibri" pitchFamily="34" charset="-120"/>
                        </a:rPr>
                        <a:t>Full-price surprise; no per-buyer limit</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5" name="caveat"/>
          <p:cNvSpPr txBox="1"/>
          <p:nvPr/>
        </p:nvSpPr>
        <p:spPr>
          <a:xfrm>
            <a:off x="548640" y="5852160"/>
            <a:ext cx="11064240" cy="502920"/>
          </a:xfrm>
          <a:prstGeom prst="rect">
            <a:avLst/>
          </a:prstGeom>
          <a:noFill/>
          <a:ln/>
        </p:spPr>
        <p:txBody>
          <a:bodyPr wrap="square" lIns="508" tIns="508" rIns="508" bIns="508" rtlCol="0" anchor="t"/>
          <a:lstStyle/>
          <a:p>
            <a:pPr algn="l" indent="0" marL="0">
              <a:buNone/>
            </a:pPr>
            <a:r>
              <a:rPr lang="en-US" sz="1300" i="1" dirty="0">
                <a:solidFill>
                  <a:schemeClr val="accent4"/>
                </a:solidFill>
                <a:latin typeface="Calibri" pitchFamily="34" charset="0"/>
                <a:ea typeface="Calibri" pitchFamily="34" charset="-122"/>
                <a:cs typeface="Calibri" pitchFamily="34" charset="-120"/>
              </a:rPr>
              <a:t>Findings 1, 2, 3, 4 and 8 of our list are reasoned from the cited lines, not reproduced. Static reading only; nothing from the original was run.</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Our two improvements</a:t>
            </a:r>
            <a:endParaRPr lang="en-US" dirty="0"/>
          </a:p>
        </p:txBody>
      </p:sp>
      <p:sp>
        <p:nvSpPr>
          <p:cNvPr id="4" name="improvement card 1"/>
          <p:cNvSpPr/>
          <p:nvPr/>
        </p:nvSpPr>
        <p:spPr>
          <a:xfrm>
            <a:off x="548640" y="1417320"/>
            <a:ext cx="5349240" cy="4709160"/>
          </a:xfrm>
          <a:prstGeom prst="roundRect">
            <a:avLst>
              <a:gd name="adj" fmla="val 233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822960" y="1645920"/>
            <a:ext cx="1280160" cy="310896"/>
          </a:xfrm>
          <a:prstGeom prst="roundRect">
            <a:avLst>
              <a:gd name="adj" fmla="val 50000"/>
            </a:avLst>
          </a:prstGeom>
          <a:solidFill>
            <a:schemeClr val="accent2"/>
          </a:solidFill>
          <a:ln w="12700">
            <a:solidFill>
              <a:schemeClr val="accent2"/>
            </a:solidFill>
            <a:prstDash val="solid"/>
          </a:ln>
        </p:spPr>
      </p:sp>
      <p:sp>
        <p:nvSpPr>
          <p:cNvPr id="6" name="Text 3"/>
          <p:cNvSpPr txBox="1"/>
          <p:nvPr/>
        </p:nvSpPr>
        <p:spPr>
          <a:xfrm>
            <a:off x="822960" y="1645920"/>
            <a:ext cx="1280160" cy="310896"/>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THE FIX</a:t>
            </a:r>
            <a:endParaRPr lang="en-US" sz="1200" dirty="0"/>
          </a:p>
        </p:txBody>
      </p:sp>
      <p:sp>
        <p:nvSpPr>
          <p:cNvPr id="7" name="improvement Shared seats can’t be oversold"/>
          <p:cNvSpPr txBox="1"/>
          <p:nvPr/>
        </p:nvSpPr>
        <p:spPr>
          <a:xfrm>
            <a:off x="822960" y="2103120"/>
            <a:ext cx="4800600" cy="868680"/>
          </a:xfrm>
          <a:prstGeom prst="rect">
            <a:avLst/>
          </a:prstGeom>
          <a:noFill/>
          <a:ln/>
        </p:spPr>
        <p:txBody>
          <a:bodyPr wrap="square" lIns="508" tIns="508" rIns="508" bIns="508"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Shared seats can’t be oversold</a:t>
            </a:r>
            <a:endParaRPr lang="en-US" sz="2400" dirty="0"/>
          </a:p>
        </p:txBody>
      </p:sp>
      <p:sp>
        <p:nvSpPr>
          <p:cNvPr id="8" name="improvement bullets 1"/>
          <p:cNvSpPr txBox="1"/>
          <p:nvPr/>
        </p:nvSpPr>
        <p:spPr>
          <a:xfrm>
            <a:off x="822960" y="3017520"/>
            <a:ext cx="4800600" cy="2423160"/>
          </a:xfrm>
          <a:prstGeom prst="rect">
            <a:avLst/>
          </a:prstGeom>
          <a:noFill/>
          <a:ln/>
        </p:spPr>
        <p:txBody>
          <a:bodyPr wrap="square" lIns="508" tIns="508" rIns="508" bIns="508" rtlCol="0" anchor="t"/>
          <a:lstStyle/>
          <a:p>
            <a:pPr algn="l"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A hall has 5 seats shared by two ticket types, each also capped at 5.</a:t>
            </a:r>
            <a:endParaRPr lang="en-US" sz="1600" dirty="0"/>
          </a:p>
          <a:p>
            <a:pPr algn="l"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A reservation must fit the type’s room and the hall’s room, counting everything reserved, in one step.</a:t>
            </a:r>
            <a:endParaRPr lang="en-US" sz="1600" dirty="0"/>
          </a:p>
          <a:p>
            <a:pPr algn="l"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Ten buyers at once: exactly five succeed.</a:t>
            </a:r>
            <a:endParaRPr lang="en-US" sz="1600" dirty="0"/>
          </a:p>
        </p:txBody>
      </p:sp>
      <p:sp>
        <p:nvSpPr>
          <p:cNvPr id="9" name="improvement test 1"/>
          <p:cNvSpPr txBox="1"/>
          <p:nvPr/>
        </p:nvSpPr>
        <p:spPr>
          <a:xfrm>
            <a:off x="822960" y="5577840"/>
            <a:ext cx="4800600" cy="365760"/>
          </a:xfrm>
          <a:prstGeom prst="rect">
            <a:avLst/>
          </a:prstGeom>
          <a:noFill/>
          <a:ln/>
        </p:spPr>
        <p:txBody>
          <a:bodyPr wrap="square" lIns="508" tIns="508" rIns="508" bIns="508" rtlCol="0" anchor="t"/>
          <a:lstStyle/>
          <a:p>
            <a:pPr algn="l" indent="0" marL="0">
              <a:buNone/>
            </a:pPr>
            <a:r>
              <a:rPr lang="en-US" sz="1400" b="1" dirty="0">
                <a:solidFill>
                  <a:schemeClr val="accent1"/>
                </a:solidFill>
                <a:latin typeface="Calibri" pitchFamily="34" charset="0"/>
                <a:ea typeface="Calibri" pitchFamily="34" charset="-122"/>
                <a:cs typeface="Calibri" pitchFamily="34" charset="-120"/>
              </a:rPr>
              <a:t>Test: KT1-pool</a:t>
            </a:r>
            <a:endParaRPr lang="en-US" sz="1400" dirty="0"/>
          </a:p>
        </p:txBody>
      </p:sp>
      <p:sp>
        <p:nvSpPr>
          <p:cNvPr id="10" name="improvement card 2"/>
          <p:cNvSpPr/>
          <p:nvPr/>
        </p:nvSpPr>
        <p:spPr>
          <a:xfrm>
            <a:off x="6263640" y="1417320"/>
            <a:ext cx="5349240" cy="4709160"/>
          </a:xfrm>
          <a:prstGeom prst="roundRect">
            <a:avLst>
              <a:gd name="adj" fmla="val 233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6537960" y="1645920"/>
            <a:ext cx="2103120" cy="310896"/>
          </a:xfrm>
          <a:prstGeom prst="roundRect">
            <a:avLst>
              <a:gd name="adj" fmla="val 50000"/>
            </a:avLst>
          </a:prstGeom>
          <a:solidFill>
            <a:schemeClr val="accent2"/>
          </a:solidFill>
          <a:ln w="12700">
            <a:solidFill>
              <a:schemeClr val="accent2"/>
            </a:solidFill>
            <a:prstDash val="solid"/>
          </a:ln>
        </p:spPr>
      </p:sp>
      <p:sp>
        <p:nvSpPr>
          <p:cNvPr id="12" name="Text 9"/>
          <p:cNvSpPr txBox="1"/>
          <p:nvPr/>
        </p:nvSpPr>
        <p:spPr>
          <a:xfrm>
            <a:off x="6537960" y="1645920"/>
            <a:ext cx="2103120" cy="310896"/>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THE DIFFERENTIATOR</a:t>
            </a:r>
            <a:endParaRPr lang="en-US" sz="1200" dirty="0"/>
          </a:p>
        </p:txBody>
      </p:sp>
      <p:sp>
        <p:nvSpPr>
          <p:cNvPr id="13" name="improvement A waiting room and a limit per buyer"/>
          <p:cNvSpPr txBox="1"/>
          <p:nvPr/>
        </p:nvSpPr>
        <p:spPr>
          <a:xfrm>
            <a:off x="6537960" y="2103120"/>
            <a:ext cx="4800600" cy="868680"/>
          </a:xfrm>
          <a:prstGeom prst="rect">
            <a:avLst/>
          </a:prstGeom>
          <a:noFill/>
          <a:ln/>
        </p:spPr>
        <p:txBody>
          <a:bodyPr wrap="square" lIns="508" tIns="508" rIns="508" bIns="508" rtlCol="0" anchor="t"/>
          <a:lstStyle/>
          <a:p>
            <a:pPr algn="l" indent="0" marL="0">
              <a:buNone/>
            </a:pPr>
            <a:r>
              <a:rPr lang="en-US" sz="2400" b="1" dirty="0">
                <a:solidFill>
                  <a:schemeClr val="tx1"/>
                </a:solidFill>
                <a:latin typeface="Cambria" pitchFamily="34" charset="0"/>
                <a:ea typeface="Cambria" pitchFamily="34" charset="-122"/>
                <a:cs typeface="Cambria" pitchFamily="34" charset="-120"/>
              </a:rPr>
              <a:t>A waiting room and a limit per buyer</a:t>
            </a:r>
            <a:endParaRPr lang="en-US" sz="2400" dirty="0"/>
          </a:p>
        </p:txBody>
      </p:sp>
      <p:sp>
        <p:nvSpPr>
          <p:cNvPr id="14" name="improvement bullets 2"/>
          <p:cNvSpPr txBox="1"/>
          <p:nvPr/>
        </p:nvSpPr>
        <p:spPr>
          <a:xfrm>
            <a:off x="6537960" y="3017520"/>
            <a:ext cx="4800600" cy="2423160"/>
          </a:xfrm>
          <a:prstGeom prst="rect">
            <a:avLst/>
          </a:prstGeom>
          <a:noFill/>
          <a:ln/>
        </p:spPr>
        <p:txBody>
          <a:bodyPr wrap="square" lIns="508" tIns="508" rIns="508" bIns="508" rtlCol="0" anchor="t"/>
          <a:lstStyle/>
          <a:p>
            <a:pPr algn="l"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First come, first served; a few buyers admitted per tick.</a:t>
            </a:r>
            <a:endParaRPr lang="en-US" sz="1600" dirty="0"/>
          </a:p>
          <a:p>
            <a:pPr algn="l"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An admission is used up only by a purchase that succeeds.</a:t>
            </a:r>
            <a:endParaRPr lang="en-US" sz="1600" dirty="0"/>
          </a:p>
          <a:p>
            <a:pPr algn="l"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Four tickets per person, by cleaned-up email: a+x@gmail.com and a@gmail.com are one buyer.</a:t>
            </a:r>
            <a:endParaRPr lang="en-US" sz="1600" dirty="0"/>
          </a:p>
        </p:txBody>
      </p:sp>
      <p:sp>
        <p:nvSpPr>
          <p:cNvPr id="15" name="improvement test 2"/>
          <p:cNvSpPr txBox="1"/>
          <p:nvPr/>
        </p:nvSpPr>
        <p:spPr>
          <a:xfrm>
            <a:off x="6537960" y="5577840"/>
            <a:ext cx="4800600" cy="365760"/>
          </a:xfrm>
          <a:prstGeom prst="rect">
            <a:avLst/>
          </a:prstGeom>
          <a:noFill/>
          <a:ln/>
        </p:spPr>
        <p:txBody>
          <a:bodyPr wrap="square" lIns="508" tIns="508" rIns="508" bIns="508" rtlCol="0" anchor="t"/>
          <a:lstStyle/>
          <a:p>
            <a:pPr algn="l" indent="0" marL="0">
              <a:buNone/>
            </a:pPr>
            <a:r>
              <a:rPr lang="en-US" sz="1400" b="1" dirty="0">
                <a:solidFill>
                  <a:schemeClr val="accent1"/>
                </a:solidFill>
                <a:latin typeface="Calibri" pitchFamily="34" charset="0"/>
                <a:ea typeface="Calibri" pitchFamily="34" charset="-122"/>
                <a:cs typeface="Calibri" pitchFamily="34" charset="-120"/>
              </a:rPr>
              <a:t>Tests: Q-1, Q-2, B-1</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How a purchase works, in five steps</a:t>
            </a:r>
            <a:endParaRPr lang="en-US" dirty="0"/>
          </a:p>
        </p:txBody>
      </p:sp>
      <p:sp>
        <p:nvSpPr>
          <p:cNvPr id="4" name="step 1"/>
          <p:cNvSpPr/>
          <p:nvPr/>
        </p:nvSpPr>
        <p:spPr>
          <a:xfrm>
            <a:off x="548640" y="1417320"/>
            <a:ext cx="2057400" cy="1600200"/>
          </a:xfrm>
          <a:prstGeom prst="roundRect">
            <a:avLst>
              <a:gd name="adj" fmla="val 6857"/>
            </a:avLst>
          </a:prstGeom>
          <a:solidFill>
            <a:schemeClr val="bg1"/>
          </a:solidFill>
          <a:ln w="12700">
            <a:solidFill>
              <a:schemeClr val="bg1"/>
            </a:solidFill>
            <a:prstDash val="solid"/>
          </a:ln>
        </p:spPr>
      </p:sp>
      <p:sp>
        <p:nvSpPr>
          <p:cNvPr id="5" name="Shape 2"/>
          <p:cNvSpPr/>
          <p:nvPr/>
        </p:nvSpPr>
        <p:spPr>
          <a:xfrm>
            <a:off x="548640" y="1417320"/>
            <a:ext cx="2057400" cy="1600200"/>
          </a:xfrm>
          <a:prstGeom prst="roundRect">
            <a:avLst>
              <a:gd name="adj" fmla="val 6857"/>
            </a:avLst>
          </a:prstGeom>
          <a:solidFill>
            <a:schemeClr val="bg1"/>
          </a:solidFill>
          <a:ln w="19050">
            <a:solidFill>
              <a:schemeClr val="accent1"/>
            </a:solidFill>
            <a:prstDash val="dash"/>
          </a:ln>
        </p:spPr>
      </p:sp>
      <p:sp>
        <p:nvSpPr>
          <p:cNvPr id="6" name="step title 1"/>
          <p:cNvSpPr txBox="1"/>
          <p:nvPr/>
        </p:nvSpPr>
        <p:spPr>
          <a:xfrm>
            <a:off x="658368" y="1508760"/>
            <a:ext cx="1828800" cy="4572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1 · Line up</a:t>
            </a:r>
            <a:endParaRPr lang="en-US" sz="1800" dirty="0"/>
          </a:p>
        </p:txBody>
      </p:sp>
      <p:sp>
        <p:nvSpPr>
          <p:cNvPr id="7" name="step text 1"/>
          <p:cNvSpPr txBox="1"/>
          <p:nvPr/>
        </p:nvSpPr>
        <p:spPr>
          <a:xfrm>
            <a:off x="658368" y="2011680"/>
            <a:ext cx="1828800" cy="91440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Optional waiting room. First come, first served.</a:t>
            </a:r>
            <a:endParaRPr lang="en-US" sz="1400" dirty="0"/>
          </a:p>
        </p:txBody>
      </p:sp>
      <p:sp>
        <p:nvSpPr>
          <p:cNvPr id="8" name="step 2"/>
          <p:cNvSpPr/>
          <p:nvPr/>
        </p:nvSpPr>
        <p:spPr>
          <a:xfrm>
            <a:off x="2788920" y="1417320"/>
            <a:ext cx="2057400" cy="1600200"/>
          </a:xfrm>
          <a:prstGeom prst="roundRect">
            <a:avLst>
              <a:gd name="adj" fmla="val 6857"/>
            </a:avLst>
          </a:prstGeom>
          <a:solidFill>
            <a:schemeClr val="bg2"/>
          </a:solidFill>
          <a:ln w="12700">
            <a:solidFill>
              <a:schemeClr val="bg2"/>
            </a:solidFill>
            <a:prstDash val="solid"/>
          </a:ln>
        </p:spPr>
      </p:sp>
      <p:sp>
        <p:nvSpPr>
          <p:cNvPr id="9" name="step title 2"/>
          <p:cNvSpPr txBox="1"/>
          <p:nvPr/>
        </p:nvSpPr>
        <p:spPr>
          <a:xfrm>
            <a:off x="2898648" y="1508760"/>
            <a:ext cx="1828800" cy="4572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2 · Hold</a:t>
            </a:r>
            <a:endParaRPr lang="en-US" sz="1800" dirty="0"/>
          </a:p>
        </p:txBody>
      </p:sp>
      <p:sp>
        <p:nvSpPr>
          <p:cNvPr id="10" name="step text 2"/>
          <p:cNvSpPr txBox="1"/>
          <p:nvPr/>
        </p:nvSpPr>
        <p:spPr>
          <a:xfrm>
            <a:off x="2898648" y="2011680"/>
            <a:ext cx="1828800" cy="91440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Seats reserved; a timer starts.</a:t>
            </a:r>
            <a:endParaRPr lang="en-US" sz="1400" dirty="0"/>
          </a:p>
        </p:txBody>
      </p:sp>
      <p:sp>
        <p:nvSpPr>
          <p:cNvPr id="11" name="step 3"/>
          <p:cNvSpPr/>
          <p:nvPr/>
        </p:nvSpPr>
        <p:spPr>
          <a:xfrm>
            <a:off x="5029200" y="1417320"/>
            <a:ext cx="2057400" cy="1600200"/>
          </a:xfrm>
          <a:prstGeom prst="roundRect">
            <a:avLst>
              <a:gd name="adj" fmla="val 6857"/>
            </a:avLst>
          </a:prstGeom>
          <a:solidFill>
            <a:schemeClr val="bg2"/>
          </a:solidFill>
          <a:ln w="12700">
            <a:solidFill>
              <a:schemeClr val="bg2"/>
            </a:solidFill>
            <a:prstDash val="solid"/>
          </a:ln>
        </p:spPr>
      </p:sp>
      <p:sp>
        <p:nvSpPr>
          <p:cNvPr id="12" name="step title 3"/>
          <p:cNvSpPr txBox="1"/>
          <p:nvPr/>
        </p:nvSpPr>
        <p:spPr>
          <a:xfrm>
            <a:off x="5138928" y="1508760"/>
            <a:ext cx="1828800" cy="4572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3 · Pay</a:t>
            </a:r>
            <a:endParaRPr lang="en-US" sz="1800" dirty="0"/>
          </a:p>
        </p:txBody>
      </p:sp>
      <p:sp>
        <p:nvSpPr>
          <p:cNvPr id="13" name="step text 3"/>
          <p:cNvSpPr txBox="1"/>
          <p:nvPr/>
        </p:nvSpPr>
        <p:spPr>
          <a:xfrm>
            <a:off x="5138928" y="2011680"/>
            <a:ext cx="1828800" cy="91440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Reserved becomes sold; tickets created.</a:t>
            </a:r>
            <a:endParaRPr lang="en-US" sz="1400" dirty="0"/>
          </a:p>
        </p:txBody>
      </p:sp>
      <p:sp>
        <p:nvSpPr>
          <p:cNvPr id="14" name="step 4"/>
          <p:cNvSpPr/>
          <p:nvPr/>
        </p:nvSpPr>
        <p:spPr>
          <a:xfrm>
            <a:off x="7269480" y="1417320"/>
            <a:ext cx="2057400" cy="1600200"/>
          </a:xfrm>
          <a:prstGeom prst="roundRect">
            <a:avLst>
              <a:gd name="adj" fmla="val 6857"/>
            </a:avLst>
          </a:prstGeom>
          <a:solidFill>
            <a:schemeClr val="bg2"/>
          </a:solidFill>
          <a:ln w="12700">
            <a:solidFill>
              <a:schemeClr val="bg2"/>
            </a:solidFill>
            <a:prstDash val="solid"/>
          </a:ln>
        </p:spPr>
      </p:sp>
      <p:sp>
        <p:nvSpPr>
          <p:cNvPr id="15" name="step title 4"/>
          <p:cNvSpPr txBox="1"/>
          <p:nvPr/>
        </p:nvSpPr>
        <p:spPr>
          <a:xfrm>
            <a:off x="7379208" y="1508760"/>
            <a:ext cx="1828800" cy="4572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4 · Ticket</a:t>
            </a:r>
            <a:endParaRPr lang="en-US" sz="1800" dirty="0"/>
          </a:p>
        </p:txBody>
      </p:sp>
      <p:sp>
        <p:nvSpPr>
          <p:cNvPr id="16" name="step text 4"/>
          <p:cNvSpPr txBox="1"/>
          <p:nvPr/>
        </p:nvSpPr>
        <p:spPr>
          <a:xfrm>
            <a:off x="7379208" y="2011680"/>
            <a:ext cx="1828800" cy="91440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Each seat gets its own secret QR.</a:t>
            </a:r>
            <a:endParaRPr lang="en-US" sz="1400" dirty="0"/>
          </a:p>
        </p:txBody>
      </p:sp>
      <p:sp>
        <p:nvSpPr>
          <p:cNvPr id="17" name="step 5"/>
          <p:cNvSpPr/>
          <p:nvPr/>
        </p:nvSpPr>
        <p:spPr>
          <a:xfrm>
            <a:off x="9509760" y="1417320"/>
            <a:ext cx="2057400" cy="1600200"/>
          </a:xfrm>
          <a:prstGeom prst="roundRect">
            <a:avLst>
              <a:gd name="adj" fmla="val 6857"/>
            </a:avLst>
          </a:prstGeom>
          <a:solidFill>
            <a:schemeClr val="bg2"/>
          </a:solidFill>
          <a:ln w="12700">
            <a:solidFill>
              <a:schemeClr val="bg2"/>
            </a:solidFill>
            <a:prstDash val="solid"/>
          </a:ln>
        </p:spPr>
      </p:sp>
      <p:sp>
        <p:nvSpPr>
          <p:cNvPr id="18" name="step title 5"/>
          <p:cNvSpPr txBox="1"/>
          <p:nvPr/>
        </p:nvSpPr>
        <p:spPr>
          <a:xfrm>
            <a:off x="9619488" y="1508760"/>
            <a:ext cx="1828800" cy="4572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5 · Gate</a:t>
            </a:r>
            <a:endParaRPr lang="en-US" sz="1800" dirty="0"/>
          </a:p>
        </p:txBody>
      </p:sp>
      <p:sp>
        <p:nvSpPr>
          <p:cNvPr id="19" name="step text 5"/>
          <p:cNvSpPr txBox="1"/>
          <p:nvPr/>
        </p:nvSpPr>
        <p:spPr>
          <a:xfrm>
            <a:off x="9619488" y="2011680"/>
            <a:ext cx="1828800" cy="91440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The QR works once.</a:t>
            </a:r>
            <a:endParaRPr lang="en-US" sz="1400" dirty="0"/>
          </a:p>
        </p:txBody>
      </p:sp>
      <p:sp>
        <p:nvSpPr>
          <p:cNvPr id="20" name="code card Hold: one transaction, two guarded steps"/>
          <p:cNvSpPr/>
          <p:nvPr/>
        </p:nvSpPr>
        <p:spPr>
          <a:xfrm>
            <a:off x="548640" y="3291840"/>
            <a:ext cx="5486400" cy="2148840"/>
          </a:xfrm>
          <a:prstGeom prst="roundRect">
            <a:avLst>
              <a:gd name="adj" fmla="val 5106"/>
            </a:avLst>
          </a:prstGeom>
          <a:solidFill>
            <a:schemeClr val="tx1"/>
          </a:solidFill>
          <a:ln w="12700">
            <a:solidFill>
              <a:schemeClr val="tx1"/>
            </a:solidFill>
            <a:prstDash val="solid"/>
          </a:ln>
        </p:spPr>
      </p:sp>
      <p:sp>
        <p:nvSpPr>
          <p:cNvPr id="21" name="code title Hold: one transaction, two guarded steps"/>
          <p:cNvSpPr txBox="1"/>
          <p:nvPr/>
        </p:nvSpPr>
        <p:spPr>
          <a:xfrm>
            <a:off x="777240" y="3429000"/>
            <a:ext cx="5029200" cy="365760"/>
          </a:xfrm>
          <a:prstGeom prst="rect">
            <a:avLst/>
          </a:prstGeom>
          <a:noFill/>
          <a:ln/>
        </p:spPr>
        <p:txBody>
          <a:bodyPr wrap="square" lIns="508" tIns="508" rIns="508" bIns="508" rtlCol="0" anchor="t"/>
          <a:lstStyle/>
          <a:p>
            <a:pPr algn="l" indent="0" marL="0">
              <a:buNone/>
            </a:pPr>
            <a:r>
              <a:rPr lang="en-US" sz="1400" b="1" dirty="0">
                <a:solidFill>
                  <a:schemeClr val="accent2"/>
                </a:solidFill>
                <a:latin typeface="Calibri" pitchFamily="34" charset="0"/>
                <a:ea typeface="Calibri" pitchFamily="34" charset="-122"/>
                <a:cs typeface="Calibri" pitchFamily="34" charset="-120"/>
              </a:rPr>
              <a:t>Hold: one transaction, two guarded steps</a:t>
            </a:r>
            <a:endParaRPr lang="en-US" sz="1400" dirty="0"/>
          </a:p>
        </p:txBody>
      </p:sp>
      <p:sp>
        <p:nvSpPr>
          <p:cNvPr id="22" name="code Hold: one transaction, two guarded steps"/>
          <p:cNvSpPr txBox="1"/>
          <p:nvPr/>
        </p:nvSpPr>
        <p:spPr>
          <a:xfrm>
            <a:off x="777240" y="3840480"/>
            <a:ext cx="5029200" cy="1463040"/>
          </a:xfrm>
          <a:prstGeom prst="rect">
            <a:avLst/>
          </a:prstGeom>
          <a:noFill/>
          <a:ln/>
        </p:spPr>
        <p:txBody>
          <a:bodyPr wrap="square" lIns="508" tIns="508" rIns="508" bIns="508" rtlCol="0" anchor="t"/>
          <a:lstStyle/>
          <a:p>
            <a:pPr algn="l" indent="0" marL="0">
              <a:buNone/>
            </a:pPr>
            <a:r>
              <a:rPr lang="en-US" sz="1300" dirty="0">
                <a:solidFill>
                  <a:schemeClr val="bg2"/>
                </a:solidFill>
                <a:latin typeface="Consolas" pitchFamily="34" charset="0"/>
                <a:ea typeface="Consolas" pitchFamily="34" charset="-122"/>
                <a:cs typeface="Consolas" pitchFamily="34" charset="-120"/>
              </a:rPr>
              <a:t>UPDATE tiers  SET held = held + q</a:t>
            </a:r>
            <a:endParaRPr lang="en-US" sz="1300" dirty="0"/>
          </a:p>
          <a:p>
            <a:pPr algn="l" indent="0" marL="0">
              <a:buNone/>
            </a:pPr>
            <a:r>
              <a:rPr lang="en-US" sz="1300" dirty="0">
                <a:solidFill>
                  <a:schemeClr val="bg2"/>
                </a:solidFill>
                <a:latin typeface="Consolas" pitchFamily="34" charset="0"/>
                <a:ea typeface="Consolas" pitchFamily="34" charset="-122"/>
                <a:cs typeface="Consolas" pitchFamily="34" charset="-120"/>
              </a:rPr>
              <a:t>  WHERE capacity - sold - held &gt;= q;</a:t>
            </a:r>
            <a:endParaRPr lang="en-US" sz="1300" dirty="0"/>
          </a:p>
          <a:p>
            <a:pPr algn="l" indent="0" marL="0">
              <a:buNone/>
            </a:pPr>
            <a:r>
              <a:rPr lang="en-US" sz="1300" dirty="0">
                <a:solidFill>
                  <a:schemeClr val="bg2"/>
                </a:solidFill>
                <a:latin typeface="Consolas" pitchFamily="34" charset="0"/>
                <a:ea typeface="Consolas" pitchFamily="34" charset="-122"/>
                <a:cs typeface="Consolas" pitchFamily="34" charset="-120"/>
              </a:rPr>
              <a:t>UPDATE events SET held = held + n</a:t>
            </a:r>
            <a:endParaRPr lang="en-US" sz="1300" dirty="0"/>
          </a:p>
          <a:p>
            <a:pPr algn="l" indent="0" marL="0">
              <a:buNone/>
            </a:pPr>
            <a:r>
              <a:rPr lang="en-US" sz="1300" dirty="0">
                <a:solidFill>
                  <a:schemeClr val="bg2"/>
                </a:solidFill>
                <a:latin typeface="Consolas" pitchFamily="34" charset="0"/>
                <a:ea typeface="Consolas" pitchFamily="34" charset="-122"/>
                <a:cs typeface="Consolas" pitchFamily="34" charset="-120"/>
              </a:rPr>
              <a:t>  WHERE capacity - sold - held &gt;= n;</a:t>
            </a:r>
            <a:endParaRPr lang="en-US" sz="1300" dirty="0"/>
          </a:p>
          <a:p>
            <a:pPr algn="l" indent="0" marL="0">
              <a:buNone/>
            </a:pPr>
            <a:r>
              <a:rPr lang="en-US" sz="1300" dirty="0">
                <a:solidFill>
                  <a:schemeClr val="bg2"/>
                </a:solidFill>
                <a:latin typeface="Consolas" pitchFamily="34" charset="0"/>
                <a:ea typeface="Consolas" pitchFamily="34" charset="-122"/>
                <a:cs typeface="Consolas" pitchFamily="34" charset="-120"/>
              </a:rPr>
              <a:t>0 rows changed: refused, all rolled back</a:t>
            </a:r>
            <a:endParaRPr lang="en-US" sz="1300" dirty="0"/>
          </a:p>
        </p:txBody>
      </p:sp>
      <p:sp>
        <p:nvSpPr>
          <p:cNvPr id="23" name="code card Gate: one scan wins"/>
          <p:cNvSpPr/>
          <p:nvPr/>
        </p:nvSpPr>
        <p:spPr>
          <a:xfrm>
            <a:off x="6217920" y="3291840"/>
            <a:ext cx="5394960" cy="2148840"/>
          </a:xfrm>
          <a:prstGeom prst="roundRect">
            <a:avLst>
              <a:gd name="adj" fmla="val 5106"/>
            </a:avLst>
          </a:prstGeom>
          <a:solidFill>
            <a:schemeClr val="tx1"/>
          </a:solidFill>
          <a:ln w="12700">
            <a:solidFill>
              <a:schemeClr val="tx1"/>
            </a:solidFill>
            <a:prstDash val="solid"/>
          </a:ln>
        </p:spPr>
      </p:sp>
      <p:sp>
        <p:nvSpPr>
          <p:cNvPr id="24" name="code title Gate: one scan wins"/>
          <p:cNvSpPr txBox="1"/>
          <p:nvPr/>
        </p:nvSpPr>
        <p:spPr>
          <a:xfrm>
            <a:off x="6446520" y="3429000"/>
            <a:ext cx="4937760" cy="365760"/>
          </a:xfrm>
          <a:prstGeom prst="rect">
            <a:avLst/>
          </a:prstGeom>
          <a:noFill/>
          <a:ln/>
        </p:spPr>
        <p:txBody>
          <a:bodyPr wrap="square" lIns="508" tIns="508" rIns="508" bIns="508" rtlCol="0" anchor="t"/>
          <a:lstStyle/>
          <a:p>
            <a:pPr algn="l" indent="0" marL="0">
              <a:buNone/>
            </a:pPr>
            <a:r>
              <a:rPr lang="en-US" sz="1400" b="1" dirty="0">
                <a:solidFill>
                  <a:schemeClr val="accent2"/>
                </a:solidFill>
                <a:latin typeface="Calibri" pitchFamily="34" charset="0"/>
                <a:ea typeface="Calibri" pitchFamily="34" charset="-122"/>
                <a:cs typeface="Calibri" pitchFamily="34" charset="-120"/>
              </a:rPr>
              <a:t>Gate: one scan wins</a:t>
            </a:r>
            <a:endParaRPr lang="en-US" sz="1400" dirty="0"/>
          </a:p>
        </p:txBody>
      </p:sp>
      <p:sp>
        <p:nvSpPr>
          <p:cNvPr id="25" name="code Gate: one scan wins"/>
          <p:cNvSpPr txBox="1"/>
          <p:nvPr/>
        </p:nvSpPr>
        <p:spPr>
          <a:xfrm>
            <a:off x="6446520" y="3840480"/>
            <a:ext cx="4937760" cy="1463040"/>
          </a:xfrm>
          <a:prstGeom prst="rect">
            <a:avLst/>
          </a:prstGeom>
          <a:noFill/>
          <a:ln/>
        </p:spPr>
        <p:txBody>
          <a:bodyPr wrap="square" lIns="508" tIns="508" rIns="508" bIns="508" rtlCol="0" anchor="t"/>
          <a:lstStyle/>
          <a:p>
            <a:pPr algn="l" indent="0" marL="0">
              <a:buNone/>
            </a:pPr>
            <a:r>
              <a:rPr lang="en-US" sz="1300" dirty="0">
                <a:solidFill>
                  <a:schemeClr val="bg2"/>
                </a:solidFill>
                <a:latin typeface="Consolas" pitchFamily="34" charset="0"/>
                <a:ea typeface="Consolas" pitchFamily="34" charset="-122"/>
                <a:cs typeface="Consolas" pitchFamily="34" charset="-120"/>
              </a:rPr>
              <a:t>UPDATE tickets</a:t>
            </a:r>
            <a:endParaRPr lang="en-US" sz="1300" dirty="0"/>
          </a:p>
          <a:p>
            <a:pPr algn="l" indent="0" marL="0">
              <a:buNone/>
            </a:pPr>
            <a:r>
              <a:rPr lang="en-US" sz="1300" dirty="0">
                <a:solidFill>
                  <a:schemeClr val="bg2"/>
                </a:solidFill>
                <a:latin typeface="Consolas" pitchFamily="34" charset="0"/>
                <a:ea typeface="Consolas" pitchFamily="34" charset="-122"/>
                <a:cs typeface="Consolas" pitchFamily="34" charset="-120"/>
              </a:rPr>
              <a:t>  SET status = 'CHECKED_IN'</a:t>
            </a:r>
            <a:endParaRPr lang="en-US" sz="1300" dirty="0"/>
          </a:p>
          <a:p>
            <a:pPr algn="l" indent="0" marL="0">
              <a:buNone/>
            </a:pPr>
            <a:r>
              <a:rPr lang="en-US" sz="1300" dirty="0">
                <a:solidFill>
                  <a:schemeClr val="bg2"/>
                </a:solidFill>
                <a:latin typeface="Consolas" pitchFamily="34" charset="0"/>
                <a:ea typeface="Consolas" pitchFamily="34" charset="-122"/>
                <a:cs typeface="Consolas" pitchFamily="34" charset="-120"/>
              </a:rPr>
              <a:t>  WHERE qr_token = ?</a:t>
            </a:r>
            <a:endParaRPr lang="en-US" sz="1300" dirty="0"/>
          </a:p>
          <a:p>
            <a:pPr algn="l" indent="0" marL="0">
              <a:buNone/>
            </a:pPr>
            <a:r>
              <a:rPr lang="en-US" sz="1300" dirty="0">
                <a:solidFill>
                  <a:schemeClr val="bg2"/>
                </a:solidFill>
                <a:latin typeface="Consolas" pitchFamily="34" charset="0"/>
                <a:ea typeface="Consolas" pitchFamily="34" charset="-122"/>
                <a:cs typeface="Consolas" pitchFamily="34" charset="-120"/>
              </a:rPr>
              <a:t>    AND status = 'VALID';</a:t>
            </a:r>
            <a:endParaRPr lang="en-US" sz="1300" dirty="0"/>
          </a:p>
          <a:p>
            <a:pPr algn="l" indent="0" marL="0">
              <a:buNone/>
            </a:pPr>
            <a:r>
              <a:rPr lang="en-US" sz="1300" dirty="0">
                <a:solidFill>
                  <a:schemeClr val="bg2"/>
                </a:solidFill>
                <a:latin typeface="Consolas" pitchFamily="34" charset="0"/>
                <a:ea typeface="Consolas" pitchFamily="34" charset="-122"/>
                <a:cs typeface="Consolas" pitchFamily="34" charset="-120"/>
              </a:rPr>
              <a:t>1 row changed: admitted. 0: refused</a:t>
            </a:r>
            <a:endParaRPr lang="en-US" sz="1300" dirty="0"/>
          </a:p>
        </p:txBody>
      </p:sp>
      <p:sp>
        <p:nvSpPr>
          <p:cNvPr id="26" name="step footer"/>
          <p:cNvSpPr txBox="1"/>
          <p:nvPr/>
        </p:nvSpPr>
        <p:spPr>
          <a:xfrm>
            <a:off x="548640" y="5669280"/>
            <a:ext cx="11064240" cy="64008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Nobody pays? The timer ends the hold and the seats go back on sale. Refund? The ticket is voided and the seat returns.</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How the submitted system is put together</a:t>
            </a:r>
            <a:endParaRPr lang="en-US" dirty="0"/>
          </a:p>
        </p:txBody>
      </p:sp>
      <p:sp>
        <p:nvSpPr>
          <p:cNvPr id="4" name="box Buyer"/>
          <p:cNvSpPr/>
          <p:nvPr/>
        </p:nvSpPr>
        <p:spPr>
          <a:xfrm>
            <a:off x="822960" y="1280160"/>
            <a:ext cx="3108960" cy="566928"/>
          </a:xfrm>
          <a:prstGeom prst="roundRect">
            <a:avLst>
              <a:gd name="adj" fmla="val 19355"/>
            </a:avLst>
          </a:prstGeom>
          <a:solidFill>
            <a:schemeClr val="bg2"/>
          </a:solidFill>
          <a:ln w="12700">
            <a:solidFill>
              <a:schemeClr val="bg2"/>
            </a:solidFill>
            <a:prstDash val="solid"/>
          </a:ln>
        </p:spPr>
      </p:sp>
      <p:sp>
        <p:nvSpPr>
          <p:cNvPr id="5" name="box title Buyer"/>
          <p:cNvSpPr txBox="1"/>
          <p:nvPr/>
        </p:nvSpPr>
        <p:spPr>
          <a:xfrm>
            <a:off x="960120" y="1371600"/>
            <a:ext cx="2834640" cy="41148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Buyer</a:t>
            </a:r>
            <a:endParaRPr lang="en-US" sz="1700" dirty="0"/>
          </a:p>
        </p:txBody>
      </p:sp>
      <p:sp>
        <p:nvSpPr>
          <p:cNvPr id="6" name="box Organiser or admin"/>
          <p:cNvSpPr/>
          <p:nvPr/>
        </p:nvSpPr>
        <p:spPr>
          <a:xfrm>
            <a:off x="4526280" y="1280160"/>
            <a:ext cx="3108960" cy="566928"/>
          </a:xfrm>
          <a:prstGeom prst="roundRect">
            <a:avLst>
              <a:gd name="adj" fmla="val 19355"/>
            </a:avLst>
          </a:prstGeom>
          <a:solidFill>
            <a:schemeClr val="bg2"/>
          </a:solidFill>
          <a:ln w="12700">
            <a:solidFill>
              <a:schemeClr val="bg2"/>
            </a:solidFill>
            <a:prstDash val="solid"/>
          </a:ln>
        </p:spPr>
      </p:sp>
      <p:sp>
        <p:nvSpPr>
          <p:cNvPr id="7" name="box title Organiser or admin"/>
          <p:cNvSpPr txBox="1"/>
          <p:nvPr/>
        </p:nvSpPr>
        <p:spPr>
          <a:xfrm>
            <a:off x="4663440" y="1371600"/>
            <a:ext cx="2834640" cy="41148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Organiser or admin</a:t>
            </a:r>
            <a:endParaRPr lang="en-US" sz="1700" dirty="0"/>
          </a:p>
        </p:txBody>
      </p:sp>
      <p:sp>
        <p:nvSpPr>
          <p:cNvPr id="8" name="box Gate staff"/>
          <p:cNvSpPr/>
          <p:nvPr/>
        </p:nvSpPr>
        <p:spPr>
          <a:xfrm>
            <a:off x="8229600" y="1280160"/>
            <a:ext cx="3108960" cy="566928"/>
          </a:xfrm>
          <a:prstGeom prst="roundRect">
            <a:avLst>
              <a:gd name="adj" fmla="val 19355"/>
            </a:avLst>
          </a:prstGeom>
          <a:solidFill>
            <a:schemeClr val="bg2"/>
          </a:solidFill>
          <a:ln w="12700">
            <a:solidFill>
              <a:schemeClr val="bg2"/>
            </a:solidFill>
            <a:prstDash val="solid"/>
          </a:ln>
        </p:spPr>
      </p:sp>
      <p:sp>
        <p:nvSpPr>
          <p:cNvPr id="9" name="box title Gate staff"/>
          <p:cNvSpPr txBox="1"/>
          <p:nvPr/>
        </p:nvSpPr>
        <p:spPr>
          <a:xfrm>
            <a:off x="8366760" y="1371600"/>
            <a:ext cx="2834640" cy="41148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Gate staff</a:t>
            </a:r>
            <a:endParaRPr lang="en-US" sz="1700" dirty="0"/>
          </a:p>
        </p:txBody>
      </p:sp>
      <p:sp>
        <p:nvSpPr>
          <p:cNvPr id="10" name="client arrow"/>
          <p:cNvSpPr/>
          <p:nvPr/>
        </p:nvSpPr>
        <p:spPr>
          <a:xfrm>
            <a:off x="2377440" y="1847088"/>
            <a:ext cx="0" cy="256032"/>
          </a:xfrm>
          <a:prstGeom prst="line">
            <a:avLst/>
          </a:prstGeom>
          <a:noFill/>
          <a:ln w="28575">
            <a:solidFill>
              <a:schemeClr val="accent4"/>
            </a:solidFill>
            <a:prstDash val="solid"/>
            <a:tailEnd type="triangle"/>
          </a:ln>
        </p:spPr>
      </p:sp>
      <p:sp>
        <p:nvSpPr>
          <p:cNvPr id="11" name="client arrow"/>
          <p:cNvSpPr/>
          <p:nvPr/>
        </p:nvSpPr>
        <p:spPr>
          <a:xfrm>
            <a:off x="6080760" y="1847088"/>
            <a:ext cx="0" cy="256032"/>
          </a:xfrm>
          <a:prstGeom prst="line">
            <a:avLst/>
          </a:prstGeom>
          <a:noFill/>
          <a:ln w="28575">
            <a:solidFill>
              <a:schemeClr val="accent4"/>
            </a:solidFill>
            <a:prstDash val="solid"/>
            <a:tailEnd type="triangle"/>
          </a:ln>
        </p:spPr>
      </p:sp>
      <p:sp>
        <p:nvSpPr>
          <p:cNvPr id="12" name="client arrow"/>
          <p:cNvSpPr/>
          <p:nvPr/>
        </p:nvSpPr>
        <p:spPr>
          <a:xfrm>
            <a:off x="9784080" y="1847088"/>
            <a:ext cx="0" cy="256032"/>
          </a:xfrm>
          <a:prstGeom prst="line">
            <a:avLst/>
          </a:prstGeom>
          <a:noFill/>
          <a:ln w="28575">
            <a:solidFill>
              <a:schemeClr val="accent4"/>
            </a:solidFill>
            <a:prstDash val="solid"/>
            <a:tailEnd type="triangle"/>
          </a:ln>
        </p:spPr>
      </p:sp>
      <p:sp>
        <p:nvSpPr>
          <p:cNvPr id="13" name="box Web layer (Fastify): routes, keys, input checks, error codes"/>
          <p:cNvSpPr/>
          <p:nvPr/>
        </p:nvSpPr>
        <p:spPr>
          <a:xfrm>
            <a:off x="548640" y="2103120"/>
            <a:ext cx="11064240" cy="685800"/>
          </a:xfrm>
          <a:prstGeom prst="roundRect">
            <a:avLst>
              <a:gd name="adj" fmla="val 16000"/>
            </a:avLst>
          </a:prstGeom>
          <a:solidFill>
            <a:schemeClr val="accent1"/>
          </a:solidFill>
          <a:ln w="12700">
            <a:solidFill>
              <a:schemeClr val="accent1"/>
            </a:solidFill>
            <a:prstDash val="solid"/>
          </a:ln>
        </p:spPr>
      </p:sp>
      <p:sp>
        <p:nvSpPr>
          <p:cNvPr id="14" name="box title Web layer (Fastify): routes, keys, input checks, error codes"/>
          <p:cNvSpPr txBox="1"/>
          <p:nvPr/>
        </p:nvSpPr>
        <p:spPr>
          <a:xfrm>
            <a:off x="685800" y="2194560"/>
            <a:ext cx="10789920" cy="411480"/>
          </a:xfrm>
          <a:prstGeom prst="rect">
            <a:avLst/>
          </a:prstGeom>
          <a:noFill/>
          <a:ln/>
        </p:spPr>
        <p:txBody>
          <a:bodyPr wrap="square" lIns="508" tIns="508" rIns="508" bIns="508"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Web layer (Fastify): routes, keys, input checks, error codes</a:t>
            </a:r>
            <a:endParaRPr lang="en-US" sz="1700" dirty="0"/>
          </a:p>
        </p:txBody>
      </p:sp>
      <p:sp>
        <p:nvSpPr>
          <p:cNvPr id="15" name="module arrow"/>
          <p:cNvSpPr/>
          <p:nvPr/>
        </p:nvSpPr>
        <p:spPr>
          <a:xfrm>
            <a:off x="1600200" y="2788920"/>
            <a:ext cx="0" cy="228600"/>
          </a:xfrm>
          <a:prstGeom prst="line">
            <a:avLst/>
          </a:prstGeom>
          <a:noFill/>
          <a:ln w="28575">
            <a:solidFill>
              <a:schemeClr val="accent4"/>
            </a:solidFill>
            <a:prstDash val="solid"/>
            <a:tailEnd type="triangle"/>
          </a:ln>
        </p:spPr>
      </p:sp>
      <p:sp>
        <p:nvSpPr>
          <p:cNvPr id="16" name="box Holds"/>
          <p:cNvSpPr/>
          <p:nvPr/>
        </p:nvSpPr>
        <p:spPr>
          <a:xfrm>
            <a:off x="548640" y="3017520"/>
            <a:ext cx="210312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7" name="box title Holds"/>
          <p:cNvSpPr txBox="1"/>
          <p:nvPr/>
        </p:nvSpPr>
        <p:spPr>
          <a:xfrm>
            <a:off x="685800" y="3108960"/>
            <a:ext cx="1828800" cy="411480"/>
          </a:xfrm>
          <a:prstGeom prst="rect">
            <a:avLst/>
          </a:prstGeom>
          <a:noFill/>
          <a:ln/>
        </p:spPr>
        <p:txBody>
          <a:bodyPr wrap="square" lIns="508" tIns="508" rIns="508" bIns="508" rtlCol="0" anchor="t"/>
          <a:lstStyle/>
          <a:p>
            <a:pPr algn="l" indent="0" marL="0">
              <a:buNone/>
            </a:pPr>
            <a:r>
              <a:rPr lang="en-US" sz="1500" b="1" dirty="0">
                <a:solidFill>
                  <a:schemeClr val="tx1"/>
                </a:solidFill>
                <a:latin typeface="Cambria" pitchFamily="34" charset="0"/>
                <a:ea typeface="Cambria" pitchFamily="34" charset="-122"/>
                <a:cs typeface="Cambria" pitchFamily="34" charset="-120"/>
              </a:rPr>
              <a:t>Holds</a:t>
            </a:r>
            <a:endParaRPr lang="en-US" sz="1500" dirty="0"/>
          </a:p>
        </p:txBody>
      </p:sp>
      <p:sp>
        <p:nvSpPr>
          <p:cNvPr id="18" name="box text Holds"/>
          <p:cNvSpPr txBox="1"/>
          <p:nvPr/>
        </p:nvSpPr>
        <p:spPr>
          <a:xfrm>
            <a:off x="685800" y="3520440"/>
            <a:ext cx="1828800" cy="731520"/>
          </a:xfrm>
          <a:prstGeom prst="rect">
            <a:avLst/>
          </a:prstGeom>
          <a:noFill/>
          <a:ln/>
        </p:spPr>
        <p:txBody>
          <a:bodyPr wrap="square" lIns="508" tIns="508" rIns="508" bIns="508" rtlCol="0" anchor="t"/>
          <a:lstStyle/>
          <a:p>
            <a:pPr algn="l" indent="0" marL="0">
              <a:buNone/>
            </a:pPr>
            <a:r>
              <a:rPr lang="en-US" sz="1300" dirty="0">
                <a:solidFill>
                  <a:schemeClr val="accent4"/>
                </a:solidFill>
                <a:latin typeface="Calibri" pitchFamily="34" charset="0"/>
                <a:ea typeface="Calibri" pitchFamily="34" charset="-122"/>
                <a:cs typeface="Calibri" pitchFamily="34" charset="-120"/>
              </a:rPr>
              <a:t>hold, pay, release, expire</a:t>
            </a:r>
            <a:endParaRPr lang="en-US" sz="1300" dirty="0"/>
          </a:p>
        </p:txBody>
      </p:sp>
      <p:sp>
        <p:nvSpPr>
          <p:cNvPr id="19" name="Shape 16"/>
          <p:cNvSpPr/>
          <p:nvPr/>
        </p:nvSpPr>
        <p:spPr>
          <a:xfrm>
            <a:off x="685800" y="3977640"/>
            <a:ext cx="1554480" cy="310896"/>
          </a:xfrm>
          <a:prstGeom prst="roundRect">
            <a:avLst>
              <a:gd name="adj" fmla="val 50000"/>
            </a:avLst>
          </a:prstGeom>
          <a:solidFill>
            <a:schemeClr val="accent2"/>
          </a:solidFill>
          <a:ln w="12700">
            <a:solidFill>
              <a:schemeClr val="accent2"/>
            </a:solidFill>
            <a:prstDash val="solid"/>
          </a:ln>
        </p:spPr>
      </p:sp>
      <p:sp>
        <p:nvSpPr>
          <p:cNvPr id="20" name="Text 17"/>
          <p:cNvSpPr txBox="1"/>
          <p:nvPr/>
        </p:nvSpPr>
        <p:spPr>
          <a:xfrm>
            <a:off x="685800" y="3977640"/>
            <a:ext cx="1554480" cy="310896"/>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holds.ts</a:t>
            </a:r>
            <a:endParaRPr lang="en-US" sz="1200" dirty="0"/>
          </a:p>
        </p:txBody>
      </p:sp>
      <p:sp>
        <p:nvSpPr>
          <p:cNvPr id="21" name="module arrow"/>
          <p:cNvSpPr/>
          <p:nvPr/>
        </p:nvSpPr>
        <p:spPr>
          <a:xfrm>
            <a:off x="3840480" y="2788920"/>
            <a:ext cx="0" cy="228600"/>
          </a:xfrm>
          <a:prstGeom prst="line">
            <a:avLst/>
          </a:prstGeom>
          <a:noFill/>
          <a:ln w="28575">
            <a:solidFill>
              <a:schemeClr val="accent4"/>
            </a:solidFill>
            <a:prstDash val="solid"/>
            <a:tailEnd type="triangle"/>
          </a:ln>
        </p:spPr>
      </p:sp>
      <p:sp>
        <p:nvSpPr>
          <p:cNvPr id="22" name="box Waiting room"/>
          <p:cNvSpPr/>
          <p:nvPr/>
        </p:nvSpPr>
        <p:spPr>
          <a:xfrm>
            <a:off x="2788920" y="3017520"/>
            <a:ext cx="210312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3" name="box title Waiting room"/>
          <p:cNvSpPr txBox="1"/>
          <p:nvPr/>
        </p:nvSpPr>
        <p:spPr>
          <a:xfrm>
            <a:off x="2926080" y="3108960"/>
            <a:ext cx="1828800" cy="411480"/>
          </a:xfrm>
          <a:prstGeom prst="rect">
            <a:avLst/>
          </a:prstGeom>
          <a:noFill/>
          <a:ln/>
        </p:spPr>
        <p:txBody>
          <a:bodyPr wrap="square" lIns="508" tIns="508" rIns="508" bIns="508" rtlCol="0" anchor="t"/>
          <a:lstStyle/>
          <a:p>
            <a:pPr algn="l" indent="0" marL="0">
              <a:buNone/>
            </a:pPr>
            <a:r>
              <a:rPr lang="en-US" sz="1500" b="1" dirty="0">
                <a:solidFill>
                  <a:schemeClr val="tx1"/>
                </a:solidFill>
                <a:latin typeface="Cambria" pitchFamily="34" charset="0"/>
                <a:ea typeface="Cambria" pitchFamily="34" charset="-122"/>
                <a:cs typeface="Cambria" pitchFamily="34" charset="-120"/>
              </a:rPr>
              <a:t>Waiting room</a:t>
            </a:r>
            <a:endParaRPr lang="en-US" sz="1500" dirty="0"/>
          </a:p>
        </p:txBody>
      </p:sp>
      <p:sp>
        <p:nvSpPr>
          <p:cNvPr id="24" name="box text Waiting room"/>
          <p:cNvSpPr txBox="1"/>
          <p:nvPr/>
        </p:nvSpPr>
        <p:spPr>
          <a:xfrm>
            <a:off x="2926080" y="3520440"/>
            <a:ext cx="1828800" cy="731520"/>
          </a:xfrm>
          <a:prstGeom prst="rect">
            <a:avLst/>
          </a:prstGeom>
          <a:noFill/>
          <a:ln/>
        </p:spPr>
        <p:txBody>
          <a:bodyPr wrap="square" lIns="508" tIns="508" rIns="508" bIns="508" rtlCol="0" anchor="t"/>
          <a:lstStyle/>
          <a:p>
            <a:pPr algn="l" indent="0" marL="0">
              <a:buNone/>
            </a:pPr>
            <a:r>
              <a:rPr lang="en-US" sz="1300" dirty="0">
                <a:solidFill>
                  <a:schemeClr val="accent4"/>
                </a:solidFill>
                <a:latin typeface="Calibri" pitchFamily="34" charset="0"/>
                <a:ea typeface="Calibri" pitchFamily="34" charset="-122"/>
                <a:cs typeface="Calibri" pitchFamily="34" charset="-120"/>
              </a:rPr>
              <a:t>join, admit, use a pass</a:t>
            </a:r>
            <a:endParaRPr lang="en-US" sz="1300" dirty="0"/>
          </a:p>
        </p:txBody>
      </p:sp>
      <p:sp>
        <p:nvSpPr>
          <p:cNvPr id="25" name="Shape 22"/>
          <p:cNvSpPr/>
          <p:nvPr/>
        </p:nvSpPr>
        <p:spPr>
          <a:xfrm>
            <a:off x="2926080" y="3977640"/>
            <a:ext cx="1554480" cy="310896"/>
          </a:xfrm>
          <a:prstGeom prst="roundRect">
            <a:avLst>
              <a:gd name="adj" fmla="val 50000"/>
            </a:avLst>
          </a:prstGeom>
          <a:solidFill>
            <a:schemeClr val="accent2"/>
          </a:solidFill>
          <a:ln w="12700">
            <a:solidFill>
              <a:schemeClr val="accent2"/>
            </a:solidFill>
            <a:prstDash val="solid"/>
          </a:ln>
        </p:spPr>
      </p:sp>
      <p:sp>
        <p:nvSpPr>
          <p:cNvPr id="26" name="Text 23"/>
          <p:cNvSpPr txBox="1"/>
          <p:nvPr/>
        </p:nvSpPr>
        <p:spPr>
          <a:xfrm>
            <a:off x="2926080" y="3977640"/>
            <a:ext cx="1554480" cy="310896"/>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queue.ts</a:t>
            </a:r>
            <a:endParaRPr lang="en-US" sz="1200" dirty="0"/>
          </a:p>
        </p:txBody>
      </p:sp>
      <p:sp>
        <p:nvSpPr>
          <p:cNvPr id="27" name="module arrow"/>
          <p:cNvSpPr/>
          <p:nvPr/>
        </p:nvSpPr>
        <p:spPr>
          <a:xfrm>
            <a:off x="6080760" y="2788920"/>
            <a:ext cx="0" cy="228600"/>
          </a:xfrm>
          <a:prstGeom prst="line">
            <a:avLst/>
          </a:prstGeom>
          <a:noFill/>
          <a:ln w="28575">
            <a:solidFill>
              <a:schemeClr val="accent4"/>
            </a:solidFill>
            <a:prstDash val="solid"/>
            <a:tailEnd type="triangle"/>
          </a:ln>
        </p:spPr>
      </p:sp>
      <p:sp>
        <p:nvSpPr>
          <p:cNvPr id="28" name="box Tickets"/>
          <p:cNvSpPr/>
          <p:nvPr/>
        </p:nvSpPr>
        <p:spPr>
          <a:xfrm>
            <a:off x="5029200" y="3017520"/>
            <a:ext cx="210312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box title Tickets"/>
          <p:cNvSpPr txBox="1"/>
          <p:nvPr/>
        </p:nvSpPr>
        <p:spPr>
          <a:xfrm>
            <a:off x="5166360" y="3108960"/>
            <a:ext cx="1828800" cy="411480"/>
          </a:xfrm>
          <a:prstGeom prst="rect">
            <a:avLst/>
          </a:prstGeom>
          <a:noFill/>
          <a:ln/>
        </p:spPr>
        <p:txBody>
          <a:bodyPr wrap="square" lIns="508" tIns="508" rIns="508" bIns="508" rtlCol="0" anchor="t"/>
          <a:lstStyle/>
          <a:p>
            <a:pPr algn="l" indent="0" marL="0">
              <a:buNone/>
            </a:pPr>
            <a:r>
              <a:rPr lang="en-US" sz="1500" b="1" dirty="0">
                <a:solidFill>
                  <a:schemeClr val="tx1"/>
                </a:solidFill>
                <a:latin typeface="Cambria" pitchFamily="34" charset="0"/>
                <a:ea typeface="Cambria" pitchFamily="34" charset="-122"/>
                <a:cs typeface="Cambria" pitchFamily="34" charset="-120"/>
              </a:rPr>
              <a:t>Tickets</a:t>
            </a:r>
            <a:endParaRPr lang="en-US" sz="1500" dirty="0"/>
          </a:p>
        </p:txBody>
      </p:sp>
      <p:sp>
        <p:nvSpPr>
          <p:cNvPr id="30" name="box text Tickets"/>
          <p:cNvSpPr txBox="1"/>
          <p:nvPr/>
        </p:nvSpPr>
        <p:spPr>
          <a:xfrm>
            <a:off x="5166360" y="3520440"/>
            <a:ext cx="1828800" cy="731520"/>
          </a:xfrm>
          <a:prstGeom prst="rect">
            <a:avLst/>
          </a:prstGeom>
          <a:noFill/>
          <a:ln/>
        </p:spPr>
        <p:txBody>
          <a:bodyPr wrap="square" lIns="508" tIns="508" rIns="508" bIns="508" rtlCol="0" anchor="t"/>
          <a:lstStyle/>
          <a:p>
            <a:pPr algn="l" indent="0" marL="0">
              <a:buNone/>
            </a:pPr>
            <a:r>
              <a:rPr lang="en-US" sz="1300" dirty="0">
                <a:solidFill>
                  <a:schemeClr val="accent4"/>
                </a:solidFill>
                <a:latin typeface="Calibri" pitchFamily="34" charset="0"/>
                <a:ea typeface="Calibri" pitchFamily="34" charset="-122"/>
                <a:cs typeface="Calibri" pitchFamily="34" charset="-120"/>
              </a:rPr>
              <a:t>check-in, refund</a:t>
            </a:r>
            <a:endParaRPr lang="en-US" sz="1300" dirty="0"/>
          </a:p>
        </p:txBody>
      </p:sp>
      <p:sp>
        <p:nvSpPr>
          <p:cNvPr id="31" name="Shape 28"/>
          <p:cNvSpPr/>
          <p:nvPr/>
        </p:nvSpPr>
        <p:spPr>
          <a:xfrm>
            <a:off x="5166360" y="3977640"/>
            <a:ext cx="1554480" cy="310896"/>
          </a:xfrm>
          <a:prstGeom prst="roundRect">
            <a:avLst>
              <a:gd name="adj" fmla="val 50000"/>
            </a:avLst>
          </a:prstGeom>
          <a:solidFill>
            <a:schemeClr val="accent2"/>
          </a:solidFill>
          <a:ln w="12700">
            <a:solidFill>
              <a:schemeClr val="accent2"/>
            </a:solidFill>
            <a:prstDash val="solid"/>
          </a:ln>
        </p:spPr>
      </p:sp>
      <p:sp>
        <p:nvSpPr>
          <p:cNvPr id="32" name="Text 29"/>
          <p:cNvSpPr txBox="1"/>
          <p:nvPr/>
        </p:nvSpPr>
        <p:spPr>
          <a:xfrm>
            <a:off x="5166360" y="3977640"/>
            <a:ext cx="1554480" cy="310896"/>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tickets.ts</a:t>
            </a:r>
            <a:endParaRPr lang="en-US" sz="1200" dirty="0"/>
          </a:p>
        </p:txBody>
      </p:sp>
      <p:sp>
        <p:nvSpPr>
          <p:cNvPr id="33" name="module arrow"/>
          <p:cNvSpPr/>
          <p:nvPr/>
        </p:nvSpPr>
        <p:spPr>
          <a:xfrm>
            <a:off x="8321040" y="2788920"/>
            <a:ext cx="0" cy="228600"/>
          </a:xfrm>
          <a:prstGeom prst="line">
            <a:avLst/>
          </a:prstGeom>
          <a:noFill/>
          <a:ln w="28575">
            <a:solidFill>
              <a:schemeClr val="accent4"/>
            </a:solidFill>
            <a:prstDash val="solid"/>
            <a:tailEnd type="triangle"/>
          </a:ln>
        </p:spPr>
      </p:sp>
      <p:sp>
        <p:nvSpPr>
          <p:cNvPr id="34" name="box Promo, payments"/>
          <p:cNvSpPr/>
          <p:nvPr/>
        </p:nvSpPr>
        <p:spPr>
          <a:xfrm>
            <a:off x="7269480" y="3017520"/>
            <a:ext cx="210312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5" name="box title Promo, payments"/>
          <p:cNvSpPr txBox="1"/>
          <p:nvPr/>
        </p:nvSpPr>
        <p:spPr>
          <a:xfrm>
            <a:off x="7406640" y="3108960"/>
            <a:ext cx="1828800" cy="411480"/>
          </a:xfrm>
          <a:prstGeom prst="rect">
            <a:avLst/>
          </a:prstGeom>
          <a:noFill/>
          <a:ln/>
        </p:spPr>
        <p:txBody>
          <a:bodyPr wrap="square" lIns="508" tIns="508" rIns="508" bIns="508" rtlCol="0" anchor="t"/>
          <a:lstStyle/>
          <a:p>
            <a:pPr algn="l" indent="0" marL="0">
              <a:buNone/>
            </a:pPr>
            <a:r>
              <a:rPr lang="en-US" sz="1500" b="1" dirty="0">
                <a:solidFill>
                  <a:schemeClr val="tx1"/>
                </a:solidFill>
                <a:latin typeface="Cambria" pitchFamily="34" charset="0"/>
                <a:ea typeface="Cambria" pitchFamily="34" charset="-122"/>
                <a:cs typeface="Cambria" pitchFamily="34" charset="-120"/>
              </a:rPr>
              <a:t>Promo, payments</a:t>
            </a:r>
            <a:endParaRPr lang="en-US" sz="1500" dirty="0"/>
          </a:p>
        </p:txBody>
      </p:sp>
      <p:sp>
        <p:nvSpPr>
          <p:cNvPr id="36" name="box text Promo, payments"/>
          <p:cNvSpPr txBox="1"/>
          <p:nvPr/>
        </p:nvSpPr>
        <p:spPr>
          <a:xfrm>
            <a:off x="7406640" y="3520440"/>
            <a:ext cx="1828800" cy="731520"/>
          </a:xfrm>
          <a:prstGeom prst="rect">
            <a:avLst/>
          </a:prstGeom>
          <a:noFill/>
          <a:ln/>
        </p:spPr>
        <p:txBody>
          <a:bodyPr wrap="square" lIns="508" tIns="508" rIns="508" bIns="508" rtlCol="0" anchor="t"/>
          <a:lstStyle/>
          <a:p>
            <a:pPr algn="l" indent="0" marL="0">
              <a:buNone/>
            </a:pPr>
            <a:r>
              <a:rPr lang="en-US" sz="1300" dirty="0">
                <a:solidFill>
                  <a:schemeClr val="accent4"/>
                </a:solidFill>
                <a:latin typeface="Calibri" pitchFamily="34" charset="0"/>
                <a:ea typeface="Calibri" pitchFamily="34" charset="-122"/>
                <a:cs typeface="Calibri" pitchFamily="34" charset="-120"/>
              </a:rPr>
              <a:t>codes, fair split, mock gateway</a:t>
            </a:r>
            <a:endParaRPr lang="en-US" sz="1300" dirty="0"/>
          </a:p>
        </p:txBody>
      </p:sp>
      <p:sp>
        <p:nvSpPr>
          <p:cNvPr id="37" name="Shape 34"/>
          <p:cNvSpPr/>
          <p:nvPr/>
        </p:nvSpPr>
        <p:spPr>
          <a:xfrm>
            <a:off x="7406640" y="3977640"/>
            <a:ext cx="1554480" cy="310896"/>
          </a:xfrm>
          <a:prstGeom prst="roundRect">
            <a:avLst>
              <a:gd name="adj" fmla="val 50000"/>
            </a:avLst>
          </a:prstGeom>
          <a:solidFill>
            <a:schemeClr val="accent2"/>
          </a:solidFill>
          <a:ln w="12700">
            <a:solidFill>
              <a:schemeClr val="accent2"/>
            </a:solidFill>
            <a:prstDash val="solid"/>
          </a:ln>
        </p:spPr>
      </p:sp>
      <p:sp>
        <p:nvSpPr>
          <p:cNvPr id="38" name="Text 35"/>
          <p:cNvSpPr txBox="1"/>
          <p:nvPr/>
        </p:nvSpPr>
        <p:spPr>
          <a:xfrm>
            <a:off x="7406640" y="3977640"/>
            <a:ext cx="1554480" cy="310896"/>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promo.ts</a:t>
            </a:r>
            <a:endParaRPr lang="en-US" sz="1200" dirty="0"/>
          </a:p>
        </p:txBody>
      </p:sp>
      <p:sp>
        <p:nvSpPr>
          <p:cNvPr id="39" name="module arrow"/>
          <p:cNvSpPr/>
          <p:nvPr/>
        </p:nvSpPr>
        <p:spPr>
          <a:xfrm>
            <a:off x="10561320" y="2788920"/>
            <a:ext cx="0" cy="228600"/>
          </a:xfrm>
          <a:prstGeom prst="line">
            <a:avLst/>
          </a:prstGeom>
          <a:noFill/>
          <a:ln w="28575">
            <a:solidFill>
              <a:schemeClr val="accent4"/>
            </a:solidFill>
            <a:prstDash val="solid"/>
            <a:tailEnd type="triangle"/>
          </a:ln>
        </p:spPr>
      </p:sp>
      <p:sp>
        <p:nvSpPr>
          <p:cNvPr id="40" name="box Admin"/>
          <p:cNvSpPr/>
          <p:nvPr/>
        </p:nvSpPr>
        <p:spPr>
          <a:xfrm>
            <a:off x="9509760" y="3017520"/>
            <a:ext cx="210312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1" name="box title Admin"/>
          <p:cNvSpPr txBox="1"/>
          <p:nvPr/>
        </p:nvSpPr>
        <p:spPr>
          <a:xfrm>
            <a:off x="9646920" y="3108960"/>
            <a:ext cx="1828800" cy="411480"/>
          </a:xfrm>
          <a:prstGeom prst="rect">
            <a:avLst/>
          </a:prstGeom>
          <a:noFill/>
          <a:ln/>
        </p:spPr>
        <p:txBody>
          <a:bodyPr wrap="square" lIns="508" tIns="508" rIns="508" bIns="508" rtlCol="0" anchor="t"/>
          <a:lstStyle/>
          <a:p>
            <a:pPr algn="l" indent="0" marL="0">
              <a:buNone/>
            </a:pPr>
            <a:r>
              <a:rPr lang="en-US" sz="1500" b="1" dirty="0">
                <a:solidFill>
                  <a:schemeClr val="tx1"/>
                </a:solidFill>
                <a:latin typeface="Cambria" pitchFamily="34" charset="0"/>
                <a:ea typeface="Cambria" pitchFamily="34" charset="-122"/>
                <a:cs typeface="Cambria" pitchFamily="34" charset="-120"/>
              </a:rPr>
              <a:t>Admin</a:t>
            </a:r>
            <a:endParaRPr lang="en-US" sz="1500" dirty="0"/>
          </a:p>
        </p:txBody>
      </p:sp>
      <p:sp>
        <p:nvSpPr>
          <p:cNvPr id="42" name="box text Admin"/>
          <p:cNvSpPr txBox="1"/>
          <p:nvPr/>
        </p:nvSpPr>
        <p:spPr>
          <a:xfrm>
            <a:off x="9646920" y="3520440"/>
            <a:ext cx="1828800" cy="731520"/>
          </a:xfrm>
          <a:prstGeom prst="rect">
            <a:avLst/>
          </a:prstGeom>
          <a:noFill/>
          <a:ln/>
        </p:spPr>
        <p:txBody>
          <a:bodyPr wrap="square" lIns="508" tIns="508" rIns="508" bIns="508" rtlCol="0" anchor="t"/>
          <a:lstStyle/>
          <a:p>
            <a:pPr algn="l" indent="0" marL="0">
              <a:buNone/>
            </a:pPr>
            <a:r>
              <a:rPr lang="en-US" sz="1300" dirty="0">
                <a:solidFill>
                  <a:schemeClr val="accent4"/>
                </a:solidFill>
                <a:latin typeface="Calibri" pitchFamily="34" charset="0"/>
                <a:ea typeface="Calibri" pitchFamily="34" charset="-122"/>
                <a:cs typeface="Calibri" pitchFamily="34" charset="-120"/>
              </a:rPr>
              <a:t>events, stats, the self-check</a:t>
            </a:r>
            <a:endParaRPr lang="en-US" sz="1300" dirty="0"/>
          </a:p>
        </p:txBody>
      </p:sp>
      <p:sp>
        <p:nvSpPr>
          <p:cNvPr id="43" name="Shape 40"/>
          <p:cNvSpPr/>
          <p:nvPr/>
        </p:nvSpPr>
        <p:spPr>
          <a:xfrm>
            <a:off x="9646920" y="3977640"/>
            <a:ext cx="1554480" cy="310896"/>
          </a:xfrm>
          <a:prstGeom prst="roundRect">
            <a:avLst>
              <a:gd name="adj" fmla="val 50000"/>
            </a:avLst>
          </a:prstGeom>
          <a:solidFill>
            <a:schemeClr val="accent2"/>
          </a:solidFill>
          <a:ln w="12700">
            <a:solidFill>
              <a:schemeClr val="accent2"/>
            </a:solidFill>
            <a:prstDash val="solid"/>
          </a:ln>
        </p:spPr>
      </p:sp>
      <p:sp>
        <p:nvSpPr>
          <p:cNvPr id="44" name="Text 41"/>
          <p:cNvSpPr txBox="1"/>
          <p:nvPr/>
        </p:nvSpPr>
        <p:spPr>
          <a:xfrm>
            <a:off x="9646920" y="3977640"/>
            <a:ext cx="1554480" cy="310896"/>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admin.ts</a:t>
            </a:r>
            <a:endParaRPr lang="en-US" sz="1200" dirty="0"/>
          </a:p>
        </p:txBody>
      </p:sp>
      <p:sp>
        <p:nvSpPr>
          <p:cNvPr id="45" name="inventory arrow"/>
          <p:cNvSpPr/>
          <p:nvPr/>
        </p:nvSpPr>
        <p:spPr>
          <a:xfrm>
            <a:off x="6080760" y="4343400"/>
            <a:ext cx="0" cy="182880"/>
          </a:xfrm>
          <a:prstGeom prst="line">
            <a:avLst/>
          </a:prstGeom>
          <a:noFill/>
          <a:ln w="28575">
            <a:solidFill>
              <a:schemeClr val="accent4"/>
            </a:solidFill>
            <a:prstDash val="solid"/>
            <a:tailEnd type="triangle"/>
          </a:ln>
        </p:spPr>
      </p:sp>
      <p:sp>
        <p:nvSpPr>
          <p:cNvPr id="46" name="box Inventory: the only code that changes the held and sold counters"/>
          <p:cNvSpPr/>
          <p:nvPr/>
        </p:nvSpPr>
        <p:spPr>
          <a:xfrm>
            <a:off x="548640" y="4526280"/>
            <a:ext cx="11064240" cy="685800"/>
          </a:xfrm>
          <a:prstGeom prst="roundRect">
            <a:avLst>
              <a:gd name="adj" fmla="val 16000"/>
            </a:avLst>
          </a:prstGeom>
          <a:solidFill>
            <a:schemeClr val="accent6"/>
          </a:solidFill>
          <a:ln w="12700">
            <a:solidFill>
              <a:schemeClr val="accent6"/>
            </a:solidFill>
            <a:prstDash val="solid"/>
          </a:ln>
        </p:spPr>
      </p:sp>
      <p:sp>
        <p:nvSpPr>
          <p:cNvPr id="47" name="box title Inventory: the only code that changes the held and sold counters"/>
          <p:cNvSpPr txBox="1"/>
          <p:nvPr/>
        </p:nvSpPr>
        <p:spPr>
          <a:xfrm>
            <a:off x="685800" y="4617720"/>
            <a:ext cx="10789920" cy="411480"/>
          </a:xfrm>
          <a:prstGeom prst="rect">
            <a:avLst/>
          </a:prstGeom>
          <a:noFill/>
          <a:ln/>
        </p:spPr>
        <p:txBody>
          <a:bodyPr wrap="square" lIns="508" tIns="508" rIns="508" bIns="508" rtlCol="0" anchor="t"/>
          <a:lstStyle/>
          <a:p>
            <a:pPr algn="l" indent="0" marL="0">
              <a:buNone/>
            </a:pPr>
            <a:r>
              <a:rPr lang="en-US" sz="1600" b="1" dirty="0">
                <a:solidFill>
                  <a:schemeClr val="bg1"/>
                </a:solidFill>
                <a:latin typeface="Cambria" pitchFamily="34" charset="0"/>
                <a:ea typeface="Cambria" pitchFamily="34" charset="-122"/>
                <a:cs typeface="Cambria" pitchFamily="34" charset="-120"/>
              </a:rPr>
              <a:t>Inventory: the only code that changes the held and sold counters</a:t>
            </a:r>
            <a:endParaRPr lang="en-US" sz="1600" dirty="0"/>
          </a:p>
        </p:txBody>
      </p:sp>
      <p:sp>
        <p:nvSpPr>
          <p:cNvPr id="48" name="db arrow"/>
          <p:cNvSpPr/>
          <p:nvPr/>
        </p:nvSpPr>
        <p:spPr>
          <a:xfrm>
            <a:off x="6080760" y="5212080"/>
            <a:ext cx="0" cy="182880"/>
          </a:xfrm>
          <a:prstGeom prst="line">
            <a:avLst/>
          </a:prstGeom>
          <a:noFill/>
          <a:ln w="28575">
            <a:solidFill>
              <a:schemeClr val="accent4"/>
            </a:solidFill>
            <a:prstDash val="solid"/>
            <a:tailEnd type="triangle"/>
          </a:ln>
        </p:spPr>
      </p:sp>
      <p:sp>
        <p:nvSpPr>
          <p:cNvPr id="49" name="box One SQLite file: each request is one transaction"/>
          <p:cNvSpPr/>
          <p:nvPr/>
        </p:nvSpPr>
        <p:spPr>
          <a:xfrm>
            <a:off x="548640" y="5394960"/>
            <a:ext cx="11064240" cy="914400"/>
          </a:xfrm>
          <a:prstGeom prst="roundRect">
            <a:avLst>
              <a:gd name="adj" fmla="val 12000"/>
            </a:avLst>
          </a:prstGeom>
          <a:solidFill>
            <a:schemeClr val="tx1"/>
          </a:solidFill>
          <a:ln w="12700">
            <a:solidFill>
              <a:schemeClr val="tx1"/>
            </a:solidFill>
            <a:prstDash val="solid"/>
          </a:ln>
        </p:spPr>
      </p:sp>
      <p:sp>
        <p:nvSpPr>
          <p:cNvPr id="50" name="box title One SQLite file: each request is one transaction"/>
          <p:cNvSpPr txBox="1"/>
          <p:nvPr/>
        </p:nvSpPr>
        <p:spPr>
          <a:xfrm>
            <a:off x="685800" y="5486400"/>
            <a:ext cx="10789920" cy="411480"/>
          </a:xfrm>
          <a:prstGeom prst="rect">
            <a:avLst/>
          </a:prstGeom>
          <a:noFill/>
          <a:ln/>
        </p:spPr>
        <p:txBody>
          <a:bodyPr wrap="square" lIns="508" tIns="508" rIns="508" bIns="508"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One SQLite file: each request is one transaction</a:t>
            </a:r>
            <a:endParaRPr lang="en-US" sz="1700" dirty="0"/>
          </a:p>
        </p:txBody>
      </p:sp>
      <p:sp>
        <p:nvSpPr>
          <p:cNvPr id="51" name="box text One SQLite file: each request is one transaction"/>
          <p:cNvSpPr txBox="1"/>
          <p:nvPr/>
        </p:nvSpPr>
        <p:spPr>
          <a:xfrm>
            <a:off x="685800" y="5897880"/>
            <a:ext cx="10789920" cy="320040"/>
          </a:xfrm>
          <a:prstGeom prst="rect">
            <a:avLst/>
          </a:prstGeom>
          <a:noFill/>
          <a:ln/>
        </p:spPr>
        <p:txBody>
          <a:bodyPr wrap="square" lIns="508" tIns="508" rIns="508" bIns="508" rtlCol="0" anchor="t"/>
          <a:lstStyle/>
          <a:p>
            <a:pPr algn="l" indent="0" marL="0">
              <a:buNone/>
            </a:pPr>
            <a:r>
              <a:rPr lang="en-US" sz="1400" dirty="0">
                <a:solidFill>
                  <a:schemeClr val="bg2"/>
                </a:solidFill>
                <a:latin typeface="Calibri" pitchFamily="34" charset="0"/>
                <a:ea typeface="Calibri" pitchFamily="34" charset="-122"/>
                <a:cs typeface="Calibri" pitchFamily="34" charset="-120"/>
              </a:rPr>
              <a:t>The database refuses sold + held above capacity. Timers run the hold sweeper and the queue ticker.</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whole flow, and where each rule says no</a:t>
            </a:r>
            <a:endParaRPr lang="en-US" dirty="0"/>
          </a:p>
        </p:txBody>
      </p:sp>
      <p:sp>
        <p:nvSpPr>
          <p:cNvPr id="4" name="flow step 1"/>
          <p:cNvSpPr/>
          <p:nvPr/>
        </p:nvSpPr>
        <p:spPr>
          <a:xfrm>
            <a:off x="548640" y="1325880"/>
            <a:ext cx="1691640" cy="1600200"/>
          </a:xfrm>
          <a:prstGeom prst="roundRect">
            <a:avLst>
              <a:gd name="adj" fmla="val 6857"/>
            </a:avLst>
          </a:prstGeom>
          <a:solidFill>
            <a:schemeClr val="bg2"/>
          </a:solidFill>
          <a:ln w="12700">
            <a:solidFill>
              <a:schemeClr val="bg2"/>
            </a:solidFill>
            <a:prstDash val="solid"/>
          </a:ln>
        </p:spPr>
      </p:sp>
      <p:sp>
        <p:nvSpPr>
          <p:cNvPr id="5" name="flow title 1"/>
          <p:cNvSpPr txBox="1"/>
          <p:nvPr/>
        </p:nvSpPr>
        <p:spPr>
          <a:xfrm>
            <a:off x="640080" y="1389888"/>
            <a:ext cx="1508760" cy="411480"/>
          </a:xfrm>
          <a:prstGeom prst="rect">
            <a:avLst/>
          </a:prstGeom>
          <a:noFill/>
          <a:ln/>
        </p:spPr>
        <p:txBody>
          <a:bodyPr wrap="square" lIns="508" tIns="508" rIns="508" bIns="508" rtlCol="0" anchor="t"/>
          <a:lstStyle/>
          <a:p>
            <a:pPr algn="l" indent="0" marL="0">
              <a:buNone/>
            </a:pPr>
            <a:r>
              <a:rPr lang="en-US" sz="1500" b="1" dirty="0">
                <a:solidFill>
                  <a:schemeClr val="accent1"/>
                </a:solidFill>
                <a:latin typeface="Cambria" pitchFamily="34" charset="0"/>
                <a:ea typeface="Cambria" pitchFamily="34" charset="-122"/>
                <a:cs typeface="Cambria" pitchFamily="34" charset="-120"/>
              </a:rPr>
              <a:t>1 · Line up</a:t>
            </a:r>
            <a:endParaRPr lang="en-US" sz="1500" dirty="0"/>
          </a:p>
        </p:txBody>
      </p:sp>
      <p:sp>
        <p:nvSpPr>
          <p:cNvPr id="6" name="flow text 1"/>
          <p:cNvSpPr txBox="1"/>
          <p:nvPr/>
        </p:nvSpPr>
        <p:spPr>
          <a:xfrm>
            <a:off x="640080" y="1828800"/>
            <a:ext cx="1508760" cy="1051560"/>
          </a:xfrm>
          <a:prstGeom prst="rect">
            <a:avLst/>
          </a:prstGeom>
          <a:noFill/>
          <a:ln/>
        </p:spPr>
        <p:txBody>
          <a:bodyPr wrap="square" lIns="508" tIns="508" rIns="508" bIns="508" rtlCol="0" anchor="t"/>
          <a:lstStyle/>
          <a:p>
            <a:pPr algn="l" indent="0" marL="0">
              <a:buNone/>
            </a:pPr>
            <a:r>
              <a:rPr lang="en-US" sz="1300" dirty="0">
                <a:solidFill>
                  <a:schemeClr val="tx1"/>
                </a:solidFill>
                <a:latin typeface="Calibri" pitchFamily="34" charset="0"/>
                <a:ea typeface="Calibri" pitchFamily="34" charset="-122"/>
                <a:cs typeface="Calibri" pitchFamily="34" charset="-120"/>
              </a:rPr>
              <a:t>First come, first served. A few admitted per tick.</a:t>
            </a:r>
            <a:endParaRPr lang="en-US" sz="1300" dirty="0"/>
          </a:p>
        </p:txBody>
      </p:sp>
      <p:sp>
        <p:nvSpPr>
          <p:cNvPr id="7" name="flow arrow"/>
          <p:cNvSpPr/>
          <p:nvPr/>
        </p:nvSpPr>
        <p:spPr>
          <a:xfrm>
            <a:off x="2240280" y="2121408"/>
            <a:ext cx="182880" cy="0"/>
          </a:xfrm>
          <a:prstGeom prst="line">
            <a:avLst/>
          </a:prstGeom>
          <a:noFill/>
          <a:ln w="28575">
            <a:solidFill>
              <a:schemeClr val="accent4"/>
            </a:solidFill>
            <a:prstDash val="solid"/>
            <a:tailEnd type="triangle"/>
          </a:ln>
        </p:spPr>
      </p:sp>
      <p:sp>
        <p:nvSpPr>
          <p:cNvPr id="8" name="refusal 1"/>
          <p:cNvSpPr/>
          <p:nvPr/>
        </p:nvSpPr>
        <p:spPr>
          <a:xfrm>
            <a:off x="548640" y="3108960"/>
            <a:ext cx="1691640" cy="1417320"/>
          </a:xfrm>
          <a:prstGeom prst="roundRect">
            <a:avLst>
              <a:gd name="adj" fmla="val 7742"/>
            </a:avLst>
          </a:prstGeom>
          <a:solidFill>
            <a:schemeClr val="accent3"/>
          </a:solidFill>
          <a:ln w="12700">
            <a:solidFill>
              <a:schemeClr val="accent3"/>
            </a:solidFill>
            <a:prstDash val="solid"/>
          </a:ln>
        </p:spPr>
      </p:sp>
      <p:sp>
        <p:nvSpPr>
          <p:cNvPr id="9" name="refusal label 1"/>
          <p:cNvSpPr txBox="1"/>
          <p:nvPr/>
        </p:nvSpPr>
        <p:spPr>
          <a:xfrm>
            <a:off x="640080" y="3172968"/>
            <a:ext cx="1508760" cy="274320"/>
          </a:xfrm>
          <a:prstGeom prst="rect">
            <a:avLst/>
          </a:prstGeom>
          <a:noFill/>
          <a:ln/>
        </p:spPr>
        <p:txBody>
          <a:bodyPr wrap="square" lIns="508" tIns="508" rIns="508" bIns="508" rtlCol="0" anchor="t"/>
          <a:lstStyle/>
          <a:p>
            <a:pPr algn="l" indent="0" marL="0">
              <a:buNone/>
            </a:pPr>
            <a:r>
              <a:rPr lang="en-US" sz="1100" b="1" spc="200" kern="0" dirty="0">
                <a:solidFill>
                  <a:schemeClr val="bg1"/>
                </a:solidFill>
                <a:latin typeface="Calibri" pitchFamily="34" charset="0"/>
                <a:ea typeface="Calibri" pitchFamily="34" charset="-122"/>
                <a:cs typeface="Calibri" pitchFamily="34" charset="-120"/>
              </a:rPr>
              <a:t>SAYS NO WITH</a:t>
            </a:r>
            <a:endParaRPr lang="en-US" sz="1100" dirty="0"/>
          </a:p>
        </p:txBody>
      </p:sp>
      <p:sp>
        <p:nvSpPr>
          <p:cNvPr id="10" name="refusal codes 1"/>
          <p:cNvSpPr txBox="1"/>
          <p:nvPr/>
        </p:nvSpPr>
        <p:spPr>
          <a:xfrm>
            <a:off x="640080" y="3474720"/>
            <a:ext cx="1508760" cy="1005840"/>
          </a:xfrm>
          <a:prstGeom prst="rect">
            <a:avLst/>
          </a:prstGeom>
          <a:noFill/>
          <a:ln/>
        </p:spPr>
        <p:txBody>
          <a:bodyPr wrap="square" lIns="508" tIns="508" rIns="508" bIns="508" rtlCol="0" anchor="t"/>
          <a:lstStyle/>
          <a:p>
            <a:pPr algn="l" indent="0" marL="0">
              <a:buNone/>
            </a:pPr>
            <a:r>
              <a:rPr lang="en-US" sz="1200" dirty="0">
                <a:solidFill>
                  <a:schemeClr val="bg1"/>
                </a:solidFill>
                <a:latin typeface="Consolas" pitchFamily="34" charset="0"/>
                <a:ea typeface="Consolas" pitchFamily="34" charset="-122"/>
                <a:cs typeface="Consolas" pitchFamily="34" charset="-120"/>
              </a:rPr>
              <a:t>403 NOT_ADMITTED</a:t>
            </a:r>
            <a:endParaRPr lang="en-US" sz="1200" dirty="0"/>
          </a:p>
        </p:txBody>
      </p:sp>
      <p:sp>
        <p:nvSpPr>
          <p:cNvPr id="11" name="flow step 2"/>
          <p:cNvSpPr/>
          <p:nvPr/>
        </p:nvSpPr>
        <p:spPr>
          <a:xfrm>
            <a:off x="2423160" y="1325880"/>
            <a:ext cx="1691640" cy="1600200"/>
          </a:xfrm>
          <a:prstGeom prst="roundRect">
            <a:avLst>
              <a:gd name="adj" fmla="val 6857"/>
            </a:avLst>
          </a:prstGeom>
          <a:solidFill>
            <a:schemeClr val="bg2"/>
          </a:solidFill>
          <a:ln w="12700">
            <a:solidFill>
              <a:schemeClr val="bg2"/>
            </a:solidFill>
            <a:prstDash val="solid"/>
          </a:ln>
        </p:spPr>
      </p:sp>
      <p:sp>
        <p:nvSpPr>
          <p:cNvPr id="12" name="flow title 2"/>
          <p:cNvSpPr txBox="1"/>
          <p:nvPr/>
        </p:nvSpPr>
        <p:spPr>
          <a:xfrm>
            <a:off x="2514600" y="1389888"/>
            <a:ext cx="1508760" cy="411480"/>
          </a:xfrm>
          <a:prstGeom prst="rect">
            <a:avLst/>
          </a:prstGeom>
          <a:noFill/>
          <a:ln/>
        </p:spPr>
        <p:txBody>
          <a:bodyPr wrap="square" lIns="508" tIns="508" rIns="508" bIns="508" rtlCol="0" anchor="t"/>
          <a:lstStyle/>
          <a:p>
            <a:pPr algn="l" indent="0" marL="0">
              <a:buNone/>
            </a:pPr>
            <a:r>
              <a:rPr lang="en-US" sz="1500" b="1" dirty="0">
                <a:solidFill>
                  <a:schemeClr val="accent1"/>
                </a:solidFill>
                <a:latin typeface="Cambria" pitchFamily="34" charset="0"/>
                <a:ea typeface="Cambria" pitchFamily="34" charset="-122"/>
                <a:cs typeface="Cambria" pitchFamily="34" charset="-120"/>
              </a:rPr>
              <a:t>2 · Hold</a:t>
            </a:r>
            <a:endParaRPr lang="en-US" sz="1500" dirty="0"/>
          </a:p>
        </p:txBody>
      </p:sp>
      <p:sp>
        <p:nvSpPr>
          <p:cNvPr id="13" name="flow text 2"/>
          <p:cNvSpPr txBox="1"/>
          <p:nvPr/>
        </p:nvSpPr>
        <p:spPr>
          <a:xfrm>
            <a:off x="2514600" y="1828800"/>
            <a:ext cx="1508760" cy="1051560"/>
          </a:xfrm>
          <a:prstGeom prst="rect">
            <a:avLst/>
          </a:prstGeom>
          <a:noFill/>
          <a:ln/>
        </p:spPr>
        <p:txBody>
          <a:bodyPr wrap="square" lIns="508" tIns="508" rIns="508" bIns="508" rtlCol="0" anchor="t"/>
          <a:lstStyle/>
          <a:p>
            <a:pPr algn="l" indent="0" marL="0">
              <a:buNone/>
            </a:pPr>
            <a:r>
              <a:rPr lang="en-US" sz="1300" dirty="0">
                <a:solidFill>
                  <a:schemeClr val="tx1"/>
                </a:solidFill>
                <a:latin typeface="Calibri" pitchFamily="34" charset="0"/>
                <a:ea typeface="Calibri" pitchFamily="34" charset="-122"/>
                <a:cs typeface="Calibri" pitchFamily="34" charset="-120"/>
              </a:rPr>
              <a:t>Seats set aside; a timer starts.</a:t>
            </a:r>
            <a:endParaRPr lang="en-US" sz="1300" dirty="0"/>
          </a:p>
        </p:txBody>
      </p:sp>
      <p:sp>
        <p:nvSpPr>
          <p:cNvPr id="14" name="flow arrow"/>
          <p:cNvSpPr/>
          <p:nvPr/>
        </p:nvSpPr>
        <p:spPr>
          <a:xfrm>
            <a:off x="4114800" y="2121408"/>
            <a:ext cx="182880" cy="0"/>
          </a:xfrm>
          <a:prstGeom prst="line">
            <a:avLst/>
          </a:prstGeom>
          <a:noFill/>
          <a:ln w="28575">
            <a:solidFill>
              <a:schemeClr val="accent4"/>
            </a:solidFill>
            <a:prstDash val="solid"/>
            <a:tailEnd type="triangle"/>
          </a:ln>
        </p:spPr>
      </p:sp>
      <p:sp>
        <p:nvSpPr>
          <p:cNvPr id="15" name="refusal 2"/>
          <p:cNvSpPr/>
          <p:nvPr/>
        </p:nvSpPr>
        <p:spPr>
          <a:xfrm>
            <a:off x="2423160" y="3108960"/>
            <a:ext cx="1691640" cy="1417320"/>
          </a:xfrm>
          <a:prstGeom prst="roundRect">
            <a:avLst>
              <a:gd name="adj" fmla="val 7742"/>
            </a:avLst>
          </a:prstGeom>
          <a:solidFill>
            <a:schemeClr val="accent3"/>
          </a:solidFill>
          <a:ln w="12700">
            <a:solidFill>
              <a:schemeClr val="accent3"/>
            </a:solidFill>
            <a:prstDash val="solid"/>
          </a:ln>
        </p:spPr>
      </p:sp>
      <p:sp>
        <p:nvSpPr>
          <p:cNvPr id="16" name="refusal label 2"/>
          <p:cNvSpPr txBox="1"/>
          <p:nvPr/>
        </p:nvSpPr>
        <p:spPr>
          <a:xfrm>
            <a:off x="2514600" y="3172968"/>
            <a:ext cx="1508760" cy="274320"/>
          </a:xfrm>
          <a:prstGeom prst="rect">
            <a:avLst/>
          </a:prstGeom>
          <a:noFill/>
          <a:ln/>
        </p:spPr>
        <p:txBody>
          <a:bodyPr wrap="square" lIns="508" tIns="508" rIns="508" bIns="508" rtlCol="0" anchor="t"/>
          <a:lstStyle/>
          <a:p>
            <a:pPr algn="l" indent="0" marL="0">
              <a:buNone/>
            </a:pPr>
            <a:r>
              <a:rPr lang="en-US" sz="1100" b="1" spc="200" kern="0" dirty="0">
                <a:solidFill>
                  <a:schemeClr val="bg1"/>
                </a:solidFill>
                <a:latin typeface="Calibri" pitchFamily="34" charset="0"/>
                <a:ea typeface="Calibri" pitchFamily="34" charset="-122"/>
                <a:cs typeface="Calibri" pitchFamily="34" charset="-120"/>
              </a:rPr>
              <a:t>SAYS NO WITH</a:t>
            </a:r>
            <a:endParaRPr lang="en-US" sz="1100" dirty="0"/>
          </a:p>
        </p:txBody>
      </p:sp>
      <p:sp>
        <p:nvSpPr>
          <p:cNvPr id="17" name="refusal codes 2"/>
          <p:cNvSpPr txBox="1"/>
          <p:nvPr/>
        </p:nvSpPr>
        <p:spPr>
          <a:xfrm>
            <a:off x="2514600" y="3474720"/>
            <a:ext cx="1508760" cy="1005840"/>
          </a:xfrm>
          <a:prstGeom prst="rect">
            <a:avLst/>
          </a:prstGeom>
          <a:noFill/>
          <a:ln/>
        </p:spPr>
        <p:txBody>
          <a:bodyPr wrap="square" lIns="508" tIns="508" rIns="508" bIns="508" rtlCol="0" anchor="t"/>
          <a:lstStyle/>
          <a:p>
            <a:pPr algn="l" indent="0" marL="0">
              <a:buNone/>
            </a:pPr>
            <a:r>
              <a:rPr lang="en-US" sz="1200" dirty="0">
                <a:solidFill>
                  <a:schemeClr val="bg1"/>
                </a:solidFill>
                <a:latin typeface="Consolas" pitchFamily="34" charset="0"/>
                <a:ea typeface="Consolas" pitchFamily="34" charset="-122"/>
                <a:cs typeface="Consolas" pitchFamily="34" charset="-120"/>
              </a:rPr>
              <a:t>409 SOLD_OUT</a:t>
            </a:r>
            <a:endParaRPr lang="en-US" sz="1200" dirty="0"/>
          </a:p>
          <a:p>
            <a:pPr algn="l" indent="0" marL="0">
              <a:buNone/>
            </a:pPr>
            <a:r>
              <a:rPr lang="en-US" sz="1200" dirty="0">
                <a:solidFill>
                  <a:schemeClr val="bg1"/>
                </a:solidFill>
                <a:latin typeface="Consolas" pitchFamily="34" charset="0"/>
                <a:ea typeface="Consolas" pitchFamily="34" charset="-122"/>
                <a:cs typeface="Consolas" pitchFamily="34" charset="-120"/>
              </a:rPr>
              <a:t>409 BUYER_LIMIT</a:t>
            </a:r>
            <a:endParaRPr lang="en-US" sz="1200" dirty="0"/>
          </a:p>
          <a:p>
            <a:pPr algn="l" indent="0" marL="0">
              <a:buNone/>
            </a:pPr>
            <a:r>
              <a:rPr lang="en-US" sz="1200" dirty="0">
                <a:solidFill>
                  <a:schemeClr val="bg1"/>
                </a:solidFill>
                <a:latin typeface="Consolas" pitchFamily="34" charset="0"/>
                <a:ea typeface="Consolas" pitchFamily="34" charset="-122"/>
                <a:cs typeface="Consolas" pitchFamily="34" charset="-120"/>
              </a:rPr>
              <a:t>422 PROMO_INVALID</a:t>
            </a:r>
            <a:endParaRPr lang="en-US" sz="1200" dirty="0"/>
          </a:p>
        </p:txBody>
      </p:sp>
      <p:sp>
        <p:nvSpPr>
          <p:cNvPr id="18" name="flow step 3"/>
          <p:cNvSpPr/>
          <p:nvPr/>
        </p:nvSpPr>
        <p:spPr>
          <a:xfrm>
            <a:off x="4297680" y="1325880"/>
            <a:ext cx="1691640" cy="1600200"/>
          </a:xfrm>
          <a:prstGeom prst="roundRect">
            <a:avLst>
              <a:gd name="adj" fmla="val 6857"/>
            </a:avLst>
          </a:prstGeom>
          <a:solidFill>
            <a:schemeClr val="bg2"/>
          </a:solidFill>
          <a:ln w="12700">
            <a:solidFill>
              <a:schemeClr val="bg2"/>
            </a:solidFill>
            <a:prstDash val="solid"/>
          </a:ln>
        </p:spPr>
      </p:sp>
      <p:sp>
        <p:nvSpPr>
          <p:cNvPr id="19" name="flow title 3"/>
          <p:cNvSpPr txBox="1"/>
          <p:nvPr/>
        </p:nvSpPr>
        <p:spPr>
          <a:xfrm>
            <a:off x="4389120" y="1389888"/>
            <a:ext cx="1508760" cy="411480"/>
          </a:xfrm>
          <a:prstGeom prst="rect">
            <a:avLst/>
          </a:prstGeom>
          <a:noFill/>
          <a:ln/>
        </p:spPr>
        <p:txBody>
          <a:bodyPr wrap="square" lIns="508" tIns="508" rIns="508" bIns="508" rtlCol="0" anchor="t"/>
          <a:lstStyle/>
          <a:p>
            <a:pPr algn="l" indent="0" marL="0">
              <a:buNone/>
            </a:pPr>
            <a:r>
              <a:rPr lang="en-US" sz="1500" b="1" dirty="0">
                <a:solidFill>
                  <a:schemeClr val="accent1"/>
                </a:solidFill>
                <a:latin typeface="Cambria" pitchFamily="34" charset="0"/>
                <a:ea typeface="Cambria" pitchFamily="34" charset="-122"/>
                <a:cs typeface="Cambria" pitchFamily="34" charset="-120"/>
              </a:rPr>
              <a:t>3 · Pay</a:t>
            </a:r>
            <a:endParaRPr lang="en-US" sz="1500" dirty="0"/>
          </a:p>
        </p:txBody>
      </p:sp>
      <p:sp>
        <p:nvSpPr>
          <p:cNvPr id="20" name="flow text 3"/>
          <p:cNvSpPr txBox="1"/>
          <p:nvPr/>
        </p:nvSpPr>
        <p:spPr>
          <a:xfrm>
            <a:off x="4389120" y="1828800"/>
            <a:ext cx="1508760" cy="1051560"/>
          </a:xfrm>
          <a:prstGeom prst="rect">
            <a:avLst/>
          </a:prstGeom>
          <a:noFill/>
          <a:ln/>
        </p:spPr>
        <p:txBody>
          <a:bodyPr wrap="square" lIns="508" tIns="508" rIns="508" bIns="508" rtlCol="0" anchor="t"/>
          <a:lstStyle/>
          <a:p>
            <a:pPr algn="l" indent="0" marL="0">
              <a:buNone/>
            </a:pPr>
            <a:r>
              <a:rPr lang="en-US" sz="1300" dirty="0">
                <a:solidFill>
                  <a:schemeClr val="tx1"/>
                </a:solidFill>
                <a:latin typeface="Calibri" pitchFamily="34" charset="0"/>
                <a:ea typeface="Calibri" pitchFamily="34" charset="-122"/>
                <a:cs typeface="Calibri" pitchFamily="34" charset="-120"/>
              </a:rPr>
              <a:t>Held becomes sold in one step.</a:t>
            </a:r>
            <a:endParaRPr lang="en-US" sz="1300" dirty="0"/>
          </a:p>
        </p:txBody>
      </p:sp>
      <p:sp>
        <p:nvSpPr>
          <p:cNvPr id="21" name="flow arrow"/>
          <p:cNvSpPr/>
          <p:nvPr/>
        </p:nvSpPr>
        <p:spPr>
          <a:xfrm>
            <a:off x="5989320" y="2121408"/>
            <a:ext cx="182880" cy="0"/>
          </a:xfrm>
          <a:prstGeom prst="line">
            <a:avLst/>
          </a:prstGeom>
          <a:noFill/>
          <a:ln w="28575">
            <a:solidFill>
              <a:schemeClr val="accent4"/>
            </a:solidFill>
            <a:prstDash val="solid"/>
            <a:tailEnd type="triangle"/>
          </a:ln>
        </p:spPr>
      </p:sp>
      <p:sp>
        <p:nvSpPr>
          <p:cNvPr id="22" name="refusal 3"/>
          <p:cNvSpPr/>
          <p:nvPr/>
        </p:nvSpPr>
        <p:spPr>
          <a:xfrm>
            <a:off x="4297680" y="3108960"/>
            <a:ext cx="1691640" cy="1417320"/>
          </a:xfrm>
          <a:prstGeom prst="roundRect">
            <a:avLst>
              <a:gd name="adj" fmla="val 7742"/>
            </a:avLst>
          </a:prstGeom>
          <a:solidFill>
            <a:schemeClr val="accent3"/>
          </a:solidFill>
          <a:ln w="12700">
            <a:solidFill>
              <a:schemeClr val="accent3"/>
            </a:solidFill>
            <a:prstDash val="solid"/>
          </a:ln>
        </p:spPr>
      </p:sp>
      <p:sp>
        <p:nvSpPr>
          <p:cNvPr id="23" name="refusal label 3"/>
          <p:cNvSpPr txBox="1"/>
          <p:nvPr/>
        </p:nvSpPr>
        <p:spPr>
          <a:xfrm>
            <a:off x="4389120" y="3172968"/>
            <a:ext cx="1508760" cy="274320"/>
          </a:xfrm>
          <a:prstGeom prst="rect">
            <a:avLst/>
          </a:prstGeom>
          <a:noFill/>
          <a:ln/>
        </p:spPr>
        <p:txBody>
          <a:bodyPr wrap="square" lIns="508" tIns="508" rIns="508" bIns="508" rtlCol="0" anchor="t"/>
          <a:lstStyle/>
          <a:p>
            <a:pPr algn="l" indent="0" marL="0">
              <a:buNone/>
            </a:pPr>
            <a:r>
              <a:rPr lang="en-US" sz="1100" b="1" spc="200" kern="0" dirty="0">
                <a:solidFill>
                  <a:schemeClr val="bg1"/>
                </a:solidFill>
                <a:latin typeface="Calibri" pitchFamily="34" charset="0"/>
                <a:ea typeface="Calibri" pitchFamily="34" charset="-122"/>
                <a:cs typeface="Calibri" pitchFamily="34" charset="-120"/>
              </a:rPr>
              <a:t>SAYS NO WITH</a:t>
            </a:r>
            <a:endParaRPr lang="en-US" sz="1100" dirty="0"/>
          </a:p>
        </p:txBody>
      </p:sp>
      <p:sp>
        <p:nvSpPr>
          <p:cNvPr id="24" name="refusal codes 3"/>
          <p:cNvSpPr txBox="1"/>
          <p:nvPr/>
        </p:nvSpPr>
        <p:spPr>
          <a:xfrm>
            <a:off x="4389120" y="3474720"/>
            <a:ext cx="1508760" cy="1005840"/>
          </a:xfrm>
          <a:prstGeom prst="rect">
            <a:avLst/>
          </a:prstGeom>
          <a:noFill/>
          <a:ln/>
        </p:spPr>
        <p:txBody>
          <a:bodyPr wrap="square" lIns="508" tIns="508" rIns="508" bIns="508" rtlCol="0" anchor="t"/>
          <a:lstStyle/>
          <a:p>
            <a:pPr algn="l" indent="0" marL="0">
              <a:buNone/>
            </a:pPr>
            <a:r>
              <a:rPr lang="en-US" sz="1200" dirty="0">
                <a:solidFill>
                  <a:schemeClr val="bg1"/>
                </a:solidFill>
                <a:latin typeface="Consolas" pitchFamily="34" charset="0"/>
                <a:ea typeface="Consolas" pitchFamily="34" charset="-122"/>
                <a:cs typeface="Consolas" pitchFamily="34" charset="-120"/>
              </a:rPr>
              <a:t>410 HOLD_EXPIRED</a:t>
            </a:r>
            <a:endParaRPr lang="en-US" sz="1200" dirty="0"/>
          </a:p>
          <a:p>
            <a:pPr algn="l" indent="0" marL="0">
              <a:buNone/>
            </a:pPr>
            <a:r>
              <a:rPr lang="en-US" sz="1200" dirty="0">
                <a:solidFill>
                  <a:schemeClr val="bg1"/>
                </a:solidFill>
                <a:latin typeface="Consolas" pitchFamily="34" charset="0"/>
                <a:ea typeface="Consolas" pitchFamily="34" charset="-122"/>
                <a:cs typeface="Consolas" pitchFamily="34" charset="-120"/>
              </a:rPr>
              <a:t>402 PAYMENT_FAILED</a:t>
            </a:r>
            <a:endParaRPr lang="en-US" sz="1200" dirty="0"/>
          </a:p>
        </p:txBody>
      </p:sp>
      <p:sp>
        <p:nvSpPr>
          <p:cNvPr id="25" name="flow step 4"/>
          <p:cNvSpPr/>
          <p:nvPr/>
        </p:nvSpPr>
        <p:spPr>
          <a:xfrm>
            <a:off x="6172200" y="1325880"/>
            <a:ext cx="1691640" cy="1600200"/>
          </a:xfrm>
          <a:prstGeom prst="roundRect">
            <a:avLst>
              <a:gd name="adj" fmla="val 6857"/>
            </a:avLst>
          </a:prstGeom>
          <a:solidFill>
            <a:schemeClr val="bg2"/>
          </a:solidFill>
          <a:ln w="12700">
            <a:solidFill>
              <a:schemeClr val="bg2"/>
            </a:solidFill>
            <a:prstDash val="solid"/>
          </a:ln>
        </p:spPr>
      </p:sp>
      <p:sp>
        <p:nvSpPr>
          <p:cNvPr id="26" name="flow title 4"/>
          <p:cNvSpPr txBox="1"/>
          <p:nvPr/>
        </p:nvSpPr>
        <p:spPr>
          <a:xfrm>
            <a:off x="6263640" y="1389888"/>
            <a:ext cx="1508760" cy="411480"/>
          </a:xfrm>
          <a:prstGeom prst="rect">
            <a:avLst/>
          </a:prstGeom>
          <a:noFill/>
          <a:ln/>
        </p:spPr>
        <p:txBody>
          <a:bodyPr wrap="square" lIns="508" tIns="508" rIns="508" bIns="508" rtlCol="0" anchor="t"/>
          <a:lstStyle/>
          <a:p>
            <a:pPr algn="l" indent="0" marL="0">
              <a:buNone/>
            </a:pPr>
            <a:r>
              <a:rPr lang="en-US" sz="1500" b="1" dirty="0">
                <a:solidFill>
                  <a:schemeClr val="accent1"/>
                </a:solidFill>
                <a:latin typeface="Cambria" pitchFamily="34" charset="0"/>
                <a:ea typeface="Cambria" pitchFamily="34" charset="-122"/>
                <a:cs typeface="Cambria" pitchFamily="34" charset="-120"/>
              </a:rPr>
              <a:t>4 · Ticket</a:t>
            </a:r>
            <a:endParaRPr lang="en-US" sz="1500" dirty="0"/>
          </a:p>
        </p:txBody>
      </p:sp>
      <p:sp>
        <p:nvSpPr>
          <p:cNvPr id="27" name="flow text 4"/>
          <p:cNvSpPr txBox="1"/>
          <p:nvPr/>
        </p:nvSpPr>
        <p:spPr>
          <a:xfrm>
            <a:off x="6263640" y="1828800"/>
            <a:ext cx="1508760" cy="1051560"/>
          </a:xfrm>
          <a:prstGeom prst="rect">
            <a:avLst/>
          </a:prstGeom>
          <a:noFill/>
          <a:ln/>
        </p:spPr>
        <p:txBody>
          <a:bodyPr wrap="square" lIns="508" tIns="508" rIns="508" bIns="508" rtlCol="0" anchor="t"/>
          <a:lstStyle/>
          <a:p>
            <a:pPr algn="l" indent="0" marL="0">
              <a:buNone/>
            </a:pPr>
            <a:r>
              <a:rPr lang="en-US" sz="1300" dirty="0">
                <a:solidFill>
                  <a:schemeClr val="tx1"/>
                </a:solidFill>
                <a:latin typeface="Calibri" pitchFamily="34" charset="0"/>
                <a:ea typeface="Calibri" pitchFamily="34" charset="-122"/>
                <a:cs typeface="Calibri" pitchFamily="34" charset="-120"/>
              </a:rPr>
              <a:t>One secret QR per seat.</a:t>
            </a:r>
            <a:endParaRPr lang="en-US" sz="1300" dirty="0"/>
          </a:p>
        </p:txBody>
      </p:sp>
      <p:sp>
        <p:nvSpPr>
          <p:cNvPr id="28" name="flow arrow"/>
          <p:cNvSpPr/>
          <p:nvPr/>
        </p:nvSpPr>
        <p:spPr>
          <a:xfrm>
            <a:off x="7863840" y="2121408"/>
            <a:ext cx="182880" cy="0"/>
          </a:xfrm>
          <a:prstGeom prst="line">
            <a:avLst/>
          </a:prstGeom>
          <a:noFill/>
          <a:ln w="28575">
            <a:solidFill>
              <a:schemeClr val="accent4"/>
            </a:solidFill>
            <a:prstDash val="solid"/>
            <a:tailEnd type="triangle"/>
          </a:ln>
        </p:spPr>
      </p:sp>
      <p:sp>
        <p:nvSpPr>
          <p:cNvPr id="29" name="refusal 4"/>
          <p:cNvSpPr/>
          <p:nvPr/>
        </p:nvSpPr>
        <p:spPr>
          <a:xfrm>
            <a:off x="6172200" y="3108960"/>
            <a:ext cx="1691640" cy="1417320"/>
          </a:xfrm>
          <a:prstGeom prst="roundRect">
            <a:avLst>
              <a:gd name="adj" fmla="val 7742"/>
            </a:avLst>
          </a:prstGeom>
          <a:solidFill>
            <a:schemeClr val="accent3"/>
          </a:solidFill>
          <a:ln w="12700">
            <a:solidFill>
              <a:schemeClr val="accent3"/>
            </a:solidFill>
            <a:prstDash val="solid"/>
          </a:ln>
        </p:spPr>
      </p:sp>
      <p:sp>
        <p:nvSpPr>
          <p:cNvPr id="30" name="refusal label 4"/>
          <p:cNvSpPr txBox="1"/>
          <p:nvPr/>
        </p:nvSpPr>
        <p:spPr>
          <a:xfrm>
            <a:off x="6263640" y="3172968"/>
            <a:ext cx="1508760" cy="274320"/>
          </a:xfrm>
          <a:prstGeom prst="rect">
            <a:avLst/>
          </a:prstGeom>
          <a:noFill/>
          <a:ln/>
        </p:spPr>
        <p:txBody>
          <a:bodyPr wrap="square" lIns="508" tIns="508" rIns="508" bIns="508" rtlCol="0" anchor="t"/>
          <a:lstStyle/>
          <a:p>
            <a:pPr algn="l" indent="0" marL="0">
              <a:buNone/>
            </a:pPr>
            <a:r>
              <a:rPr lang="en-US" sz="1100" b="1" spc="200" kern="0" dirty="0">
                <a:solidFill>
                  <a:schemeClr val="bg1"/>
                </a:solidFill>
                <a:latin typeface="Calibri" pitchFamily="34" charset="0"/>
                <a:ea typeface="Calibri" pitchFamily="34" charset="-122"/>
                <a:cs typeface="Calibri" pitchFamily="34" charset="-120"/>
              </a:rPr>
              <a:t>SAYS NO WITH</a:t>
            </a:r>
            <a:endParaRPr lang="en-US" sz="1100" dirty="0"/>
          </a:p>
        </p:txBody>
      </p:sp>
      <p:sp>
        <p:nvSpPr>
          <p:cNvPr id="31" name="refusal codes 4"/>
          <p:cNvSpPr txBox="1"/>
          <p:nvPr/>
        </p:nvSpPr>
        <p:spPr>
          <a:xfrm>
            <a:off x="6263640" y="3474720"/>
            <a:ext cx="1508760" cy="1005840"/>
          </a:xfrm>
          <a:prstGeom prst="rect">
            <a:avLst/>
          </a:prstGeom>
          <a:noFill/>
          <a:ln/>
        </p:spPr>
        <p:txBody>
          <a:bodyPr wrap="square" lIns="508" tIns="508" rIns="508" bIns="508" rtlCol="0" anchor="t"/>
          <a:lstStyle/>
          <a:p>
            <a:pPr algn="l" indent="0" marL="0">
              <a:buNone/>
            </a:pPr>
            <a:r>
              <a:rPr lang="en-US" sz="1200" dirty="0">
                <a:solidFill>
                  <a:schemeClr val="bg1"/>
                </a:solidFill>
                <a:latin typeface="Consolas" pitchFamily="34" charset="0"/>
                <a:ea typeface="Consolas" pitchFamily="34" charset="-122"/>
                <a:cs typeface="Consolas" pitchFamily="34" charset="-120"/>
              </a:rPr>
              <a:t>Same step as paying</a:t>
            </a:r>
            <a:endParaRPr lang="en-US" sz="1200" dirty="0"/>
          </a:p>
        </p:txBody>
      </p:sp>
      <p:sp>
        <p:nvSpPr>
          <p:cNvPr id="32" name="flow step 5"/>
          <p:cNvSpPr/>
          <p:nvPr/>
        </p:nvSpPr>
        <p:spPr>
          <a:xfrm>
            <a:off x="8046720" y="1325880"/>
            <a:ext cx="1691640" cy="1600200"/>
          </a:xfrm>
          <a:prstGeom prst="roundRect">
            <a:avLst>
              <a:gd name="adj" fmla="val 6857"/>
            </a:avLst>
          </a:prstGeom>
          <a:solidFill>
            <a:schemeClr val="bg2"/>
          </a:solidFill>
          <a:ln w="12700">
            <a:solidFill>
              <a:schemeClr val="bg2"/>
            </a:solidFill>
            <a:prstDash val="solid"/>
          </a:ln>
        </p:spPr>
      </p:sp>
      <p:sp>
        <p:nvSpPr>
          <p:cNvPr id="33" name="flow title 5"/>
          <p:cNvSpPr txBox="1"/>
          <p:nvPr/>
        </p:nvSpPr>
        <p:spPr>
          <a:xfrm>
            <a:off x="8138160" y="1389888"/>
            <a:ext cx="1508760" cy="411480"/>
          </a:xfrm>
          <a:prstGeom prst="rect">
            <a:avLst/>
          </a:prstGeom>
          <a:noFill/>
          <a:ln/>
        </p:spPr>
        <p:txBody>
          <a:bodyPr wrap="square" lIns="508" tIns="508" rIns="508" bIns="508" rtlCol="0" anchor="t"/>
          <a:lstStyle/>
          <a:p>
            <a:pPr algn="l" indent="0" marL="0">
              <a:buNone/>
            </a:pPr>
            <a:r>
              <a:rPr lang="en-US" sz="1500" b="1" dirty="0">
                <a:solidFill>
                  <a:schemeClr val="accent1"/>
                </a:solidFill>
                <a:latin typeface="Cambria" pitchFamily="34" charset="0"/>
                <a:ea typeface="Cambria" pitchFamily="34" charset="-122"/>
                <a:cs typeface="Cambria" pitchFamily="34" charset="-120"/>
              </a:rPr>
              <a:t>5 · Gate</a:t>
            </a:r>
            <a:endParaRPr lang="en-US" sz="1500" dirty="0"/>
          </a:p>
        </p:txBody>
      </p:sp>
      <p:sp>
        <p:nvSpPr>
          <p:cNvPr id="34" name="flow text 5"/>
          <p:cNvSpPr txBox="1"/>
          <p:nvPr/>
        </p:nvSpPr>
        <p:spPr>
          <a:xfrm>
            <a:off x="8138160" y="1828800"/>
            <a:ext cx="1508760" cy="1051560"/>
          </a:xfrm>
          <a:prstGeom prst="rect">
            <a:avLst/>
          </a:prstGeom>
          <a:noFill/>
          <a:ln/>
        </p:spPr>
        <p:txBody>
          <a:bodyPr wrap="square" lIns="508" tIns="508" rIns="508" bIns="508" rtlCol="0" anchor="t"/>
          <a:lstStyle/>
          <a:p>
            <a:pPr algn="l" indent="0" marL="0">
              <a:buNone/>
            </a:pPr>
            <a:r>
              <a:rPr lang="en-US" sz="1300" dirty="0">
                <a:solidFill>
                  <a:schemeClr val="tx1"/>
                </a:solidFill>
                <a:latin typeface="Calibri" pitchFamily="34" charset="0"/>
                <a:ea typeface="Calibri" pitchFamily="34" charset="-122"/>
                <a:cs typeface="Calibri" pitchFamily="34" charset="-120"/>
              </a:rPr>
              <a:t>The QR works once.</a:t>
            </a:r>
            <a:endParaRPr lang="en-US" sz="1300" dirty="0"/>
          </a:p>
        </p:txBody>
      </p:sp>
      <p:sp>
        <p:nvSpPr>
          <p:cNvPr id="35" name="flow arrow"/>
          <p:cNvSpPr/>
          <p:nvPr/>
        </p:nvSpPr>
        <p:spPr>
          <a:xfrm>
            <a:off x="9738360" y="2121408"/>
            <a:ext cx="182880" cy="0"/>
          </a:xfrm>
          <a:prstGeom prst="line">
            <a:avLst/>
          </a:prstGeom>
          <a:noFill/>
          <a:ln w="28575">
            <a:solidFill>
              <a:schemeClr val="accent4"/>
            </a:solidFill>
            <a:prstDash val="solid"/>
            <a:tailEnd type="triangle"/>
          </a:ln>
        </p:spPr>
      </p:sp>
      <p:sp>
        <p:nvSpPr>
          <p:cNvPr id="36" name="refusal 5"/>
          <p:cNvSpPr/>
          <p:nvPr/>
        </p:nvSpPr>
        <p:spPr>
          <a:xfrm>
            <a:off x="8046720" y="3108960"/>
            <a:ext cx="1691640" cy="1417320"/>
          </a:xfrm>
          <a:prstGeom prst="roundRect">
            <a:avLst>
              <a:gd name="adj" fmla="val 7742"/>
            </a:avLst>
          </a:prstGeom>
          <a:solidFill>
            <a:schemeClr val="accent3"/>
          </a:solidFill>
          <a:ln w="12700">
            <a:solidFill>
              <a:schemeClr val="accent3"/>
            </a:solidFill>
            <a:prstDash val="solid"/>
          </a:ln>
        </p:spPr>
      </p:sp>
      <p:sp>
        <p:nvSpPr>
          <p:cNvPr id="37" name="refusal label 5"/>
          <p:cNvSpPr txBox="1"/>
          <p:nvPr/>
        </p:nvSpPr>
        <p:spPr>
          <a:xfrm>
            <a:off x="8138160" y="3172968"/>
            <a:ext cx="1508760" cy="274320"/>
          </a:xfrm>
          <a:prstGeom prst="rect">
            <a:avLst/>
          </a:prstGeom>
          <a:noFill/>
          <a:ln/>
        </p:spPr>
        <p:txBody>
          <a:bodyPr wrap="square" lIns="508" tIns="508" rIns="508" bIns="508" rtlCol="0" anchor="t"/>
          <a:lstStyle/>
          <a:p>
            <a:pPr algn="l" indent="0" marL="0">
              <a:buNone/>
            </a:pPr>
            <a:r>
              <a:rPr lang="en-US" sz="1100" b="1" spc="200" kern="0" dirty="0">
                <a:solidFill>
                  <a:schemeClr val="bg1"/>
                </a:solidFill>
                <a:latin typeface="Calibri" pitchFamily="34" charset="0"/>
                <a:ea typeface="Calibri" pitchFamily="34" charset="-122"/>
                <a:cs typeface="Calibri" pitchFamily="34" charset="-120"/>
              </a:rPr>
              <a:t>SAYS NO WITH</a:t>
            </a:r>
            <a:endParaRPr lang="en-US" sz="1100" dirty="0"/>
          </a:p>
        </p:txBody>
      </p:sp>
      <p:sp>
        <p:nvSpPr>
          <p:cNvPr id="38" name="refusal codes 5"/>
          <p:cNvSpPr txBox="1"/>
          <p:nvPr/>
        </p:nvSpPr>
        <p:spPr>
          <a:xfrm>
            <a:off x="8138160" y="3474720"/>
            <a:ext cx="1508760" cy="1005840"/>
          </a:xfrm>
          <a:prstGeom prst="rect">
            <a:avLst/>
          </a:prstGeom>
          <a:noFill/>
          <a:ln/>
        </p:spPr>
        <p:txBody>
          <a:bodyPr wrap="square" lIns="508" tIns="508" rIns="508" bIns="508" rtlCol="0" anchor="t"/>
          <a:lstStyle/>
          <a:p>
            <a:pPr algn="l" indent="0" marL="0">
              <a:buNone/>
            </a:pPr>
            <a:r>
              <a:rPr lang="en-US" sz="1200" dirty="0">
                <a:solidFill>
                  <a:schemeClr val="bg1"/>
                </a:solidFill>
                <a:latin typeface="Consolas" pitchFamily="34" charset="0"/>
                <a:ea typeface="Consolas" pitchFamily="34" charset="-122"/>
                <a:cs typeface="Consolas" pitchFamily="34" charset="-120"/>
              </a:rPr>
              <a:t>409 ALREADY_CHECKED_IN</a:t>
            </a:r>
            <a:endParaRPr lang="en-US" sz="1200" dirty="0"/>
          </a:p>
          <a:p>
            <a:pPr algn="l" indent="0" marL="0">
              <a:buNone/>
            </a:pPr>
            <a:r>
              <a:rPr lang="en-US" sz="1200" dirty="0">
                <a:solidFill>
                  <a:schemeClr val="bg1"/>
                </a:solidFill>
                <a:latin typeface="Consolas" pitchFamily="34" charset="0"/>
                <a:ea typeface="Consolas" pitchFamily="34" charset="-122"/>
                <a:cs typeface="Consolas" pitchFamily="34" charset="-120"/>
              </a:rPr>
              <a:t>409 TICKET_VOID</a:t>
            </a:r>
            <a:endParaRPr lang="en-US" sz="1200" dirty="0"/>
          </a:p>
          <a:p>
            <a:pPr algn="l" indent="0" marL="0">
              <a:buNone/>
            </a:pPr>
            <a:r>
              <a:rPr lang="en-US" sz="1200" dirty="0">
                <a:solidFill>
                  <a:schemeClr val="bg1"/>
                </a:solidFill>
                <a:latin typeface="Consolas" pitchFamily="34" charset="0"/>
                <a:ea typeface="Consolas" pitchFamily="34" charset="-122"/>
                <a:cs typeface="Consolas" pitchFamily="34" charset="-120"/>
              </a:rPr>
              <a:t>404 INVALID_QR</a:t>
            </a:r>
            <a:endParaRPr lang="en-US" sz="1200" dirty="0"/>
          </a:p>
        </p:txBody>
      </p:sp>
      <p:sp>
        <p:nvSpPr>
          <p:cNvPr id="39" name="flow step 6"/>
          <p:cNvSpPr/>
          <p:nvPr/>
        </p:nvSpPr>
        <p:spPr>
          <a:xfrm>
            <a:off x="9921240" y="1325880"/>
            <a:ext cx="1691640" cy="1600200"/>
          </a:xfrm>
          <a:prstGeom prst="roundRect">
            <a:avLst>
              <a:gd name="adj" fmla="val 6857"/>
            </a:avLst>
          </a:prstGeom>
          <a:solidFill>
            <a:schemeClr val="bg2"/>
          </a:solidFill>
          <a:ln w="12700">
            <a:solidFill>
              <a:schemeClr val="bg2"/>
            </a:solidFill>
            <a:prstDash val="solid"/>
          </a:ln>
        </p:spPr>
      </p:sp>
      <p:sp>
        <p:nvSpPr>
          <p:cNvPr id="40" name="flow title 6"/>
          <p:cNvSpPr txBox="1"/>
          <p:nvPr/>
        </p:nvSpPr>
        <p:spPr>
          <a:xfrm>
            <a:off x="10012680" y="1389888"/>
            <a:ext cx="1508760" cy="411480"/>
          </a:xfrm>
          <a:prstGeom prst="rect">
            <a:avLst/>
          </a:prstGeom>
          <a:noFill/>
          <a:ln/>
        </p:spPr>
        <p:txBody>
          <a:bodyPr wrap="square" lIns="508" tIns="508" rIns="508" bIns="508" rtlCol="0" anchor="t"/>
          <a:lstStyle/>
          <a:p>
            <a:pPr algn="l" indent="0" marL="0">
              <a:buNone/>
            </a:pPr>
            <a:r>
              <a:rPr lang="en-US" sz="1500" b="1" dirty="0">
                <a:solidFill>
                  <a:schemeClr val="accent1"/>
                </a:solidFill>
                <a:latin typeface="Cambria" pitchFamily="34" charset="0"/>
                <a:ea typeface="Cambria" pitchFamily="34" charset="-122"/>
                <a:cs typeface="Cambria" pitchFamily="34" charset="-120"/>
              </a:rPr>
              <a:t>6 · Refund</a:t>
            </a:r>
            <a:endParaRPr lang="en-US" sz="1500" dirty="0"/>
          </a:p>
        </p:txBody>
      </p:sp>
      <p:sp>
        <p:nvSpPr>
          <p:cNvPr id="41" name="flow text 6"/>
          <p:cNvSpPr txBox="1"/>
          <p:nvPr/>
        </p:nvSpPr>
        <p:spPr>
          <a:xfrm>
            <a:off x="10012680" y="1828800"/>
            <a:ext cx="1508760" cy="1051560"/>
          </a:xfrm>
          <a:prstGeom prst="rect">
            <a:avLst/>
          </a:prstGeom>
          <a:noFill/>
          <a:ln/>
        </p:spPr>
        <p:txBody>
          <a:bodyPr wrap="square" lIns="508" tIns="508" rIns="508" bIns="508" rtlCol="0" anchor="t"/>
          <a:lstStyle/>
          <a:p>
            <a:pPr algn="l" indent="0" marL="0">
              <a:buNone/>
            </a:pPr>
            <a:r>
              <a:rPr lang="en-US" sz="1300" dirty="0">
                <a:solidFill>
                  <a:schemeClr val="tx1"/>
                </a:solidFill>
                <a:latin typeface="Calibri" pitchFamily="34" charset="0"/>
                <a:ea typeface="Calibri" pitchFamily="34" charset="-122"/>
                <a:cs typeface="Calibri" pitchFamily="34" charset="-120"/>
              </a:rPr>
              <a:t>Ticket voided, seat returns.</a:t>
            </a:r>
            <a:endParaRPr lang="en-US" sz="1300" dirty="0"/>
          </a:p>
        </p:txBody>
      </p:sp>
      <p:sp>
        <p:nvSpPr>
          <p:cNvPr id="42" name="refusal 6"/>
          <p:cNvSpPr/>
          <p:nvPr/>
        </p:nvSpPr>
        <p:spPr>
          <a:xfrm>
            <a:off x="9921240" y="3108960"/>
            <a:ext cx="1691640" cy="1417320"/>
          </a:xfrm>
          <a:prstGeom prst="roundRect">
            <a:avLst>
              <a:gd name="adj" fmla="val 7742"/>
            </a:avLst>
          </a:prstGeom>
          <a:solidFill>
            <a:schemeClr val="accent3"/>
          </a:solidFill>
          <a:ln w="12700">
            <a:solidFill>
              <a:schemeClr val="accent3"/>
            </a:solidFill>
            <a:prstDash val="solid"/>
          </a:ln>
        </p:spPr>
      </p:sp>
      <p:sp>
        <p:nvSpPr>
          <p:cNvPr id="43" name="refusal label 6"/>
          <p:cNvSpPr txBox="1"/>
          <p:nvPr/>
        </p:nvSpPr>
        <p:spPr>
          <a:xfrm>
            <a:off x="10012680" y="3172968"/>
            <a:ext cx="1508760" cy="274320"/>
          </a:xfrm>
          <a:prstGeom prst="rect">
            <a:avLst/>
          </a:prstGeom>
          <a:noFill/>
          <a:ln/>
        </p:spPr>
        <p:txBody>
          <a:bodyPr wrap="square" lIns="508" tIns="508" rIns="508" bIns="508" rtlCol="0" anchor="t"/>
          <a:lstStyle/>
          <a:p>
            <a:pPr algn="l" indent="0" marL="0">
              <a:buNone/>
            </a:pPr>
            <a:r>
              <a:rPr lang="en-US" sz="1100" b="1" spc="200" kern="0" dirty="0">
                <a:solidFill>
                  <a:schemeClr val="bg1"/>
                </a:solidFill>
                <a:latin typeface="Calibri" pitchFamily="34" charset="0"/>
                <a:ea typeface="Calibri" pitchFamily="34" charset="-122"/>
                <a:cs typeface="Calibri" pitchFamily="34" charset="-120"/>
              </a:rPr>
              <a:t>SAYS NO WITH</a:t>
            </a:r>
            <a:endParaRPr lang="en-US" sz="1100" dirty="0"/>
          </a:p>
        </p:txBody>
      </p:sp>
      <p:sp>
        <p:nvSpPr>
          <p:cNvPr id="44" name="refusal codes 6"/>
          <p:cNvSpPr txBox="1"/>
          <p:nvPr/>
        </p:nvSpPr>
        <p:spPr>
          <a:xfrm>
            <a:off x="10012680" y="3474720"/>
            <a:ext cx="1508760" cy="1005840"/>
          </a:xfrm>
          <a:prstGeom prst="rect">
            <a:avLst/>
          </a:prstGeom>
          <a:noFill/>
          <a:ln/>
        </p:spPr>
        <p:txBody>
          <a:bodyPr wrap="square" lIns="508" tIns="508" rIns="508" bIns="508" rtlCol="0" anchor="t"/>
          <a:lstStyle/>
          <a:p>
            <a:pPr algn="l" indent="0" marL="0">
              <a:buNone/>
            </a:pPr>
            <a:r>
              <a:rPr lang="en-US" sz="1200" dirty="0">
                <a:solidFill>
                  <a:schemeClr val="bg1"/>
                </a:solidFill>
                <a:latin typeface="Consolas" pitchFamily="34" charset="0"/>
                <a:ea typeface="Consolas" pitchFamily="34" charset="-122"/>
                <a:cs typeface="Consolas" pitchFamily="34" charset="-120"/>
              </a:rPr>
              <a:t>409 TICKET_CHECKED_IN</a:t>
            </a:r>
            <a:endParaRPr lang="en-US" sz="1200" dirty="0"/>
          </a:p>
          <a:p>
            <a:pPr algn="l" indent="0" marL="0">
              <a:buNone/>
            </a:pPr>
            <a:r>
              <a:rPr lang="en-US" sz="1200" dirty="0">
                <a:solidFill>
                  <a:schemeClr val="bg1"/>
                </a:solidFill>
                <a:latin typeface="Consolas" pitchFamily="34" charset="0"/>
                <a:ea typeface="Consolas" pitchFamily="34" charset="-122"/>
                <a:cs typeface="Consolas" pitchFamily="34" charset="-120"/>
              </a:rPr>
              <a:t>409 ALREADY_REFUNDED</a:t>
            </a:r>
            <a:endParaRPr lang="en-US" sz="1200" dirty="0"/>
          </a:p>
        </p:txBody>
      </p:sp>
      <p:sp>
        <p:nvSpPr>
          <p:cNvPr id="45" name="under every step"/>
          <p:cNvSpPr/>
          <p:nvPr/>
        </p:nvSpPr>
        <p:spPr>
          <a:xfrm>
            <a:off x="548640" y="4754880"/>
            <a:ext cx="11064240" cy="1417320"/>
          </a:xfrm>
          <a:prstGeom prst="roundRect">
            <a:avLst>
              <a:gd name="adj" fmla="val 7742"/>
            </a:avLst>
          </a:prstGeom>
          <a:solidFill>
            <a:schemeClr val="accent6"/>
          </a:solidFill>
          <a:ln w="12700">
            <a:solidFill>
              <a:schemeClr val="accent6"/>
            </a:solidFill>
            <a:prstDash val="solid"/>
          </a:ln>
        </p:spPr>
      </p:sp>
      <p:sp>
        <p:nvSpPr>
          <p:cNvPr id="46" name="under title"/>
          <p:cNvSpPr txBox="1"/>
          <p:nvPr/>
        </p:nvSpPr>
        <p:spPr>
          <a:xfrm>
            <a:off x="822960" y="4846320"/>
            <a:ext cx="10515600" cy="411480"/>
          </a:xfrm>
          <a:prstGeom prst="rect">
            <a:avLst/>
          </a:prstGeom>
          <a:noFill/>
          <a:ln/>
        </p:spPr>
        <p:txBody>
          <a:bodyPr wrap="square" lIns="508" tIns="508" rIns="508" bIns="508" rtlCol="0" anchor="t"/>
          <a:lstStyle/>
          <a:p>
            <a:pPr algn="l" indent="0" marL="0">
              <a:buNone/>
            </a:pPr>
            <a:r>
              <a:rPr lang="en-US" sz="1900" b="1" dirty="0">
                <a:solidFill>
                  <a:schemeClr val="accent2"/>
                </a:solidFill>
                <a:latin typeface="Cambria" pitchFamily="34" charset="0"/>
                <a:ea typeface="Cambria" pitchFamily="34" charset="-122"/>
                <a:cs typeface="Cambria" pitchFamily="34" charset="-120"/>
              </a:rPr>
              <a:t>Under every step</a:t>
            </a:r>
            <a:endParaRPr lang="en-US" sz="1900" dirty="0"/>
          </a:p>
        </p:txBody>
      </p:sp>
      <p:sp>
        <p:nvSpPr>
          <p:cNvPr id="47" name="under text"/>
          <p:cNvSpPr txBox="1"/>
          <p:nvPr/>
        </p:nvSpPr>
        <p:spPr>
          <a:xfrm>
            <a:off x="822960" y="5303520"/>
            <a:ext cx="10515600" cy="822960"/>
          </a:xfrm>
          <a:prstGeom prst="rect">
            <a:avLst/>
          </a:prstGeom>
          <a:noFill/>
          <a:ln/>
        </p:spPr>
        <p:txBody>
          <a:bodyPr wrap="square" lIns="508" tIns="508" rIns="508" bIns="508" rtlCol="0" anchor="t"/>
          <a:lstStyle/>
          <a:p>
            <a:pPr algn="l" indent="0" marL="0">
              <a:buNone/>
            </a:pPr>
            <a:r>
              <a:rPr lang="en-US" sz="1600" dirty="0">
                <a:solidFill>
                  <a:schemeClr val="bg1"/>
                </a:solidFill>
                <a:latin typeface="Calibri" pitchFamily="34" charset="0"/>
                <a:ea typeface="Calibri" pitchFamily="34" charset="-122"/>
                <a:cs typeface="Calibri" pitchFamily="34" charset="-120"/>
              </a:rPr>
              <a:t>One kind of guard decides each refusal: a conditional update where the number of rows changed is the answer. The database also refuses an impossible count by itself, and the self-check recomputes every count from the records after every test.</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three promises we had to prove</a:t>
            </a:r>
            <a:endParaRPr lang="en-US" dirty="0"/>
          </a:p>
        </p:txBody>
      </p:sp>
      <p:sp>
        <p:nvSpPr>
          <p:cNvPr id="4" name="test card 1"/>
          <p:cNvSpPr/>
          <p:nvPr/>
        </p:nvSpPr>
        <p:spPr>
          <a:xfrm>
            <a:off x="548640" y="1417320"/>
            <a:ext cx="3566160" cy="466344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st title 1"/>
          <p:cNvSpPr txBox="1"/>
          <p:nvPr/>
        </p:nvSpPr>
        <p:spPr>
          <a:xfrm>
            <a:off x="777240" y="1600200"/>
            <a:ext cx="3108960" cy="502920"/>
          </a:xfrm>
          <a:prstGeom prst="rect">
            <a:avLst/>
          </a:prstGeom>
          <a:noFill/>
          <a:ln/>
        </p:spPr>
        <p:txBody>
          <a:bodyPr wrap="square" lIns="508" tIns="508" rIns="508" bIns="508" rtlCol="0" anchor="t"/>
          <a:lstStyle/>
          <a:p>
            <a:pPr algn="l" indent="0" marL="0">
              <a:buNone/>
            </a:pPr>
            <a:r>
              <a:rPr lang="en-US" sz="2200" b="1" dirty="0">
                <a:solidFill>
                  <a:schemeClr val="accent1"/>
                </a:solidFill>
                <a:latin typeface="Cambria" pitchFamily="34" charset="0"/>
                <a:ea typeface="Cambria" pitchFamily="34" charset="-122"/>
                <a:cs typeface="Cambria" pitchFamily="34" charset="-120"/>
              </a:rPr>
              <a:t>1 · The last ticket</a:t>
            </a:r>
            <a:endParaRPr lang="en-US" sz="2200" dirty="0"/>
          </a:p>
        </p:txBody>
      </p:sp>
      <p:sp>
        <p:nvSpPr>
          <p:cNvPr id="6" name="label picture"/>
          <p:cNvSpPr txBox="1"/>
          <p:nvPr/>
        </p:nvSpPr>
        <p:spPr>
          <a:xfrm>
            <a:off x="777240" y="2194560"/>
            <a:ext cx="3108960" cy="274320"/>
          </a:xfrm>
          <a:prstGeom prst="rect">
            <a:avLst/>
          </a:prstGeom>
          <a:noFill/>
          <a:ln/>
        </p:spPr>
        <p:txBody>
          <a:bodyPr wrap="square" lIns="508" tIns="508" rIns="508" bIns="508" rtlCol="0" anchor="t"/>
          <a:lstStyle/>
          <a:p>
            <a:pPr algn="l" indent="0" marL="0">
              <a:buNone/>
            </a:pPr>
            <a:r>
              <a:rPr lang="en-US" sz="1200" b="1" spc="200" kern="0" dirty="0">
                <a:solidFill>
                  <a:schemeClr val="accent4"/>
                </a:solidFill>
                <a:latin typeface="Calibri" pitchFamily="34" charset="0"/>
                <a:ea typeface="Calibri" pitchFamily="34" charset="-122"/>
                <a:cs typeface="Calibri" pitchFamily="34" charset="-120"/>
              </a:rPr>
              <a:t>EVERYDAY PICTURE</a:t>
            </a:r>
            <a:endParaRPr lang="en-US" sz="1200" dirty="0"/>
          </a:p>
        </p:txBody>
      </p:sp>
      <p:sp>
        <p:nvSpPr>
          <p:cNvPr id="7" name="picture 1"/>
          <p:cNvSpPr txBox="1"/>
          <p:nvPr/>
        </p:nvSpPr>
        <p:spPr>
          <a:xfrm>
            <a:off x="777240" y="2514600"/>
            <a:ext cx="3108960" cy="1234440"/>
          </a:xfrm>
          <a:prstGeom prst="rect">
            <a:avLst/>
          </a:prstGeom>
          <a:noFill/>
          <a:ln/>
        </p:spPr>
        <p:txBody>
          <a:bodyPr wrap="square" lIns="508" tIns="508" rIns="508" bIns="508"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Two people reach for the last slice of cake at the same instant. Exactly one gets it.</a:t>
            </a:r>
            <a:endParaRPr lang="en-US" sz="1600" dirty="0"/>
          </a:p>
        </p:txBody>
      </p:sp>
      <p:sp>
        <p:nvSpPr>
          <p:cNvPr id="8" name="label how"/>
          <p:cNvSpPr txBox="1"/>
          <p:nvPr/>
        </p:nvSpPr>
        <p:spPr>
          <a:xfrm>
            <a:off x="777240" y="3886200"/>
            <a:ext cx="3108960" cy="274320"/>
          </a:xfrm>
          <a:prstGeom prst="rect">
            <a:avLst/>
          </a:prstGeom>
          <a:noFill/>
          <a:ln/>
        </p:spPr>
        <p:txBody>
          <a:bodyPr wrap="square" lIns="508" tIns="508" rIns="508" bIns="508" rtlCol="0" anchor="t"/>
          <a:lstStyle/>
          <a:p>
            <a:pPr algn="l" indent="0" marL="0">
              <a:buNone/>
            </a:pPr>
            <a:r>
              <a:rPr lang="en-US" sz="1200" b="1" spc="200" kern="0" dirty="0">
                <a:solidFill>
                  <a:schemeClr val="accent4"/>
                </a:solidFill>
                <a:latin typeface="Calibri" pitchFamily="34" charset="0"/>
                <a:ea typeface="Calibri" pitchFamily="34" charset="-122"/>
                <a:cs typeface="Calibri" pitchFamily="34" charset="-120"/>
              </a:rPr>
              <a:t>HOW WE TEST IT</a:t>
            </a:r>
            <a:endParaRPr lang="en-US" sz="1200" dirty="0"/>
          </a:p>
        </p:txBody>
      </p:sp>
      <p:sp>
        <p:nvSpPr>
          <p:cNvPr id="9" name="how 1"/>
          <p:cNvSpPr txBox="1"/>
          <p:nvPr/>
        </p:nvSpPr>
        <p:spPr>
          <a:xfrm>
            <a:off x="777240" y="4206240"/>
            <a:ext cx="3108960" cy="173736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Two buyers at once; 50 buyers for 10 seats, 20 times; two separate connections released together.</a:t>
            </a:r>
            <a:endParaRPr lang="en-US" sz="1500" dirty="0"/>
          </a:p>
        </p:txBody>
      </p:sp>
      <p:sp>
        <p:nvSpPr>
          <p:cNvPr id="10" name="test card 2"/>
          <p:cNvSpPr/>
          <p:nvPr/>
        </p:nvSpPr>
        <p:spPr>
          <a:xfrm>
            <a:off x="4297680" y="1417320"/>
            <a:ext cx="3566160" cy="466344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test title 2"/>
          <p:cNvSpPr txBox="1"/>
          <p:nvPr/>
        </p:nvSpPr>
        <p:spPr>
          <a:xfrm>
            <a:off x="4526280" y="1600200"/>
            <a:ext cx="3108960" cy="502920"/>
          </a:xfrm>
          <a:prstGeom prst="rect">
            <a:avLst/>
          </a:prstGeom>
          <a:noFill/>
          <a:ln/>
        </p:spPr>
        <p:txBody>
          <a:bodyPr wrap="square" lIns="508" tIns="508" rIns="508" bIns="508" rtlCol="0" anchor="t"/>
          <a:lstStyle/>
          <a:p>
            <a:pPr algn="l" indent="0" marL="0">
              <a:buNone/>
            </a:pPr>
            <a:r>
              <a:rPr lang="en-US" sz="2200" b="1" dirty="0">
                <a:solidFill>
                  <a:schemeClr val="accent1"/>
                </a:solidFill>
                <a:latin typeface="Cambria" pitchFamily="34" charset="0"/>
                <a:ea typeface="Cambria" pitchFamily="34" charset="-122"/>
                <a:cs typeface="Cambria" pitchFamily="34" charset="-120"/>
              </a:rPr>
              <a:t>2 · The timer</a:t>
            </a:r>
            <a:endParaRPr lang="en-US" sz="2200" dirty="0"/>
          </a:p>
        </p:txBody>
      </p:sp>
      <p:sp>
        <p:nvSpPr>
          <p:cNvPr id="12" name="label picture"/>
          <p:cNvSpPr txBox="1"/>
          <p:nvPr/>
        </p:nvSpPr>
        <p:spPr>
          <a:xfrm>
            <a:off x="4526280" y="2194560"/>
            <a:ext cx="3108960" cy="274320"/>
          </a:xfrm>
          <a:prstGeom prst="rect">
            <a:avLst/>
          </a:prstGeom>
          <a:noFill/>
          <a:ln/>
        </p:spPr>
        <p:txBody>
          <a:bodyPr wrap="square" lIns="508" tIns="508" rIns="508" bIns="508" rtlCol="0" anchor="t"/>
          <a:lstStyle/>
          <a:p>
            <a:pPr algn="l" indent="0" marL="0">
              <a:buNone/>
            </a:pPr>
            <a:r>
              <a:rPr lang="en-US" sz="1200" b="1" spc="200" kern="0" dirty="0">
                <a:solidFill>
                  <a:schemeClr val="accent4"/>
                </a:solidFill>
                <a:latin typeface="Calibri" pitchFamily="34" charset="0"/>
                <a:ea typeface="Calibri" pitchFamily="34" charset="-122"/>
                <a:cs typeface="Calibri" pitchFamily="34" charset="-120"/>
              </a:rPr>
              <a:t>EVERYDAY PICTURE</a:t>
            </a:r>
            <a:endParaRPr lang="en-US" sz="1200" dirty="0"/>
          </a:p>
        </p:txBody>
      </p:sp>
      <p:sp>
        <p:nvSpPr>
          <p:cNvPr id="13" name="picture 2"/>
          <p:cNvSpPr txBox="1"/>
          <p:nvPr/>
        </p:nvSpPr>
        <p:spPr>
          <a:xfrm>
            <a:off x="4526280" y="2514600"/>
            <a:ext cx="3108960" cy="1234440"/>
          </a:xfrm>
          <a:prstGeom prst="rect">
            <a:avLst/>
          </a:prstGeom>
          <a:noFill/>
          <a:ln/>
        </p:spPr>
        <p:txBody>
          <a:bodyPr wrap="square" lIns="508" tIns="508" rIns="508" bIns="508"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A cinema seat held while you pay. When the timer runs out, it goes back on sale.</a:t>
            </a:r>
            <a:endParaRPr lang="en-US" sz="1600" dirty="0"/>
          </a:p>
        </p:txBody>
      </p:sp>
      <p:sp>
        <p:nvSpPr>
          <p:cNvPr id="14" name="label how"/>
          <p:cNvSpPr txBox="1"/>
          <p:nvPr/>
        </p:nvSpPr>
        <p:spPr>
          <a:xfrm>
            <a:off x="4526280" y="3886200"/>
            <a:ext cx="3108960" cy="274320"/>
          </a:xfrm>
          <a:prstGeom prst="rect">
            <a:avLst/>
          </a:prstGeom>
          <a:noFill/>
          <a:ln/>
        </p:spPr>
        <p:txBody>
          <a:bodyPr wrap="square" lIns="508" tIns="508" rIns="508" bIns="508" rtlCol="0" anchor="t"/>
          <a:lstStyle/>
          <a:p>
            <a:pPr algn="l" indent="0" marL="0">
              <a:buNone/>
            </a:pPr>
            <a:r>
              <a:rPr lang="en-US" sz="1200" b="1" spc="200" kern="0" dirty="0">
                <a:solidFill>
                  <a:schemeClr val="accent4"/>
                </a:solidFill>
                <a:latin typeface="Calibri" pitchFamily="34" charset="0"/>
                <a:ea typeface="Calibri" pitchFamily="34" charset="-122"/>
                <a:cs typeface="Calibri" pitchFamily="34" charset="-120"/>
              </a:rPr>
              <a:t>HOW WE TEST IT</a:t>
            </a:r>
            <a:endParaRPr lang="en-US" sz="1200" dirty="0"/>
          </a:p>
        </p:txBody>
      </p:sp>
      <p:sp>
        <p:nvSpPr>
          <p:cNvPr id="15" name="how 2"/>
          <p:cNvSpPr txBox="1"/>
          <p:nvPr/>
        </p:nvSpPr>
        <p:spPr>
          <a:xfrm>
            <a:off x="4526280" y="4206240"/>
            <a:ext cx="3108960" cy="173736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Timer set to 1 second: buyer 2 is refused, then succeeds; paying the old hold is refused.</a:t>
            </a:r>
            <a:endParaRPr lang="en-US" sz="1500" dirty="0"/>
          </a:p>
        </p:txBody>
      </p:sp>
      <p:sp>
        <p:nvSpPr>
          <p:cNvPr id="16" name="test card 3"/>
          <p:cNvSpPr/>
          <p:nvPr/>
        </p:nvSpPr>
        <p:spPr>
          <a:xfrm>
            <a:off x="8046720" y="1417320"/>
            <a:ext cx="3566160" cy="466344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7" name="test title 3"/>
          <p:cNvSpPr txBox="1"/>
          <p:nvPr/>
        </p:nvSpPr>
        <p:spPr>
          <a:xfrm>
            <a:off x="8275320" y="1600200"/>
            <a:ext cx="3108960" cy="502920"/>
          </a:xfrm>
          <a:prstGeom prst="rect">
            <a:avLst/>
          </a:prstGeom>
          <a:noFill/>
          <a:ln/>
        </p:spPr>
        <p:txBody>
          <a:bodyPr wrap="square" lIns="508" tIns="508" rIns="508" bIns="508" rtlCol="0" anchor="t"/>
          <a:lstStyle/>
          <a:p>
            <a:pPr algn="l" indent="0" marL="0">
              <a:buNone/>
            </a:pPr>
            <a:r>
              <a:rPr lang="en-US" sz="2200" b="1" dirty="0">
                <a:solidFill>
                  <a:schemeClr val="accent1"/>
                </a:solidFill>
                <a:latin typeface="Cambria" pitchFamily="34" charset="0"/>
                <a:ea typeface="Cambria" pitchFamily="34" charset="-122"/>
                <a:cs typeface="Cambria" pitchFamily="34" charset="-120"/>
              </a:rPr>
              <a:t>3 · One scan</a:t>
            </a:r>
            <a:endParaRPr lang="en-US" sz="2200" dirty="0"/>
          </a:p>
        </p:txBody>
      </p:sp>
      <p:sp>
        <p:nvSpPr>
          <p:cNvPr id="18" name="label picture"/>
          <p:cNvSpPr txBox="1"/>
          <p:nvPr/>
        </p:nvSpPr>
        <p:spPr>
          <a:xfrm>
            <a:off x="8275320" y="2194560"/>
            <a:ext cx="3108960" cy="274320"/>
          </a:xfrm>
          <a:prstGeom prst="rect">
            <a:avLst/>
          </a:prstGeom>
          <a:noFill/>
          <a:ln/>
        </p:spPr>
        <p:txBody>
          <a:bodyPr wrap="square" lIns="508" tIns="508" rIns="508" bIns="508" rtlCol="0" anchor="t"/>
          <a:lstStyle/>
          <a:p>
            <a:pPr algn="l" indent="0" marL="0">
              <a:buNone/>
            </a:pPr>
            <a:r>
              <a:rPr lang="en-US" sz="1200" b="1" spc="200" kern="0" dirty="0">
                <a:solidFill>
                  <a:schemeClr val="accent4"/>
                </a:solidFill>
                <a:latin typeface="Calibri" pitchFamily="34" charset="0"/>
                <a:ea typeface="Calibri" pitchFamily="34" charset="-122"/>
                <a:cs typeface="Calibri" pitchFamily="34" charset="-120"/>
              </a:rPr>
              <a:t>EVERYDAY PICTURE</a:t>
            </a:r>
            <a:endParaRPr lang="en-US" sz="1200" dirty="0"/>
          </a:p>
        </p:txBody>
      </p:sp>
      <p:sp>
        <p:nvSpPr>
          <p:cNvPr id="19" name="picture 3"/>
          <p:cNvSpPr txBox="1"/>
          <p:nvPr/>
        </p:nvSpPr>
        <p:spPr>
          <a:xfrm>
            <a:off x="8275320" y="2514600"/>
            <a:ext cx="3108960" cy="1234440"/>
          </a:xfrm>
          <a:prstGeom prst="rect">
            <a:avLst/>
          </a:prstGeom>
          <a:noFill/>
          <a:ln/>
        </p:spPr>
        <p:txBody>
          <a:bodyPr wrap="square" lIns="508" tIns="508" rIns="508" bIns="508" rtlCol="0" anchor="t"/>
          <a:lstStyle/>
          <a:p>
            <a:pPr algn="l" indent="0" marL="0">
              <a:buNone/>
            </a:pPr>
            <a:r>
              <a:rPr lang="en-US" sz="1600" dirty="0">
                <a:solidFill>
                  <a:schemeClr val="tx1"/>
                </a:solidFill>
                <a:latin typeface="Calibri" pitchFamily="34" charset="0"/>
                <a:ea typeface="Calibri" pitchFamily="34" charset="-122"/>
                <a:cs typeface="Calibri" pitchFamily="34" charset="-120"/>
              </a:rPr>
              <a:t>A stamp that works once.</a:t>
            </a:r>
            <a:endParaRPr lang="en-US" sz="1600" dirty="0"/>
          </a:p>
        </p:txBody>
      </p:sp>
      <p:sp>
        <p:nvSpPr>
          <p:cNvPr id="20" name="label how"/>
          <p:cNvSpPr txBox="1"/>
          <p:nvPr/>
        </p:nvSpPr>
        <p:spPr>
          <a:xfrm>
            <a:off x="8275320" y="3886200"/>
            <a:ext cx="3108960" cy="274320"/>
          </a:xfrm>
          <a:prstGeom prst="rect">
            <a:avLst/>
          </a:prstGeom>
          <a:noFill/>
          <a:ln/>
        </p:spPr>
        <p:txBody>
          <a:bodyPr wrap="square" lIns="508" tIns="508" rIns="508" bIns="508" rtlCol="0" anchor="t"/>
          <a:lstStyle/>
          <a:p>
            <a:pPr algn="l" indent="0" marL="0">
              <a:buNone/>
            </a:pPr>
            <a:r>
              <a:rPr lang="en-US" sz="1200" b="1" spc="200" kern="0" dirty="0">
                <a:solidFill>
                  <a:schemeClr val="accent4"/>
                </a:solidFill>
                <a:latin typeface="Calibri" pitchFamily="34" charset="0"/>
                <a:ea typeface="Calibri" pitchFamily="34" charset="-122"/>
                <a:cs typeface="Calibri" pitchFamily="34" charset="-120"/>
              </a:rPr>
              <a:t>HOW WE TEST IT</a:t>
            </a:r>
            <a:endParaRPr lang="en-US" sz="1200" dirty="0"/>
          </a:p>
        </p:txBody>
      </p:sp>
      <p:sp>
        <p:nvSpPr>
          <p:cNvPr id="21" name="how 3"/>
          <p:cNvSpPr txBox="1"/>
          <p:nvPr/>
        </p:nvSpPr>
        <p:spPr>
          <a:xfrm>
            <a:off x="8275320" y="4206240"/>
            <a:ext cx="3108960" cy="173736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Twenty scans of one ticket at once: exactly one gets in. The same race across two connections.</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Proof: it holds when 5,000 people push</a:t>
            </a:r>
            <a:endParaRPr lang="en-US" dirty="0"/>
          </a:p>
        </p:txBody>
      </p:sp>
      <p:sp>
        <p:nvSpPr>
          <p:cNvPr id="4" name="stat card 163"/>
          <p:cNvSpPr/>
          <p:nvPr/>
        </p:nvSpPr>
        <p:spPr>
          <a:xfrm>
            <a:off x="548640" y="1417320"/>
            <a:ext cx="4206240" cy="1417320"/>
          </a:xfrm>
          <a:prstGeom prst="roundRect">
            <a:avLst>
              <a:gd name="adj" fmla="val 7742"/>
            </a:avLst>
          </a:prstGeom>
          <a:solidFill>
            <a:schemeClr val="bg2"/>
          </a:solidFill>
          <a:ln w="12700">
            <a:solidFill>
              <a:schemeClr val="bg2"/>
            </a:solidFill>
            <a:prstDash val="solid"/>
          </a:ln>
        </p:spPr>
      </p:sp>
      <p:sp>
        <p:nvSpPr>
          <p:cNvPr id="5" name="stat 163"/>
          <p:cNvSpPr txBox="1"/>
          <p:nvPr/>
        </p:nvSpPr>
        <p:spPr>
          <a:xfrm>
            <a:off x="777240" y="1508760"/>
            <a:ext cx="3749040" cy="777240"/>
          </a:xfrm>
          <a:prstGeom prst="rect">
            <a:avLst/>
          </a:prstGeom>
          <a:noFill/>
          <a:ln/>
        </p:spPr>
        <p:txBody>
          <a:bodyPr wrap="square" lIns="508" tIns="508" rIns="508" bIns="508" rtlCol="0" anchor="t"/>
          <a:lstStyle/>
          <a:p>
            <a:pPr algn="l" indent="0" marL="0">
              <a:buNone/>
            </a:pPr>
            <a:r>
              <a:rPr lang="en-US" sz="4000" b="1" dirty="0">
                <a:solidFill>
                  <a:schemeClr val="accent1"/>
                </a:solidFill>
                <a:latin typeface="Cambria" pitchFamily="34" charset="0"/>
                <a:ea typeface="Cambria" pitchFamily="34" charset="-122"/>
                <a:cs typeface="Cambria" pitchFamily="34" charset="-120"/>
              </a:rPr>
              <a:t>163</a:t>
            </a:r>
            <a:endParaRPr lang="en-US" sz="4000" dirty="0"/>
          </a:p>
        </p:txBody>
      </p:sp>
      <p:sp>
        <p:nvSpPr>
          <p:cNvPr id="6" name="stat label 163"/>
          <p:cNvSpPr txBox="1"/>
          <p:nvPr/>
        </p:nvSpPr>
        <p:spPr>
          <a:xfrm>
            <a:off x="777240" y="2286000"/>
            <a:ext cx="3749040" cy="45720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automated tests, all passing</a:t>
            </a:r>
            <a:endParaRPr lang="en-US" sz="1600" dirty="0"/>
          </a:p>
        </p:txBody>
      </p:sp>
      <p:sp>
        <p:nvSpPr>
          <p:cNvPr id="7" name="stat card 20 / 20"/>
          <p:cNvSpPr/>
          <p:nvPr/>
        </p:nvSpPr>
        <p:spPr>
          <a:xfrm>
            <a:off x="548640" y="3017520"/>
            <a:ext cx="4206240" cy="1417320"/>
          </a:xfrm>
          <a:prstGeom prst="roundRect">
            <a:avLst>
              <a:gd name="adj" fmla="val 7742"/>
            </a:avLst>
          </a:prstGeom>
          <a:solidFill>
            <a:schemeClr val="bg2"/>
          </a:solidFill>
          <a:ln w="12700">
            <a:solidFill>
              <a:schemeClr val="bg2"/>
            </a:solidFill>
            <a:prstDash val="solid"/>
          </a:ln>
        </p:spPr>
      </p:sp>
      <p:sp>
        <p:nvSpPr>
          <p:cNvPr id="8" name="stat 20 / 20"/>
          <p:cNvSpPr txBox="1"/>
          <p:nvPr/>
        </p:nvSpPr>
        <p:spPr>
          <a:xfrm>
            <a:off x="777240" y="3108960"/>
            <a:ext cx="3749040" cy="777240"/>
          </a:xfrm>
          <a:prstGeom prst="rect">
            <a:avLst/>
          </a:prstGeom>
          <a:noFill/>
          <a:ln/>
        </p:spPr>
        <p:txBody>
          <a:bodyPr wrap="square" lIns="508" tIns="508" rIns="508" bIns="508" rtlCol="0" anchor="t"/>
          <a:lstStyle/>
          <a:p>
            <a:pPr algn="l" indent="0" marL="0">
              <a:buNone/>
            </a:pPr>
            <a:r>
              <a:rPr lang="en-US" sz="4000" b="1" dirty="0">
                <a:solidFill>
                  <a:schemeClr val="accent1"/>
                </a:solidFill>
                <a:latin typeface="Cambria" pitchFamily="34" charset="0"/>
                <a:ea typeface="Cambria" pitchFamily="34" charset="-122"/>
                <a:cs typeface="Cambria" pitchFamily="34" charset="-120"/>
              </a:rPr>
              <a:t>20 / 20</a:t>
            </a:r>
            <a:endParaRPr lang="en-US" sz="4000" dirty="0"/>
          </a:p>
        </p:txBody>
      </p:sp>
      <p:sp>
        <p:nvSpPr>
          <p:cNvPr id="9" name="stat label 20 / 20"/>
          <p:cNvSpPr txBox="1"/>
          <p:nvPr/>
        </p:nvSpPr>
        <p:spPr>
          <a:xfrm>
            <a:off x="777240" y="3886200"/>
            <a:ext cx="3749040" cy="45720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killer-test runs in a row</a:t>
            </a:r>
            <a:endParaRPr lang="en-US" sz="1600" dirty="0"/>
          </a:p>
        </p:txBody>
      </p:sp>
      <p:sp>
        <p:nvSpPr>
          <p:cNvPr id="10" name="stat card ~1,000"/>
          <p:cNvSpPr/>
          <p:nvPr/>
        </p:nvSpPr>
        <p:spPr>
          <a:xfrm>
            <a:off x="548640" y="4617720"/>
            <a:ext cx="4206240" cy="1417320"/>
          </a:xfrm>
          <a:prstGeom prst="roundRect">
            <a:avLst>
              <a:gd name="adj" fmla="val 7742"/>
            </a:avLst>
          </a:prstGeom>
          <a:solidFill>
            <a:schemeClr val="bg2"/>
          </a:solidFill>
          <a:ln w="12700">
            <a:solidFill>
              <a:schemeClr val="bg2"/>
            </a:solidFill>
            <a:prstDash val="solid"/>
          </a:ln>
        </p:spPr>
      </p:sp>
      <p:sp>
        <p:nvSpPr>
          <p:cNvPr id="11" name="stat ~1,000"/>
          <p:cNvSpPr txBox="1"/>
          <p:nvPr/>
        </p:nvSpPr>
        <p:spPr>
          <a:xfrm>
            <a:off x="777240" y="4709160"/>
            <a:ext cx="3749040" cy="777240"/>
          </a:xfrm>
          <a:prstGeom prst="rect">
            <a:avLst/>
          </a:prstGeom>
          <a:noFill/>
          <a:ln/>
        </p:spPr>
        <p:txBody>
          <a:bodyPr wrap="square" lIns="508" tIns="508" rIns="508" bIns="508" rtlCol="0" anchor="t"/>
          <a:lstStyle/>
          <a:p>
            <a:pPr algn="l" indent="0" marL="0">
              <a:buNone/>
            </a:pPr>
            <a:r>
              <a:rPr lang="en-US" sz="4000" b="1" dirty="0">
                <a:solidFill>
                  <a:schemeClr val="accent1"/>
                </a:solidFill>
                <a:latin typeface="Cambria" pitchFamily="34" charset="0"/>
                <a:ea typeface="Cambria" pitchFamily="34" charset="-122"/>
                <a:cs typeface="Cambria" pitchFamily="34" charset="-120"/>
              </a:rPr>
              <a:t>~1,000</a:t>
            </a:r>
            <a:endParaRPr lang="en-US" sz="4000" dirty="0"/>
          </a:p>
        </p:txBody>
      </p:sp>
      <p:sp>
        <p:nvSpPr>
          <p:cNvPr id="12" name="stat label ~1,000"/>
          <p:cNvSpPr txBox="1"/>
          <p:nvPr/>
        </p:nvSpPr>
        <p:spPr>
          <a:xfrm>
            <a:off x="777240" y="5486400"/>
            <a:ext cx="3749040" cy="45720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holds per second (measured)</a:t>
            </a:r>
            <a:endParaRPr lang="en-US" sz="1600" dirty="0"/>
          </a:p>
        </p:txBody>
      </p:sp>
      <p:graphicFrame>
        <p:nvGraphicFramePr>
          <p:cNvPr id="13" name="Chart 0" descr=""/>
          <p:cNvGraphicFramePr/>
          <p:nvPr/>
        </p:nvGraphicFramePr>
        <p:xfrm>
          <a:off x="5120640" y="1371600"/>
          <a:ext cx="6492240" cy="4251960"/>
        </p:xfrm>
        <a:graphic xmlns:a="http://schemas.openxmlformats.org/drawingml/2006/main">
          <a:graphicData uri="http://schemas.openxmlformats.org/drawingml/2006/chart">
            <c:chart xmlns:c="http://schemas.openxmlformats.org/drawingml/2006/chart" r:id="rId1"/>
          </a:graphicData>
        </a:graphic>
      </p:graphicFrame>
      <p:sp>
        <p:nvSpPr>
          <p:cNvPr id="14" name="chart caption"/>
          <p:cNvSpPr txBox="1"/>
          <p:nvPr/>
        </p:nvSpPr>
        <p:spPr>
          <a:xfrm>
            <a:off x="5120640" y="5715000"/>
            <a:ext cx="6492240" cy="548640"/>
          </a:xfrm>
          <a:prstGeom prst="rect">
            <a:avLst/>
          </a:prstGeom>
          <a:noFill/>
          <a:ln/>
        </p:spPr>
        <p:txBody>
          <a:bodyPr wrap="square" lIns="508" tIns="508" rIns="508" bIns="508" rtlCol="0" anchor="t"/>
          <a:lstStyle/>
          <a:p>
            <a:pPr algn="l" indent="0" marL="0">
              <a:buNone/>
            </a:pPr>
            <a:r>
              <a:rPr lang="en-US" sz="1500" dirty="0">
                <a:solidFill>
                  <a:schemeClr val="accent4"/>
                </a:solidFill>
                <a:latin typeface="Calibri" pitchFamily="34" charset="0"/>
                <a:ea typeface="Calibri" pitchFamily="34" charset="-122"/>
                <a:cs typeface="Calibri" pitchFamily="34" charset="-120"/>
              </a:rPr>
              <a:t>Nothing oversold. The self-check recomputed every count from the records and matched.</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We broke it on purpose, and the tests noticed</a:t>
            </a:r>
            <a:endParaRPr lang="en-US" dirty="0"/>
          </a:p>
        </p:txBody>
      </p:sp>
      <p:sp>
        <p:nvSpPr>
          <p:cNvPr id="4" name="broke intro"/>
          <p:cNvSpPr txBox="1"/>
          <p:nvPr/>
        </p:nvSpPr>
        <p:spPr>
          <a:xfrm>
            <a:off x="548640" y="1325880"/>
            <a:ext cx="11064240" cy="548640"/>
          </a:xfrm>
          <a:prstGeom prst="rect">
            <a:avLst/>
          </a:prstGeom>
          <a:noFill/>
          <a:ln/>
        </p:spPr>
        <p:txBody>
          <a:bodyPr wrap="square" lIns="508" tIns="508" rIns="508" bIns="508" rtlCol="0" anchor="t"/>
          <a:lstStyle/>
          <a:p>
            <a:pPr algn="l" indent="0" marL="0">
              <a:buNone/>
            </a:pPr>
            <a:r>
              <a:rPr lang="en-US" sz="2000" dirty="0">
                <a:solidFill>
                  <a:schemeClr val="accent4"/>
                </a:solidFill>
                <a:latin typeface="Calibri" pitchFamily="34" charset="0"/>
                <a:ea typeface="Calibri" pitchFamily="34" charset="-122"/>
                <a:cs typeface="Calibri" pitchFamily="34" charset="-120"/>
              </a:rPr>
              <a:t>A test that can never fail proves nothing. So we removed one safeguard at a time.</a:t>
            </a:r>
            <a:endParaRPr lang="en-US" sz="2000" dirty="0"/>
          </a:p>
        </p:txBody>
      </p:sp>
      <p:sp>
        <p:nvSpPr>
          <p:cNvPr id="5" name="broke row 1"/>
          <p:cNvSpPr/>
          <p:nvPr/>
        </p:nvSpPr>
        <p:spPr>
          <a:xfrm>
            <a:off x="548640" y="2103120"/>
            <a:ext cx="11064240" cy="777240"/>
          </a:xfrm>
          <a:prstGeom prst="roundRect">
            <a:avLst>
              <a:gd name="adj" fmla="val 14118"/>
            </a:avLst>
          </a:prstGeom>
          <a:solidFill>
            <a:schemeClr val="bg2"/>
          </a:solidFill>
          <a:ln w="12700">
            <a:solidFill>
              <a:schemeClr val="bg2"/>
            </a:solidFill>
            <a:prstDash val="solid"/>
          </a:ln>
        </p:spPr>
      </p:sp>
      <p:sp>
        <p:nvSpPr>
          <p:cNvPr id="6" name="removed 1"/>
          <p:cNvSpPr txBox="1"/>
          <p:nvPr/>
        </p:nvSpPr>
        <p:spPr>
          <a:xfrm>
            <a:off x="777240" y="2176272"/>
            <a:ext cx="5120640" cy="658368"/>
          </a:xfrm>
          <a:prstGeom prst="rect">
            <a:avLst/>
          </a:prstGeom>
          <a:noFill/>
          <a:ln/>
        </p:spPr>
        <p:txBody>
          <a:bodyPr wrap="square" lIns="508" tIns="508" rIns="508" bIns="508" rtlCol="0" anchor="ctr"/>
          <a:lstStyle/>
          <a:p>
            <a:pPr algn="l" indent="0" marL="0">
              <a:buNone/>
            </a:pPr>
            <a:r>
              <a:rPr lang="en-US" sz="1700" b="1" dirty="0">
                <a:solidFill>
                  <a:schemeClr val="tx1"/>
                </a:solidFill>
                <a:latin typeface="Calibri" pitchFamily="34" charset="0"/>
                <a:ea typeface="Calibri" pitchFamily="34" charset="-122"/>
                <a:cs typeface="Calibri" pitchFamily="34" charset="-120"/>
              </a:rPr>
              <a:t>Removed: The shared-pool check</a:t>
            </a:r>
            <a:endParaRPr lang="en-US" sz="1700" dirty="0"/>
          </a:p>
        </p:txBody>
      </p:sp>
      <p:sp>
        <p:nvSpPr>
          <p:cNvPr id="7" name="result 1"/>
          <p:cNvSpPr txBox="1"/>
          <p:nvPr/>
        </p:nvSpPr>
        <p:spPr>
          <a:xfrm>
            <a:off x="6035040" y="2176272"/>
            <a:ext cx="5486400" cy="658368"/>
          </a:xfrm>
          <a:prstGeom prst="rect">
            <a:avLst/>
          </a:prstGeom>
          <a:noFill/>
          <a:ln/>
        </p:spPr>
        <p:txBody>
          <a:bodyPr wrap="square" lIns="508" tIns="508" rIns="508" bIns="508" rtlCol="0" anchor="ctr"/>
          <a:lstStyle/>
          <a:p>
            <a:pPr algn="l" indent="0" marL="0">
              <a:buNone/>
            </a:pPr>
            <a:r>
              <a:rPr lang="en-US" sz="1700" b="1" dirty="0">
                <a:solidFill>
                  <a:schemeClr val="accent3"/>
                </a:solidFill>
                <a:latin typeface="Calibri" pitchFamily="34" charset="0"/>
                <a:ea typeface="Calibri" pitchFamily="34" charset="-122"/>
                <a:cs typeface="Calibri" pitchFamily="34" charset="-120"/>
              </a:rPr>
              <a:t>→  The shared-seats test failed</a:t>
            </a:r>
            <a:endParaRPr lang="en-US" sz="1700" dirty="0"/>
          </a:p>
        </p:txBody>
      </p:sp>
      <p:sp>
        <p:nvSpPr>
          <p:cNvPr id="8" name="broke row 2"/>
          <p:cNvSpPr/>
          <p:nvPr/>
        </p:nvSpPr>
        <p:spPr>
          <a:xfrm>
            <a:off x="548640" y="3017520"/>
            <a:ext cx="11064240" cy="777240"/>
          </a:xfrm>
          <a:prstGeom prst="roundRect">
            <a:avLst>
              <a:gd name="adj" fmla="val 14118"/>
            </a:avLst>
          </a:prstGeom>
          <a:solidFill>
            <a:schemeClr val="bg1"/>
          </a:solidFill>
          <a:ln w="12700">
            <a:solidFill>
              <a:schemeClr val="bg1"/>
            </a:solidFill>
            <a:prstDash val="solid"/>
          </a:ln>
        </p:spPr>
      </p:sp>
      <p:sp>
        <p:nvSpPr>
          <p:cNvPr id="9" name="removed 2"/>
          <p:cNvSpPr txBox="1"/>
          <p:nvPr/>
        </p:nvSpPr>
        <p:spPr>
          <a:xfrm>
            <a:off x="777240" y="3090672"/>
            <a:ext cx="5120640" cy="658368"/>
          </a:xfrm>
          <a:prstGeom prst="rect">
            <a:avLst/>
          </a:prstGeom>
          <a:noFill/>
          <a:ln/>
        </p:spPr>
        <p:txBody>
          <a:bodyPr wrap="square" lIns="508" tIns="508" rIns="508" bIns="508" rtlCol="0" anchor="ctr"/>
          <a:lstStyle/>
          <a:p>
            <a:pPr algn="l" indent="0" marL="0">
              <a:buNone/>
            </a:pPr>
            <a:r>
              <a:rPr lang="en-US" sz="1700" b="1" dirty="0">
                <a:solidFill>
                  <a:schemeClr val="tx1"/>
                </a:solidFill>
                <a:latin typeface="Calibri" pitchFamily="34" charset="0"/>
                <a:ea typeface="Calibri" pitchFamily="34" charset="-122"/>
                <a:cs typeface="Calibri" pitchFamily="34" charset="-120"/>
              </a:rPr>
              <a:t>Removed: “Only if still unused” at the gate</a:t>
            </a:r>
            <a:endParaRPr lang="en-US" sz="1700" dirty="0"/>
          </a:p>
        </p:txBody>
      </p:sp>
      <p:sp>
        <p:nvSpPr>
          <p:cNvPr id="10" name="result 2"/>
          <p:cNvSpPr txBox="1"/>
          <p:nvPr/>
        </p:nvSpPr>
        <p:spPr>
          <a:xfrm>
            <a:off x="6035040" y="3090672"/>
            <a:ext cx="5486400" cy="658368"/>
          </a:xfrm>
          <a:prstGeom prst="rect">
            <a:avLst/>
          </a:prstGeom>
          <a:noFill/>
          <a:ln/>
        </p:spPr>
        <p:txBody>
          <a:bodyPr wrap="square" lIns="508" tIns="508" rIns="508" bIns="508" rtlCol="0" anchor="ctr"/>
          <a:lstStyle/>
          <a:p>
            <a:pPr algn="l" indent="0" marL="0">
              <a:buNone/>
            </a:pPr>
            <a:r>
              <a:rPr lang="en-US" sz="1700" b="1" dirty="0">
                <a:solidFill>
                  <a:schemeClr val="accent3"/>
                </a:solidFill>
                <a:latin typeface="Calibri" pitchFamily="34" charset="0"/>
                <a:ea typeface="Calibri" pitchFamily="34" charset="-122"/>
                <a:cs typeface="Calibri" pitchFamily="34" charset="-120"/>
              </a:rPr>
              <a:t>→  Every scan test failed, over the web and across two connections</a:t>
            </a:r>
            <a:endParaRPr lang="en-US" sz="1700" dirty="0"/>
          </a:p>
        </p:txBody>
      </p:sp>
      <p:sp>
        <p:nvSpPr>
          <p:cNvPr id="11" name="broke row 3"/>
          <p:cNvSpPr/>
          <p:nvPr/>
        </p:nvSpPr>
        <p:spPr>
          <a:xfrm>
            <a:off x="548640" y="3931920"/>
            <a:ext cx="11064240" cy="777240"/>
          </a:xfrm>
          <a:prstGeom prst="roundRect">
            <a:avLst>
              <a:gd name="adj" fmla="val 14118"/>
            </a:avLst>
          </a:prstGeom>
          <a:solidFill>
            <a:schemeClr val="bg2"/>
          </a:solidFill>
          <a:ln w="12700">
            <a:solidFill>
              <a:schemeClr val="bg2"/>
            </a:solidFill>
            <a:prstDash val="solid"/>
          </a:ln>
        </p:spPr>
      </p:sp>
      <p:sp>
        <p:nvSpPr>
          <p:cNvPr id="12" name="removed 3"/>
          <p:cNvSpPr txBox="1"/>
          <p:nvPr/>
        </p:nvSpPr>
        <p:spPr>
          <a:xfrm>
            <a:off x="777240" y="4005072"/>
            <a:ext cx="5120640" cy="658368"/>
          </a:xfrm>
          <a:prstGeom prst="rect">
            <a:avLst/>
          </a:prstGeom>
          <a:noFill/>
          <a:ln/>
        </p:spPr>
        <p:txBody>
          <a:bodyPr wrap="square" lIns="508" tIns="508" rIns="508" bIns="508" rtlCol="0" anchor="ctr"/>
          <a:lstStyle/>
          <a:p>
            <a:pPr algn="l" indent="0" marL="0">
              <a:buNone/>
            </a:pPr>
            <a:r>
              <a:rPr lang="en-US" sz="1700" b="1" dirty="0">
                <a:solidFill>
                  <a:schemeClr val="tx1"/>
                </a:solidFill>
                <a:latin typeface="Calibri" pitchFamily="34" charset="0"/>
                <a:ea typeface="Calibri" pitchFamily="34" charset="-122"/>
                <a:cs typeface="Calibri" pitchFamily="34" charset="-120"/>
              </a:rPr>
              <a:t>Removed: The strict database transaction</a:t>
            </a:r>
            <a:endParaRPr lang="en-US" sz="1700" dirty="0"/>
          </a:p>
        </p:txBody>
      </p:sp>
      <p:sp>
        <p:nvSpPr>
          <p:cNvPr id="13" name="result 3"/>
          <p:cNvSpPr txBox="1"/>
          <p:nvPr/>
        </p:nvSpPr>
        <p:spPr>
          <a:xfrm>
            <a:off x="6035040" y="4005072"/>
            <a:ext cx="5486400" cy="658368"/>
          </a:xfrm>
          <a:prstGeom prst="rect">
            <a:avLst/>
          </a:prstGeom>
          <a:noFill/>
          <a:ln/>
        </p:spPr>
        <p:txBody>
          <a:bodyPr wrap="square" lIns="508" tIns="508" rIns="508" bIns="508" rtlCol="0" anchor="ctr"/>
          <a:lstStyle/>
          <a:p>
            <a:pPr algn="l" indent="0" marL="0">
              <a:buNone/>
            </a:pPr>
            <a:r>
              <a:rPr lang="en-US" sz="1700" b="1" dirty="0">
                <a:solidFill>
                  <a:schemeClr val="accent3"/>
                </a:solidFill>
                <a:latin typeface="Calibri" pitchFamily="34" charset="0"/>
                <a:ea typeface="Calibri" pitchFamily="34" charset="-122"/>
                <a:cs typeface="Calibri" pitchFamily="34" charset="-120"/>
              </a:rPr>
              <a:t>→  The two-connection races failed with “database is locked”</a:t>
            </a:r>
            <a:endParaRPr lang="en-US" sz="1700" dirty="0"/>
          </a:p>
        </p:txBody>
      </p:sp>
      <p:sp>
        <p:nvSpPr>
          <p:cNvPr id="14" name="broke row 4"/>
          <p:cNvSpPr/>
          <p:nvPr/>
        </p:nvSpPr>
        <p:spPr>
          <a:xfrm>
            <a:off x="548640" y="4846320"/>
            <a:ext cx="11064240" cy="777240"/>
          </a:xfrm>
          <a:prstGeom prst="roundRect">
            <a:avLst>
              <a:gd name="adj" fmla="val 14118"/>
            </a:avLst>
          </a:prstGeom>
          <a:solidFill>
            <a:schemeClr val="bg1"/>
          </a:solidFill>
          <a:ln w="12700">
            <a:solidFill>
              <a:schemeClr val="bg1"/>
            </a:solidFill>
            <a:prstDash val="solid"/>
          </a:ln>
        </p:spPr>
      </p:sp>
      <p:sp>
        <p:nvSpPr>
          <p:cNvPr id="15" name="removed 4"/>
          <p:cNvSpPr txBox="1"/>
          <p:nvPr/>
        </p:nvSpPr>
        <p:spPr>
          <a:xfrm>
            <a:off x="777240" y="4919472"/>
            <a:ext cx="5120640" cy="658368"/>
          </a:xfrm>
          <a:prstGeom prst="rect">
            <a:avLst/>
          </a:prstGeom>
          <a:noFill/>
          <a:ln/>
        </p:spPr>
        <p:txBody>
          <a:bodyPr wrap="square" lIns="508" tIns="508" rIns="508" bIns="508" rtlCol="0" anchor="ctr"/>
          <a:lstStyle/>
          <a:p>
            <a:pPr algn="l" indent="0" marL="0">
              <a:buNone/>
            </a:pPr>
            <a:r>
              <a:rPr lang="en-US" sz="1700" b="1" dirty="0">
                <a:solidFill>
                  <a:schemeClr val="tx1"/>
                </a:solidFill>
                <a:latin typeface="Calibri" pitchFamily="34" charset="0"/>
                <a:ea typeface="Calibri" pitchFamily="34" charset="-122"/>
                <a:cs typeface="Calibri" pitchFamily="34" charset="-120"/>
              </a:rPr>
              <a:t>Removed: The promo-code limit</a:t>
            </a:r>
            <a:endParaRPr lang="en-US" sz="1700" dirty="0"/>
          </a:p>
        </p:txBody>
      </p:sp>
      <p:sp>
        <p:nvSpPr>
          <p:cNvPr id="16" name="result 4"/>
          <p:cNvSpPr txBox="1"/>
          <p:nvPr/>
        </p:nvSpPr>
        <p:spPr>
          <a:xfrm>
            <a:off x="6035040" y="4919472"/>
            <a:ext cx="5486400" cy="658368"/>
          </a:xfrm>
          <a:prstGeom prst="rect">
            <a:avLst/>
          </a:prstGeom>
          <a:noFill/>
          <a:ln/>
        </p:spPr>
        <p:txBody>
          <a:bodyPr wrap="square" lIns="508" tIns="508" rIns="508" bIns="508" rtlCol="0" anchor="ctr"/>
          <a:lstStyle/>
          <a:p>
            <a:pPr algn="l" indent="0" marL="0">
              <a:buNone/>
            </a:pPr>
            <a:r>
              <a:rPr lang="en-US" sz="1700" b="1" dirty="0">
                <a:solidFill>
                  <a:schemeClr val="accent3"/>
                </a:solidFill>
                <a:latin typeface="Calibri" pitchFamily="34" charset="0"/>
                <a:ea typeface="Calibri" pitchFamily="34" charset="-122"/>
                <a:cs typeface="Calibri" pitchFamily="34" charset="-120"/>
              </a:rPr>
              <a:t>→  Five promo tests failed</a:t>
            </a:r>
            <a:endParaRPr lang="en-US" sz="1700" dirty="0"/>
          </a:p>
        </p:txBody>
      </p:sp>
      <p:sp>
        <p:nvSpPr>
          <p:cNvPr id="17" name="broke note"/>
          <p:cNvSpPr txBox="1"/>
          <p:nvPr/>
        </p:nvSpPr>
        <p:spPr>
          <a:xfrm>
            <a:off x="548640" y="5897880"/>
            <a:ext cx="11064240" cy="365760"/>
          </a:xfrm>
          <a:prstGeom prst="rect">
            <a:avLst/>
          </a:prstGeom>
          <a:noFill/>
          <a:ln/>
        </p:spPr>
        <p:txBody>
          <a:bodyPr wrap="square" lIns="508" tIns="508" rIns="508" bIns="508" rtlCol="0" anchor="t"/>
          <a:lstStyle/>
          <a:p>
            <a:pPr algn="l" indent="0" marL="0">
              <a:buNone/>
            </a:pPr>
            <a:r>
              <a:rPr lang="en-US" sz="1400" i="1" dirty="0">
                <a:solidFill>
                  <a:schemeClr val="accent4"/>
                </a:solidFill>
                <a:latin typeface="Calibri" pitchFamily="34" charset="0"/>
                <a:ea typeface="Calibri" pitchFamily="34" charset="-122"/>
                <a:cs typeface="Calibri" pitchFamily="34" charset="-120"/>
              </a:rPr>
              <a:t>Each edit was temporary and reverted; none was committed.</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Live demo: three commands</a:t>
            </a:r>
            <a:endParaRPr lang="en-US" dirty="0"/>
          </a:p>
        </p:txBody>
      </p:sp>
      <p:sp>
        <p:nvSpPr>
          <p:cNvPr id="4" name="demo card 1"/>
          <p:cNvSpPr/>
          <p:nvPr/>
        </p:nvSpPr>
        <p:spPr>
          <a:xfrm>
            <a:off x="548640" y="1417320"/>
            <a:ext cx="3566160" cy="457200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badge 1"/>
          <p:cNvSpPr/>
          <p:nvPr/>
        </p:nvSpPr>
        <p:spPr>
          <a:xfrm>
            <a:off x="777240" y="1600200"/>
            <a:ext cx="548640" cy="548640"/>
          </a:xfrm>
          <a:prstGeom prst="ellipse">
            <a:avLst/>
          </a:prstGeom>
          <a:solidFill>
            <a:schemeClr val="accent1"/>
          </a:solidFill>
          <a:ln w="12700">
            <a:solidFill>
              <a:schemeClr val="accent1"/>
            </a:solidFill>
            <a:prstDash val="solid"/>
          </a:ln>
        </p:spPr>
      </p:sp>
      <p:sp>
        <p:nvSpPr>
          <p:cNvPr id="6" name="Text 3"/>
          <p:cNvSpPr txBox="1"/>
          <p:nvPr/>
        </p:nvSpPr>
        <p:spPr>
          <a:xfrm>
            <a:off x="777240" y="160020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7" name="cmd box 1"/>
          <p:cNvSpPr/>
          <p:nvPr/>
        </p:nvSpPr>
        <p:spPr>
          <a:xfrm>
            <a:off x="777240" y="2331720"/>
            <a:ext cx="3108960" cy="1097280"/>
          </a:xfrm>
          <a:prstGeom prst="roundRect">
            <a:avLst>
              <a:gd name="adj" fmla="val 10000"/>
            </a:avLst>
          </a:prstGeom>
          <a:solidFill>
            <a:schemeClr val="tx1"/>
          </a:solidFill>
          <a:ln w="12700">
            <a:solidFill>
              <a:schemeClr val="tx1"/>
            </a:solidFill>
            <a:prstDash val="solid"/>
          </a:ln>
        </p:spPr>
      </p:sp>
      <p:sp>
        <p:nvSpPr>
          <p:cNvPr id="8" name="cmd 1"/>
          <p:cNvSpPr txBox="1"/>
          <p:nvPr/>
        </p:nvSpPr>
        <p:spPr>
          <a:xfrm>
            <a:off x="914400" y="2423160"/>
            <a:ext cx="2834640" cy="914400"/>
          </a:xfrm>
          <a:prstGeom prst="rect">
            <a:avLst/>
          </a:prstGeom>
          <a:noFill/>
          <a:ln/>
        </p:spPr>
        <p:txBody>
          <a:bodyPr wrap="square" lIns="508" tIns="508" rIns="508" bIns="508" rtlCol="0" anchor="ctr"/>
          <a:lstStyle/>
          <a:p>
            <a:pPr algn="l" indent="0" marL="0">
              <a:buNone/>
            </a:pPr>
            <a:r>
              <a:rPr lang="en-US" sz="1400" dirty="0">
                <a:solidFill>
                  <a:schemeClr val="bg1"/>
                </a:solidFill>
                <a:latin typeface="Consolas" pitchFamily="34" charset="0"/>
                <a:ea typeface="Consolas" pitchFamily="34" charset="-122"/>
                <a:cs typeface="Consolas" pitchFamily="34" charset="-120"/>
              </a:rPr>
              <a:t>npm run killer -- --reporter=verbose</a:t>
            </a:r>
            <a:endParaRPr lang="en-US" sz="1400" dirty="0"/>
          </a:p>
        </p:txBody>
      </p:sp>
      <p:sp>
        <p:nvSpPr>
          <p:cNvPr id="9" name="see label"/>
          <p:cNvSpPr txBox="1"/>
          <p:nvPr/>
        </p:nvSpPr>
        <p:spPr>
          <a:xfrm>
            <a:off x="777240" y="3611880"/>
            <a:ext cx="3108960" cy="274320"/>
          </a:xfrm>
          <a:prstGeom prst="rect">
            <a:avLst/>
          </a:prstGeom>
          <a:noFill/>
          <a:ln/>
        </p:spPr>
        <p:txBody>
          <a:bodyPr wrap="square" lIns="508" tIns="508" rIns="508" bIns="508" rtlCol="0" anchor="t"/>
          <a:lstStyle/>
          <a:p>
            <a:pPr algn="l" indent="0" marL="0">
              <a:buNone/>
            </a:pPr>
            <a:r>
              <a:rPr lang="en-US" sz="1200" b="1" spc="200" kern="0" dirty="0">
                <a:solidFill>
                  <a:schemeClr val="accent4"/>
                </a:solidFill>
                <a:latin typeface="Calibri" pitchFamily="34" charset="0"/>
                <a:ea typeface="Calibri" pitchFamily="34" charset="-122"/>
                <a:cs typeface="Calibri" pitchFamily="34" charset="-120"/>
              </a:rPr>
              <a:t>YOU WILL SEE</a:t>
            </a:r>
            <a:endParaRPr lang="en-US" sz="1200" dirty="0"/>
          </a:p>
        </p:txBody>
      </p:sp>
      <p:sp>
        <p:nvSpPr>
          <p:cNvPr id="10" name="see 1"/>
          <p:cNvSpPr txBox="1"/>
          <p:nvPr/>
        </p:nvSpPr>
        <p:spPr>
          <a:xfrm>
            <a:off x="777240" y="3931920"/>
            <a:ext cx="3108960" cy="155448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Fourteen ✓ lines: last ticket, timer, one scan, and the races across connections.</a:t>
            </a:r>
            <a:endParaRPr lang="en-US" sz="1500" dirty="0"/>
          </a:p>
        </p:txBody>
      </p:sp>
      <p:sp>
        <p:nvSpPr>
          <p:cNvPr id="11" name="time 1"/>
          <p:cNvSpPr txBox="1"/>
          <p:nvPr/>
        </p:nvSpPr>
        <p:spPr>
          <a:xfrm>
            <a:off x="777240" y="5532120"/>
            <a:ext cx="3108960" cy="365760"/>
          </a:xfrm>
          <a:prstGeom prst="rect">
            <a:avLst/>
          </a:prstGeom>
          <a:noFill/>
          <a:ln/>
        </p:spPr>
        <p:txBody>
          <a:bodyPr wrap="square" lIns="508" tIns="508" rIns="508" bIns="508" rtlCol="0" anchor="t"/>
          <a:lstStyle/>
          <a:p>
            <a:pPr algn="l" indent="0" marL="0">
              <a:buNone/>
            </a:pPr>
            <a:r>
              <a:rPr lang="en-US" sz="1400" b="1" dirty="0">
                <a:solidFill>
                  <a:schemeClr val="accent1"/>
                </a:solidFill>
                <a:latin typeface="Calibri" pitchFamily="34" charset="0"/>
                <a:ea typeface="Calibri" pitchFamily="34" charset="-122"/>
                <a:cs typeface="Calibri" pitchFamily="34" charset="-120"/>
              </a:rPr>
              <a:t>5 to 15 seconds</a:t>
            </a:r>
            <a:endParaRPr lang="en-US" sz="1400" dirty="0"/>
          </a:p>
        </p:txBody>
      </p:sp>
      <p:sp>
        <p:nvSpPr>
          <p:cNvPr id="12" name="demo card 2"/>
          <p:cNvSpPr/>
          <p:nvPr/>
        </p:nvSpPr>
        <p:spPr>
          <a:xfrm>
            <a:off x="4297680" y="1417320"/>
            <a:ext cx="3566160" cy="457200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badge 2"/>
          <p:cNvSpPr/>
          <p:nvPr/>
        </p:nvSpPr>
        <p:spPr>
          <a:xfrm>
            <a:off x="4526280" y="1600200"/>
            <a:ext cx="548640" cy="548640"/>
          </a:xfrm>
          <a:prstGeom prst="ellipse">
            <a:avLst/>
          </a:prstGeom>
          <a:solidFill>
            <a:schemeClr val="accent1"/>
          </a:solidFill>
          <a:ln w="12700">
            <a:solidFill>
              <a:schemeClr val="accent1"/>
            </a:solidFill>
            <a:prstDash val="solid"/>
          </a:ln>
        </p:spPr>
      </p:sp>
      <p:sp>
        <p:nvSpPr>
          <p:cNvPr id="14" name="Text 11"/>
          <p:cNvSpPr txBox="1"/>
          <p:nvPr/>
        </p:nvSpPr>
        <p:spPr>
          <a:xfrm>
            <a:off x="4526280" y="160020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15" name="cmd box 2"/>
          <p:cNvSpPr/>
          <p:nvPr/>
        </p:nvSpPr>
        <p:spPr>
          <a:xfrm>
            <a:off x="4526280" y="2331720"/>
            <a:ext cx="3108960" cy="1097280"/>
          </a:xfrm>
          <a:prstGeom prst="roundRect">
            <a:avLst>
              <a:gd name="adj" fmla="val 10000"/>
            </a:avLst>
          </a:prstGeom>
          <a:solidFill>
            <a:schemeClr val="tx1"/>
          </a:solidFill>
          <a:ln w="12700">
            <a:solidFill>
              <a:schemeClr val="tx1"/>
            </a:solidFill>
            <a:prstDash val="solid"/>
          </a:ln>
        </p:spPr>
      </p:sp>
      <p:sp>
        <p:nvSpPr>
          <p:cNvPr id="16" name="cmd 2"/>
          <p:cNvSpPr txBox="1"/>
          <p:nvPr/>
        </p:nvSpPr>
        <p:spPr>
          <a:xfrm>
            <a:off x="4663440" y="2423160"/>
            <a:ext cx="2834640" cy="914400"/>
          </a:xfrm>
          <a:prstGeom prst="rect">
            <a:avLst/>
          </a:prstGeom>
          <a:noFill/>
          <a:ln/>
        </p:spPr>
        <p:txBody>
          <a:bodyPr wrap="square" lIns="508" tIns="508" rIns="508" bIns="508" rtlCol="0" anchor="ctr"/>
          <a:lstStyle/>
          <a:p>
            <a:pPr algn="l" indent="0" marL="0">
              <a:buNone/>
            </a:pPr>
            <a:r>
              <a:rPr lang="en-US" sz="1400" dirty="0">
                <a:solidFill>
                  <a:schemeClr val="bg1"/>
                </a:solidFill>
                <a:latin typeface="Consolas" pitchFamily="34" charset="0"/>
                <a:ea typeface="Consolas" pitchFamily="34" charset="-122"/>
                <a:cs typeface="Consolas" pitchFamily="34" charset="-120"/>
              </a:rPr>
              <a:t>npm run demo</a:t>
            </a:r>
            <a:endParaRPr lang="en-US" sz="1400" dirty="0"/>
          </a:p>
        </p:txBody>
      </p:sp>
      <p:sp>
        <p:nvSpPr>
          <p:cNvPr id="17" name="see label"/>
          <p:cNvSpPr txBox="1"/>
          <p:nvPr/>
        </p:nvSpPr>
        <p:spPr>
          <a:xfrm>
            <a:off x="4526280" y="3611880"/>
            <a:ext cx="3108960" cy="274320"/>
          </a:xfrm>
          <a:prstGeom prst="rect">
            <a:avLst/>
          </a:prstGeom>
          <a:noFill/>
          <a:ln/>
        </p:spPr>
        <p:txBody>
          <a:bodyPr wrap="square" lIns="508" tIns="508" rIns="508" bIns="508" rtlCol="0" anchor="t"/>
          <a:lstStyle/>
          <a:p>
            <a:pPr algn="l" indent="0" marL="0">
              <a:buNone/>
            </a:pPr>
            <a:r>
              <a:rPr lang="en-US" sz="1200" b="1" spc="200" kern="0" dirty="0">
                <a:solidFill>
                  <a:schemeClr val="accent4"/>
                </a:solidFill>
                <a:latin typeface="Calibri" pitchFamily="34" charset="0"/>
                <a:ea typeface="Calibri" pitchFamily="34" charset="-122"/>
                <a:cs typeface="Calibri" pitchFamily="34" charset="-120"/>
              </a:rPr>
              <a:t>YOU WILL SEE</a:t>
            </a:r>
            <a:endParaRPr lang="en-US" sz="1200" dirty="0"/>
          </a:p>
        </p:txBody>
      </p:sp>
      <p:sp>
        <p:nvSpPr>
          <p:cNvPr id="18" name="see 2"/>
          <p:cNvSpPr txBox="1"/>
          <p:nvPr/>
        </p:nvSpPr>
        <p:spPr>
          <a:xfrm>
            <a:off x="4526280" y="3931920"/>
            <a:ext cx="3108960" cy="155448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Ten buyers join a line. The fourth is refused (403 NOT_ADMITTED). The same person under two emails is refused extra tickets (409 BUYER_LIMIT).</a:t>
            </a:r>
            <a:endParaRPr lang="en-US" sz="1500" dirty="0"/>
          </a:p>
        </p:txBody>
      </p:sp>
      <p:sp>
        <p:nvSpPr>
          <p:cNvPr id="19" name="time 2"/>
          <p:cNvSpPr txBox="1"/>
          <p:nvPr/>
        </p:nvSpPr>
        <p:spPr>
          <a:xfrm>
            <a:off x="4526280" y="5532120"/>
            <a:ext cx="3108960" cy="365760"/>
          </a:xfrm>
          <a:prstGeom prst="rect">
            <a:avLst/>
          </a:prstGeom>
          <a:noFill/>
          <a:ln/>
        </p:spPr>
        <p:txBody>
          <a:bodyPr wrap="square" lIns="508" tIns="508" rIns="508" bIns="508" rtlCol="0" anchor="t"/>
          <a:lstStyle/>
          <a:p>
            <a:pPr algn="l" indent="0" marL="0">
              <a:buNone/>
            </a:pPr>
            <a:r>
              <a:rPr lang="en-US" sz="1400" b="1" dirty="0">
                <a:solidFill>
                  <a:schemeClr val="accent1"/>
                </a:solidFill>
                <a:latin typeface="Calibri" pitchFamily="34" charset="0"/>
                <a:ea typeface="Calibri" pitchFamily="34" charset="-122"/>
                <a:cs typeface="Calibri" pitchFamily="34" charset="-120"/>
              </a:rPr>
              <a:t>under 2 seconds</a:t>
            </a:r>
            <a:endParaRPr lang="en-US" sz="1400" dirty="0"/>
          </a:p>
        </p:txBody>
      </p:sp>
      <p:sp>
        <p:nvSpPr>
          <p:cNvPr id="20" name="demo card 3"/>
          <p:cNvSpPr/>
          <p:nvPr/>
        </p:nvSpPr>
        <p:spPr>
          <a:xfrm>
            <a:off x="8046720" y="1417320"/>
            <a:ext cx="3566160" cy="4572000"/>
          </a:xfrm>
          <a:prstGeom prst="roundRect">
            <a:avLst>
              <a:gd name="adj" fmla="val 307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badge 3"/>
          <p:cNvSpPr/>
          <p:nvPr/>
        </p:nvSpPr>
        <p:spPr>
          <a:xfrm>
            <a:off x="8275320" y="1600200"/>
            <a:ext cx="548640" cy="548640"/>
          </a:xfrm>
          <a:prstGeom prst="ellipse">
            <a:avLst/>
          </a:prstGeom>
          <a:solidFill>
            <a:schemeClr val="accent1"/>
          </a:solidFill>
          <a:ln w="12700">
            <a:solidFill>
              <a:schemeClr val="accent1"/>
            </a:solidFill>
            <a:prstDash val="solid"/>
          </a:ln>
        </p:spPr>
      </p:sp>
      <p:sp>
        <p:nvSpPr>
          <p:cNvPr id="22" name="Text 19"/>
          <p:cNvSpPr txBox="1"/>
          <p:nvPr/>
        </p:nvSpPr>
        <p:spPr>
          <a:xfrm>
            <a:off x="8275320" y="160020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23" name="cmd box 3"/>
          <p:cNvSpPr/>
          <p:nvPr/>
        </p:nvSpPr>
        <p:spPr>
          <a:xfrm>
            <a:off x="8275320" y="2331720"/>
            <a:ext cx="3108960" cy="1097280"/>
          </a:xfrm>
          <a:prstGeom prst="roundRect">
            <a:avLst>
              <a:gd name="adj" fmla="val 10000"/>
            </a:avLst>
          </a:prstGeom>
          <a:solidFill>
            <a:schemeClr val="tx1"/>
          </a:solidFill>
          <a:ln w="12700">
            <a:solidFill>
              <a:schemeClr val="tx1"/>
            </a:solidFill>
            <a:prstDash val="solid"/>
          </a:ln>
        </p:spPr>
      </p:sp>
      <p:sp>
        <p:nvSpPr>
          <p:cNvPr id="24" name="cmd 3"/>
          <p:cNvSpPr txBox="1"/>
          <p:nvPr/>
        </p:nvSpPr>
        <p:spPr>
          <a:xfrm>
            <a:off x="8412480" y="2423160"/>
            <a:ext cx="2834640" cy="914400"/>
          </a:xfrm>
          <a:prstGeom prst="rect">
            <a:avLst/>
          </a:prstGeom>
          <a:noFill/>
          <a:ln/>
        </p:spPr>
        <p:txBody>
          <a:bodyPr wrap="square" lIns="508" tIns="508" rIns="508" bIns="508" rtlCol="0" anchor="ctr"/>
          <a:lstStyle/>
          <a:p>
            <a:pPr algn="l" indent="0" marL="0">
              <a:buNone/>
            </a:pPr>
            <a:r>
              <a:rPr lang="en-US" sz="1400" dirty="0">
                <a:solidFill>
                  <a:schemeClr val="bg1"/>
                </a:solidFill>
                <a:latin typeface="Consolas" pitchFamily="34" charset="0"/>
                <a:ea typeface="Consolas" pitchFamily="34" charset="-122"/>
                <a:cs typeface="Consolas" pitchFamily="34" charset="-120"/>
              </a:rPr>
              <a:t>npm run rush</a:t>
            </a:r>
            <a:endParaRPr lang="en-US" sz="1400" dirty="0"/>
          </a:p>
        </p:txBody>
      </p:sp>
      <p:sp>
        <p:nvSpPr>
          <p:cNvPr id="25" name="see label"/>
          <p:cNvSpPr txBox="1"/>
          <p:nvPr/>
        </p:nvSpPr>
        <p:spPr>
          <a:xfrm>
            <a:off x="8275320" y="3611880"/>
            <a:ext cx="3108960" cy="274320"/>
          </a:xfrm>
          <a:prstGeom prst="rect">
            <a:avLst/>
          </a:prstGeom>
          <a:noFill/>
          <a:ln/>
        </p:spPr>
        <p:txBody>
          <a:bodyPr wrap="square" lIns="508" tIns="508" rIns="508" bIns="508" rtlCol="0" anchor="t"/>
          <a:lstStyle/>
          <a:p>
            <a:pPr algn="l" indent="0" marL="0">
              <a:buNone/>
            </a:pPr>
            <a:r>
              <a:rPr lang="en-US" sz="1200" b="1" spc="200" kern="0" dirty="0">
                <a:solidFill>
                  <a:schemeClr val="accent4"/>
                </a:solidFill>
                <a:latin typeface="Calibri" pitchFamily="34" charset="0"/>
                <a:ea typeface="Calibri" pitchFamily="34" charset="-122"/>
                <a:cs typeface="Calibri" pitchFamily="34" charset="-120"/>
              </a:rPr>
              <a:t>YOU WILL SEE</a:t>
            </a:r>
            <a:endParaRPr lang="en-US" sz="1200" dirty="0"/>
          </a:p>
        </p:txBody>
      </p:sp>
      <p:sp>
        <p:nvSpPr>
          <p:cNvPr id="26" name="see 3"/>
          <p:cNvSpPr txBox="1"/>
          <p:nvPr/>
        </p:nvSpPr>
        <p:spPr>
          <a:xfrm>
            <a:off x="8275320" y="3931920"/>
            <a:ext cx="3108960" cy="155448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5,000 buyers, 4,500 seats: 4,500 holds, 500 sold out, invariants ok.</a:t>
            </a:r>
            <a:endParaRPr lang="en-US" sz="1500" dirty="0"/>
          </a:p>
        </p:txBody>
      </p:sp>
      <p:sp>
        <p:nvSpPr>
          <p:cNvPr id="27" name="time 3"/>
          <p:cNvSpPr txBox="1"/>
          <p:nvPr/>
        </p:nvSpPr>
        <p:spPr>
          <a:xfrm>
            <a:off x="8275320" y="5532120"/>
            <a:ext cx="3108960" cy="365760"/>
          </a:xfrm>
          <a:prstGeom prst="rect">
            <a:avLst/>
          </a:prstGeom>
          <a:noFill/>
          <a:ln/>
        </p:spPr>
        <p:txBody>
          <a:bodyPr wrap="square" lIns="508" tIns="508" rIns="508" bIns="508" rtlCol="0" anchor="t"/>
          <a:lstStyle/>
          <a:p>
            <a:pPr algn="l" indent="0" marL="0">
              <a:buNone/>
            </a:pPr>
            <a:r>
              <a:rPr lang="en-US" sz="1400" b="1" dirty="0">
                <a:solidFill>
                  <a:schemeClr val="accent1"/>
                </a:solidFill>
                <a:latin typeface="Calibri" pitchFamily="34" charset="0"/>
                <a:ea typeface="Calibri" pitchFamily="34" charset="-122"/>
                <a:cs typeface="Calibri" pitchFamily="34" charset="-120"/>
              </a:rPr>
              <a:t>5 to 10 seconds</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How we differ from the original</a:t>
            </a:r>
            <a:endParaRPr lang="en-US"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554480"/>
                <a:gridCol w="3017520"/>
                <a:gridCol w="4023360"/>
                <a:gridCol w="2468880"/>
              </a:tblGrid>
              <a:tr h="41148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Area</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Hi.Events (original)</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AtomicPass (ours)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Impact</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r>
              <a:tr h="59436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Last ticket</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accent3"/>
                          </a:solidFill>
                          <a:latin typeface="Calibri" pitchFamily="34" charset="0"/>
                          <a:ea typeface="Calibri" pitchFamily="34" charset="-122"/>
                          <a:cs typeface="Calibri" pitchFamily="34" charset="-120"/>
                        </a:rPr>
                        <a:t>One lock around the whole order</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Short guarded steps on tier and pool</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Contention is a few statements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9436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Holds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accent3"/>
                          </a:solidFill>
                          <a:latin typeface="Calibri" pitchFamily="34" charset="0"/>
                          <a:ea typeface="Calibri" pitchFamily="34" charset="-122"/>
                          <a:cs typeface="Calibri" pitchFamily="34" charset="-120"/>
                        </a:rPr>
                        <a:t>RESERVED order; expiry only ignored</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Real holds, counters, timer, lazy expiry plus sweeper</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Seats come back by themselves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9436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Shared seats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accent3"/>
                          </a:solidFill>
                          <a:latin typeface="Calibri" pitchFamily="34" charset="0"/>
                          <a:ea typeface="Calibri" pitchFamily="34" charset="-122"/>
                          <a:cs typeface="Calibri" pitchFamily="34" charset="-120"/>
                        </a:rPr>
                        <a:t>Check ignores live holds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Tier and pool checked together, with a CHECK backstop</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No oversell across tiers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9436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Gate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accent3"/>
                          </a:solidFill>
                          <a:latin typeface="Calibri" pitchFamily="34" charset="0"/>
                          <a:ea typeface="Calibri" pitchFamily="34" charset="-122"/>
                          <a:cs typeface="Calibri" pitchFamily="34" charset="-120"/>
                        </a:rPr>
                        <a:t>Two paths; admin reads then writes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One conditional update; 128-bit QR token; scan log</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20 scans at once: one in</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9436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Promo codes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accent3"/>
                          </a:solidFill>
                          <a:latin typeface="Calibri" pitchFamily="34" charset="0"/>
                          <a:ea typeface="Calibri" pitchFamily="34" charset="-122"/>
                          <a:cs typeface="Calibri" pitchFamily="34" charset="-120"/>
                        </a:rPr>
                        <a:t>Exhausted code dropped silently</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Counted atomically; clear 422 with reason; use returned</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No price surprise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59436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Fairness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accent3"/>
                          </a:solidFill>
                          <a:latin typeface="Calibri" pitchFamily="34" charset="0"/>
                          <a:ea typeface="Calibri" pitchFamily="34" charset="-122"/>
                          <a:cs typeface="Calibri" pitchFamily="34" charset="-120"/>
                        </a:rPr>
                        <a:t>Per-order cap; per-IP throttle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Waiting room plus per-buyer limit</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Hoarding blocked</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59436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Stack</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accent3"/>
                          </a:solidFill>
                          <a:latin typeface="Calibri" pitchFamily="34" charset="0"/>
                          <a:ea typeface="Calibri" pitchFamily="34" charset="-122"/>
                          <a:cs typeface="Calibri" pitchFamily="34" charset="-120"/>
                        </a:rPr>
                        <a:t>PHP, Postgres, React</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TypeScript, Fastify, one SQLite file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Runs in 5 commands</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5" name="diff note"/>
          <p:cNvSpPr txBox="1"/>
          <p:nvPr/>
        </p:nvSpPr>
        <p:spPr>
          <a:xfrm>
            <a:off x="548640" y="5943600"/>
            <a:ext cx="11064240" cy="411480"/>
          </a:xfrm>
          <a:prstGeom prst="rect">
            <a:avLst/>
          </a:prstGeom>
          <a:noFill/>
          <a:ln/>
        </p:spPr>
        <p:txBody>
          <a:bodyPr wrap="square" lIns="508" tIns="508" rIns="508" bIns="508" rtlCol="0" anchor="t"/>
          <a:lstStyle/>
          <a:p>
            <a:pPr algn="l" indent="0" marL="0">
              <a:buNone/>
            </a:pPr>
            <a:r>
              <a:rPr lang="en-US" sz="1300" i="1" dirty="0">
                <a:solidFill>
                  <a:schemeClr val="accent4"/>
                </a:solidFill>
                <a:latin typeface="Calibri" pitchFamily="34" charset="0"/>
                <a:ea typeface="Calibri" pitchFamily="34" charset="-122"/>
                <a:cs typeface="Calibri" pitchFamily="34" charset="-120"/>
              </a:rPr>
              <a:t>We rebuilt only the ticketing core. Hi.Events does much more (seating, emails, many event types).</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What big platforms do, and where we stand</a:t>
            </a:r>
            <a:endParaRPr lang="en-US"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4389120"/>
                <a:gridCol w="2651760"/>
                <a:gridCol w="1371600"/>
              </a:tblGrid>
              <a:tr h="41148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Technique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How big platforms do it</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AtomicPass today</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Where</a:t>
                      </a:r>
                      <a:endParaRPr lang="en-US" sz="13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tx1"/>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Temporary seat hold</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Held for minutes, booked only after payment</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Same idea</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Keep</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Fast lock in Redis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“Set if not exists” with a timer; first request wins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Built in Live (stand-in only)</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Live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Database as final judge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If the cache is wrong, the database refuses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Yes (CHECK plus guards)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Keep</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Cached reads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Seat maps served from caches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Built in Live, 1 s cache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Live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More servers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Add servers behind load balancers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Two-process test in Live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Live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Virtual waiting room</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First come queue; admit N by capacity; signed pass</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Built in Live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Live</a:t>
                      </a:r>
                      <a:endParaRPr lang="en-US" sz="1400" dirty="0">
                        <a:latin typeface="Calibri" charset="0"/>
                        <a:ea typeface="Calibri" charset="0"/>
                        <a:cs typeface="Calibri"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5" name="sources note"/>
          <p:cNvSpPr txBox="1"/>
          <p:nvPr/>
        </p:nvSpPr>
        <p:spPr>
          <a:xfrm>
            <a:off x="548640" y="5852160"/>
            <a:ext cx="11064240" cy="502920"/>
          </a:xfrm>
          <a:prstGeom prst="rect">
            <a:avLst/>
          </a:prstGeom>
          <a:noFill/>
          <a:ln/>
        </p:spPr>
        <p:txBody>
          <a:bodyPr wrap="square" lIns="508" tIns="508" rIns="508" bIns="508" rtlCol="0" anchor="t"/>
          <a:lstStyle/>
          <a:p>
            <a:pPr algn="l" indent="0" marL="0">
              <a:buNone/>
            </a:pPr>
            <a:r>
              <a:rPr lang="en-US" sz="1300" i="1" dirty="0">
                <a:solidFill>
                  <a:schemeClr val="accent4"/>
                </a:solidFill>
                <a:latin typeface="Calibri" pitchFamily="34" charset="0"/>
                <a:ea typeface="Calibri" pitchFamily="34" charset="-122"/>
                <a:cs typeface="Calibri" pitchFamily="34" charset="-120"/>
              </a:rPr>
              <a:t>Source: public system-design explainers (Educative, singhajit.com, DEV Community, techinterview.org) and Ticketmaster / Queue-it pages. Not official internals of BookMyShow or District.</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We built the next level: AtomicPass Live</a:t>
            </a:r>
            <a:endParaRPr lang="en-US" dirty="0"/>
          </a:p>
        </p:txBody>
      </p:sp>
      <p:sp>
        <p:nvSpPr>
          <p:cNvPr id="4" name="status banner"/>
          <p:cNvSpPr/>
          <p:nvPr/>
        </p:nvSpPr>
        <p:spPr>
          <a:xfrm>
            <a:off x="548640" y="1325880"/>
            <a:ext cx="11064240" cy="566928"/>
          </a:xfrm>
          <a:prstGeom prst="roundRect">
            <a:avLst>
              <a:gd name="adj" fmla="val 19355"/>
            </a:avLst>
          </a:prstGeom>
          <a:solidFill>
            <a:schemeClr val="accent6"/>
          </a:solidFill>
          <a:ln w="12700">
            <a:solidFill>
              <a:schemeClr val="accent6"/>
            </a:solidFill>
            <a:prstDash val="solid"/>
          </a:ln>
        </p:spPr>
      </p:sp>
      <p:sp>
        <p:nvSpPr>
          <p:cNvPr id="5" name="status text"/>
          <p:cNvSpPr txBox="1"/>
          <p:nvPr/>
        </p:nvSpPr>
        <p:spPr>
          <a:xfrm>
            <a:off x="777240" y="1417320"/>
            <a:ext cx="10607040" cy="384048"/>
          </a:xfrm>
          <a:prstGeom prst="rect">
            <a:avLst/>
          </a:prstGeom>
          <a:noFill/>
          <a:ln/>
        </p:spPr>
        <p:txBody>
          <a:bodyPr wrap="square" lIns="508" tIns="508" rIns="508" bIns="508" rtlCol="0" anchor="ctr"/>
          <a:lstStyle/>
          <a:p>
            <a:pPr algn="l" indent="0" marL="0">
              <a:buNone/>
            </a:pPr>
            <a:r>
              <a:rPr lang="en-US" sz="1700" b="1" dirty="0">
                <a:solidFill>
                  <a:schemeClr val="bg1"/>
                </a:solidFill>
                <a:latin typeface="Calibri" pitchFamily="34" charset="0"/>
                <a:ea typeface="Calibri" pitchFamily="34" charset="-122"/>
                <a:cs typeface="Calibri" pitchFamily="34" charset="-120"/>
              </a:rPr>
              <a:t>Separate folder, after the submission. Backend and tests only: no screens, simulated payments.</a:t>
            </a:r>
            <a:endParaRPr lang="en-US" sz="1700" dirty="0"/>
          </a:p>
        </p:txBody>
      </p:sp>
      <p:sp>
        <p:nvSpPr>
          <p:cNvPr id="6" name="live card 1"/>
          <p:cNvSpPr/>
          <p:nvPr/>
        </p:nvSpPr>
        <p:spPr>
          <a:xfrm>
            <a:off x="548640" y="2103120"/>
            <a:ext cx="356616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badge 1"/>
          <p:cNvSpPr/>
          <p:nvPr/>
        </p:nvSpPr>
        <p:spPr>
          <a:xfrm>
            <a:off x="731520" y="2267712"/>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731520" y="22677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9" name="live Many servers"/>
          <p:cNvSpPr txBox="1"/>
          <p:nvPr/>
        </p:nvSpPr>
        <p:spPr>
          <a:xfrm>
            <a:off x="1325880" y="2286000"/>
            <a:ext cx="2651760" cy="4572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Many servers</a:t>
            </a:r>
            <a:endParaRPr lang="en-US" sz="1800" dirty="0"/>
          </a:p>
        </p:txBody>
      </p:sp>
      <p:sp>
        <p:nvSpPr>
          <p:cNvPr id="10" name="live text 1"/>
          <p:cNvSpPr txBox="1"/>
          <p:nvPr/>
        </p:nvSpPr>
        <p:spPr>
          <a:xfrm>
            <a:off x="731520" y="2880360"/>
            <a:ext cx="3200400" cy="100584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PostgreSQL instead of one file. Locks always taken in the same order; a deadlock is retried.</a:t>
            </a:r>
            <a:endParaRPr lang="en-US" sz="1500" dirty="0"/>
          </a:p>
        </p:txBody>
      </p:sp>
      <p:sp>
        <p:nvSpPr>
          <p:cNvPr id="11" name="live card 2"/>
          <p:cNvSpPr/>
          <p:nvPr/>
        </p:nvSpPr>
        <p:spPr>
          <a:xfrm>
            <a:off x="4297680" y="2103120"/>
            <a:ext cx="356616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badge 2"/>
          <p:cNvSpPr/>
          <p:nvPr/>
        </p:nvSpPr>
        <p:spPr>
          <a:xfrm>
            <a:off x="4480560" y="2267712"/>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4480560" y="22677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4" name="live A product shape"/>
          <p:cNvSpPr txBox="1"/>
          <p:nvPr/>
        </p:nvSpPr>
        <p:spPr>
          <a:xfrm>
            <a:off x="5074920" y="2286000"/>
            <a:ext cx="2651760" cy="4572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A product shape</a:t>
            </a:r>
            <a:endParaRPr lang="en-US" sz="1800" dirty="0"/>
          </a:p>
        </p:txBody>
      </p:sp>
      <p:sp>
        <p:nvSpPr>
          <p:cNvPr id="15" name="live text 2"/>
          <p:cNvSpPr txBox="1"/>
          <p:nvPr/>
        </p:nvSpPr>
        <p:spPr>
          <a:xfrm>
            <a:off x="4480560" y="2880360"/>
            <a:ext cx="3200400" cy="100584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Phone login, catalogue by city, reserved seats, buyer cancel, organiser and gate tools.</a:t>
            </a:r>
            <a:endParaRPr lang="en-US" sz="1500" dirty="0"/>
          </a:p>
        </p:txBody>
      </p:sp>
      <p:sp>
        <p:nvSpPr>
          <p:cNvPr id="16" name="live card 3"/>
          <p:cNvSpPr/>
          <p:nvPr/>
        </p:nvSpPr>
        <p:spPr>
          <a:xfrm>
            <a:off x="8046720" y="2103120"/>
            <a:ext cx="356616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7" name="badge 3"/>
          <p:cNvSpPr/>
          <p:nvPr/>
        </p:nvSpPr>
        <p:spPr>
          <a:xfrm>
            <a:off x="8229600" y="2267712"/>
            <a:ext cx="457200" cy="457200"/>
          </a:xfrm>
          <a:prstGeom prst="ellipse">
            <a:avLst/>
          </a:prstGeom>
          <a:solidFill>
            <a:schemeClr val="accent1"/>
          </a:solidFill>
          <a:ln w="12700">
            <a:solidFill>
              <a:schemeClr val="accent1"/>
            </a:solidFill>
            <a:prstDash val="solid"/>
          </a:ln>
        </p:spPr>
      </p:sp>
      <p:sp>
        <p:nvSpPr>
          <p:cNvPr id="18" name="Text 15"/>
          <p:cNvSpPr txBox="1"/>
          <p:nvPr/>
        </p:nvSpPr>
        <p:spPr>
          <a:xfrm>
            <a:off x="8229600" y="22677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19" name="live Real money handling"/>
          <p:cNvSpPr txBox="1"/>
          <p:nvPr/>
        </p:nvSpPr>
        <p:spPr>
          <a:xfrm>
            <a:off x="8823960" y="2286000"/>
            <a:ext cx="2651760" cy="4572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Real money handling</a:t>
            </a:r>
            <a:endParaRPr lang="en-US" sz="1800" dirty="0"/>
          </a:p>
        </p:txBody>
      </p:sp>
      <p:sp>
        <p:nvSpPr>
          <p:cNvPr id="20" name="live text 3"/>
          <p:cNvSpPr txBox="1"/>
          <p:nvPr/>
        </p:nvSpPr>
        <p:spPr>
          <a:xfrm>
            <a:off x="8229600" y="2880360"/>
            <a:ext cx="3200400" cy="100584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A paying state, signed repeat-safe webhooks, automatic refund for late payments.</a:t>
            </a:r>
            <a:endParaRPr lang="en-US" sz="1500" dirty="0"/>
          </a:p>
        </p:txBody>
      </p:sp>
      <p:sp>
        <p:nvSpPr>
          <p:cNvPr id="21" name="live card 4"/>
          <p:cNvSpPr/>
          <p:nvPr/>
        </p:nvSpPr>
        <p:spPr>
          <a:xfrm>
            <a:off x="548640" y="4160520"/>
            <a:ext cx="356616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badge 4"/>
          <p:cNvSpPr/>
          <p:nvPr/>
        </p:nvSpPr>
        <p:spPr>
          <a:xfrm>
            <a:off x="731520" y="4325112"/>
            <a:ext cx="457200" cy="457200"/>
          </a:xfrm>
          <a:prstGeom prst="ellipse">
            <a:avLst/>
          </a:prstGeom>
          <a:solidFill>
            <a:schemeClr val="accent1"/>
          </a:solidFill>
          <a:ln w="12700">
            <a:solidFill>
              <a:schemeClr val="accent1"/>
            </a:solidFill>
            <a:prstDash val="solid"/>
          </a:ln>
        </p:spPr>
      </p:sp>
      <p:sp>
        <p:nvSpPr>
          <p:cNvPr id="23" name="Text 20"/>
          <p:cNvSpPr txBox="1"/>
          <p:nvPr/>
        </p:nvSpPr>
        <p:spPr>
          <a:xfrm>
            <a:off x="731520" y="43251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4" name="live A shield in front"/>
          <p:cNvSpPr txBox="1"/>
          <p:nvPr/>
        </p:nvSpPr>
        <p:spPr>
          <a:xfrm>
            <a:off x="1325880" y="4343400"/>
            <a:ext cx="2651760" cy="4572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A shield in front</a:t>
            </a:r>
            <a:endParaRPr lang="en-US" sz="1800" dirty="0"/>
          </a:p>
        </p:txBody>
      </p:sp>
      <p:sp>
        <p:nvSpPr>
          <p:cNvPr id="25" name="live text 4"/>
          <p:cNvSpPr txBox="1"/>
          <p:nvPr/>
        </p:nvSpPr>
        <p:spPr>
          <a:xfrm>
            <a:off x="731520" y="4937760"/>
            <a:ext cx="3200400" cy="100584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A Redis-style counter turns away obvious losers. The database still decides.</a:t>
            </a:r>
            <a:endParaRPr lang="en-US" sz="1500" dirty="0"/>
          </a:p>
        </p:txBody>
      </p:sp>
      <p:sp>
        <p:nvSpPr>
          <p:cNvPr id="26" name="live card 5"/>
          <p:cNvSpPr/>
          <p:nvPr/>
        </p:nvSpPr>
        <p:spPr>
          <a:xfrm>
            <a:off x="4297680" y="4160520"/>
            <a:ext cx="356616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7" name="badge 5"/>
          <p:cNvSpPr/>
          <p:nvPr/>
        </p:nvSpPr>
        <p:spPr>
          <a:xfrm>
            <a:off x="4480560" y="4325112"/>
            <a:ext cx="457200" cy="457200"/>
          </a:xfrm>
          <a:prstGeom prst="ellipse">
            <a:avLst/>
          </a:prstGeom>
          <a:solidFill>
            <a:schemeClr val="accent1"/>
          </a:solidFill>
          <a:ln w="12700">
            <a:solidFill>
              <a:schemeClr val="accent1"/>
            </a:solidFill>
            <a:prstDash val="solid"/>
          </a:ln>
        </p:spPr>
      </p:sp>
      <p:sp>
        <p:nvSpPr>
          <p:cNvPr id="28" name="Text 25"/>
          <p:cNvSpPr txBox="1"/>
          <p:nvPr/>
        </p:nvSpPr>
        <p:spPr>
          <a:xfrm>
            <a:off x="4480560" y="43251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5</a:t>
            </a:r>
            <a:endParaRPr lang="en-US" sz="1600" dirty="0"/>
          </a:p>
        </p:txBody>
      </p:sp>
      <p:sp>
        <p:nvSpPr>
          <p:cNvPr id="29" name="live A fair waiting room"/>
          <p:cNvSpPr txBox="1"/>
          <p:nvPr/>
        </p:nvSpPr>
        <p:spPr>
          <a:xfrm>
            <a:off x="5074920" y="4343400"/>
            <a:ext cx="2651760" cy="4572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A fair waiting room</a:t>
            </a:r>
            <a:endParaRPr lang="en-US" sz="1800" dirty="0"/>
          </a:p>
        </p:txBody>
      </p:sp>
      <p:sp>
        <p:nvSpPr>
          <p:cNvPr id="30" name="live text 5"/>
          <p:cNvSpPr txBox="1"/>
          <p:nvPr/>
        </p:nvSpPr>
        <p:spPr>
          <a:xfrm>
            <a:off x="4480560" y="4937760"/>
            <a:ext cx="3200400" cy="100584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Paced by seats left. Signed passes are checked without the database.</a:t>
            </a:r>
            <a:endParaRPr lang="en-US" sz="1500" dirty="0"/>
          </a:p>
        </p:txBody>
      </p:sp>
      <p:sp>
        <p:nvSpPr>
          <p:cNvPr id="31" name="live card 6"/>
          <p:cNvSpPr/>
          <p:nvPr/>
        </p:nvSpPr>
        <p:spPr>
          <a:xfrm>
            <a:off x="8046720" y="4160520"/>
            <a:ext cx="356616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2" name="badge 6"/>
          <p:cNvSpPr/>
          <p:nvPr/>
        </p:nvSpPr>
        <p:spPr>
          <a:xfrm>
            <a:off x="8229600" y="4325112"/>
            <a:ext cx="457200" cy="457200"/>
          </a:xfrm>
          <a:prstGeom prst="ellipse">
            <a:avLst/>
          </a:prstGeom>
          <a:solidFill>
            <a:schemeClr val="accent1"/>
          </a:solidFill>
          <a:ln w="12700">
            <a:solidFill>
              <a:schemeClr val="accent1"/>
            </a:solidFill>
            <a:prstDash val="solid"/>
          </a:ln>
        </p:spPr>
      </p:sp>
      <p:sp>
        <p:nvSpPr>
          <p:cNvPr id="33" name="Text 30"/>
          <p:cNvSpPr txBox="1"/>
          <p:nvPr/>
        </p:nvSpPr>
        <p:spPr>
          <a:xfrm>
            <a:off x="8229600" y="43251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6</a:t>
            </a:r>
            <a:endParaRPr lang="en-US" sz="1600" dirty="0"/>
          </a:p>
        </p:txBody>
      </p:sp>
      <p:sp>
        <p:nvSpPr>
          <p:cNvPr id="34" name="live Operations"/>
          <p:cNvSpPr txBox="1"/>
          <p:nvPr/>
        </p:nvSpPr>
        <p:spPr>
          <a:xfrm>
            <a:off x="8823960" y="4343400"/>
            <a:ext cx="2651760" cy="457200"/>
          </a:xfrm>
          <a:prstGeom prst="rect">
            <a:avLst/>
          </a:prstGeom>
          <a:noFill/>
          <a:ln/>
        </p:spPr>
        <p:txBody>
          <a:bodyPr wrap="square" lIns="508" tIns="508" rIns="508" bIns="508" rtlCol="0" anchor="t"/>
          <a:lstStyle/>
          <a:p>
            <a:pPr algn="l" indent="0" marL="0">
              <a:buNone/>
            </a:pPr>
            <a:r>
              <a:rPr lang="en-US" sz="1800" b="1" dirty="0">
                <a:solidFill>
                  <a:schemeClr val="tx1"/>
                </a:solidFill>
                <a:latin typeface="Cambria" pitchFamily="34" charset="0"/>
                <a:ea typeface="Cambria" pitchFamily="34" charset="-122"/>
                <a:cs typeface="Cambria" pitchFamily="34" charset="-120"/>
              </a:rPr>
              <a:t>Operations</a:t>
            </a:r>
            <a:endParaRPr lang="en-US" sz="1800" dirty="0"/>
          </a:p>
        </p:txBody>
      </p:sp>
      <p:sp>
        <p:nvSpPr>
          <p:cNvPr id="35" name="live text 6"/>
          <p:cNvSpPr txBox="1"/>
          <p:nvPr/>
        </p:nvSpPr>
        <p:spPr>
          <a:xfrm>
            <a:off x="8229600" y="4937760"/>
            <a:ext cx="3200400" cy="100584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Health pages, metrics, and the self-check now covering seats, payments and refunds.</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AtomicPass Live: the architecture</a:t>
            </a:r>
            <a:endParaRPr lang="en-US" dirty="0"/>
          </a:p>
        </p:txBody>
      </p:sp>
      <p:sp>
        <p:nvSpPr>
          <p:cNvPr id="4" name="box Buyer"/>
          <p:cNvSpPr/>
          <p:nvPr/>
        </p:nvSpPr>
        <p:spPr>
          <a:xfrm>
            <a:off x="548640" y="1417320"/>
            <a:ext cx="1920240" cy="914400"/>
          </a:xfrm>
          <a:prstGeom prst="roundRect">
            <a:avLst>
              <a:gd name="adj" fmla="val 12000"/>
            </a:avLst>
          </a:prstGeom>
          <a:solidFill>
            <a:schemeClr val="bg2"/>
          </a:solidFill>
          <a:ln w="12700">
            <a:solidFill>
              <a:schemeClr val="bg2"/>
            </a:solidFill>
            <a:prstDash val="solid"/>
          </a:ln>
        </p:spPr>
      </p:sp>
      <p:sp>
        <p:nvSpPr>
          <p:cNvPr id="5" name="box title Buyer"/>
          <p:cNvSpPr txBox="1"/>
          <p:nvPr/>
        </p:nvSpPr>
        <p:spPr>
          <a:xfrm>
            <a:off x="685800" y="1508760"/>
            <a:ext cx="1645920" cy="731520"/>
          </a:xfrm>
          <a:prstGeom prst="rect">
            <a:avLst/>
          </a:prstGeom>
          <a:noFill/>
          <a:ln/>
        </p:spPr>
        <p:txBody>
          <a:bodyPr wrap="square" lIns="508" tIns="508" rIns="508" bIns="508"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Buyer</a:t>
            </a:r>
            <a:endParaRPr lang="en-US" sz="1600" dirty="0"/>
          </a:p>
        </p:txBody>
      </p:sp>
      <p:sp>
        <p:nvSpPr>
          <p:cNvPr id="6" name="client arrow"/>
          <p:cNvSpPr/>
          <p:nvPr/>
        </p:nvSpPr>
        <p:spPr>
          <a:xfrm>
            <a:off x="2468880" y="1874520"/>
            <a:ext cx="640080" cy="0"/>
          </a:xfrm>
          <a:prstGeom prst="line">
            <a:avLst/>
          </a:prstGeom>
          <a:noFill/>
          <a:ln w="28575">
            <a:solidFill>
              <a:schemeClr val="accent4"/>
            </a:solidFill>
            <a:prstDash val="solid"/>
            <a:tailEnd type="triangle"/>
          </a:ln>
        </p:spPr>
      </p:sp>
      <p:sp>
        <p:nvSpPr>
          <p:cNvPr id="7" name="box Organiser"/>
          <p:cNvSpPr/>
          <p:nvPr/>
        </p:nvSpPr>
        <p:spPr>
          <a:xfrm>
            <a:off x="548640" y="2606040"/>
            <a:ext cx="1920240" cy="914400"/>
          </a:xfrm>
          <a:prstGeom prst="roundRect">
            <a:avLst>
              <a:gd name="adj" fmla="val 12000"/>
            </a:avLst>
          </a:prstGeom>
          <a:solidFill>
            <a:schemeClr val="bg2"/>
          </a:solidFill>
          <a:ln w="12700">
            <a:solidFill>
              <a:schemeClr val="bg2"/>
            </a:solidFill>
            <a:prstDash val="solid"/>
          </a:ln>
        </p:spPr>
      </p:sp>
      <p:sp>
        <p:nvSpPr>
          <p:cNvPr id="8" name="box title Organiser"/>
          <p:cNvSpPr txBox="1"/>
          <p:nvPr/>
        </p:nvSpPr>
        <p:spPr>
          <a:xfrm>
            <a:off x="685800" y="2697480"/>
            <a:ext cx="1645920" cy="731520"/>
          </a:xfrm>
          <a:prstGeom prst="rect">
            <a:avLst/>
          </a:prstGeom>
          <a:noFill/>
          <a:ln/>
        </p:spPr>
        <p:txBody>
          <a:bodyPr wrap="square" lIns="508" tIns="508" rIns="508" bIns="508"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Organiser</a:t>
            </a:r>
            <a:endParaRPr lang="en-US" sz="1600" dirty="0"/>
          </a:p>
        </p:txBody>
      </p:sp>
      <p:sp>
        <p:nvSpPr>
          <p:cNvPr id="9" name="client arrow"/>
          <p:cNvSpPr/>
          <p:nvPr/>
        </p:nvSpPr>
        <p:spPr>
          <a:xfrm>
            <a:off x="2468880" y="3063240"/>
            <a:ext cx="640080" cy="0"/>
          </a:xfrm>
          <a:prstGeom prst="line">
            <a:avLst/>
          </a:prstGeom>
          <a:noFill/>
          <a:ln w="28575">
            <a:solidFill>
              <a:schemeClr val="accent4"/>
            </a:solidFill>
            <a:prstDash val="solid"/>
            <a:tailEnd type="triangle"/>
          </a:ln>
        </p:spPr>
      </p:sp>
      <p:sp>
        <p:nvSpPr>
          <p:cNvPr id="10" name="box Gate scanner"/>
          <p:cNvSpPr/>
          <p:nvPr/>
        </p:nvSpPr>
        <p:spPr>
          <a:xfrm>
            <a:off x="548640" y="3794760"/>
            <a:ext cx="1920240" cy="914400"/>
          </a:xfrm>
          <a:prstGeom prst="roundRect">
            <a:avLst>
              <a:gd name="adj" fmla="val 12000"/>
            </a:avLst>
          </a:prstGeom>
          <a:solidFill>
            <a:schemeClr val="bg2"/>
          </a:solidFill>
          <a:ln w="12700">
            <a:solidFill>
              <a:schemeClr val="bg2"/>
            </a:solidFill>
            <a:prstDash val="solid"/>
          </a:ln>
        </p:spPr>
      </p:sp>
      <p:sp>
        <p:nvSpPr>
          <p:cNvPr id="11" name="box title Gate scanner"/>
          <p:cNvSpPr txBox="1"/>
          <p:nvPr/>
        </p:nvSpPr>
        <p:spPr>
          <a:xfrm>
            <a:off x="685800" y="3886200"/>
            <a:ext cx="1645920" cy="731520"/>
          </a:xfrm>
          <a:prstGeom prst="rect">
            <a:avLst/>
          </a:prstGeom>
          <a:noFill/>
          <a:ln/>
        </p:spPr>
        <p:txBody>
          <a:bodyPr wrap="square" lIns="508" tIns="508" rIns="508" bIns="508" rtlCol="0" anchor="t"/>
          <a:lstStyle/>
          <a:p>
            <a:pPr algn="l" indent="0" marL="0">
              <a:buNone/>
            </a:pPr>
            <a:r>
              <a:rPr lang="en-US" sz="1600" b="1" dirty="0">
                <a:solidFill>
                  <a:schemeClr val="tx1"/>
                </a:solidFill>
                <a:latin typeface="Cambria" pitchFamily="34" charset="0"/>
                <a:ea typeface="Cambria" pitchFamily="34" charset="-122"/>
                <a:cs typeface="Cambria" pitchFamily="34" charset="-120"/>
              </a:rPr>
              <a:t>Gate scanner</a:t>
            </a:r>
            <a:endParaRPr lang="en-US" sz="1600" dirty="0"/>
          </a:p>
        </p:txBody>
      </p:sp>
      <p:sp>
        <p:nvSpPr>
          <p:cNvPr id="12" name="client arrow"/>
          <p:cNvSpPr/>
          <p:nvPr/>
        </p:nvSpPr>
        <p:spPr>
          <a:xfrm>
            <a:off x="2468880" y="4251960"/>
            <a:ext cx="640080" cy="0"/>
          </a:xfrm>
          <a:prstGeom prst="line">
            <a:avLst/>
          </a:prstGeom>
          <a:noFill/>
          <a:ln w="28575">
            <a:solidFill>
              <a:schemeClr val="accent4"/>
            </a:solidFill>
            <a:prstDash val="solid"/>
            <a:tailEnd type="triangle"/>
          </a:ln>
        </p:spPr>
      </p:sp>
      <p:sp>
        <p:nvSpPr>
          <p:cNvPr id="13" name="box API server (many copies)"/>
          <p:cNvSpPr/>
          <p:nvPr/>
        </p:nvSpPr>
        <p:spPr>
          <a:xfrm>
            <a:off x="3108960" y="1325880"/>
            <a:ext cx="4206240" cy="3611880"/>
          </a:xfrm>
          <a:prstGeom prst="roundRect">
            <a:avLst>
              <a:gd name="adj" fmla="val 3038"/>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4" name="box title API server (many copies)"/>
          <p:cNvSpPr txBox="1"/>
          <p:nvPr/>
        </p:nvSpPr>
        <p:spPr>
          <a:xfrm>
            <a:off x="3246120" y="1417320"/>
            <a:ext cx="3931920" cy="548640"/>
          </a:xfrm>
          <a:prstGeom prst="rect">
            <a:avLst/>
          </a:prstGeom>
          <a:noFill/>
          <a:ln/>
        </p:spPr>
        <p:txBody>
          <a:bodyPr wrap="square" lIns="508" tIns="508" rIns="508" bIns="508" rtlCol="0" anchor="t"/>
          <a:lstStyle/>
          <a:p>
            <a:pPr algn="l" indent="0" marL="0">
              <a:buNone/>
            </a:pPr>
            <a:r>
              <a:rPr lang="en-US" sz="1800" b="1" dirty="0">
                <a:solidFill>
                  <a:schemeClr val="bg1"/>
                </a:solidFill>
                <a:latin typeface="Cambria" pitchFamily="34" charset="0"/>
                <a:ea typeface="Cambria" pitchFamily="34" charset="-122"/>
                <a:cs typeface="Cambria" pitchFamily="34" charset="-120"/>
              </a:rPr>
              <a:t>API server (many copies)</a:t>
            </a:r>
            <a:endParaRPr lang="en-US" sz="1800" dirty="0"/>
          </a:p>
        </p:txBody>
      </p:sp>
      <p:sp>
        <p:nvSpPr>
          <p:cNvPr id="15" name="box text API server (many copies)"/>
          <p:cNvSpPr txBox="1"/>
          <p:nvPr/>
        </p:nvSpPr>
        <p:spPr>
          <a:xfrm>
            <a:off x="3246120" y="1965960"/>
            <a:ext cx="3931920" cy="2880360"/>
          </a:xfrm>
          <a:prstGeom prst="rect">
            <a:avLst/>
          </a:prstGeom>
          <a:noFill/>
          <a:ln/>
        </p:spPr>
        <p:txBody>
          <a:bodyPr wrap="square" lIns="508" tIns="508" rIns="508" bIns="508" rtlCol="0" anchor="t"/>
          <a:lstStyle/>
          <a:p>
            <a:pPr algn="l" indent="0" marL="0">
              <a:buNone/>
            </a:pPr>
            <a:r>
              <a:rPr lang="en-US" sz="1500" dirty="0">
                <a:solidFill>
                  <a:schemeClr val="bg2"/>
                </a:solidFill>
                <a:latin typeface="Calibri" pitchFamily="34" charset="0"/>
                <a:ea typeface="Calibri" pitchFamily="34" charset="-122"/>
                <a:cs typeface="Calibri" pitchFamily="34" charset="-120"/>
              </a:rPr>
              <a:t>Login: phone and one-time code</a:t>
            </a:r>
            <a:endParaRPr lang="en-US" sz="1500" dirty="0"/>
          </a:p>
          <a:p>
            <a:pPr algn="l" indent="0" marL="0">
              <a:buNone/>
            </a:pPr>
            <a:r>
              <a:rPr lang="en-US" sz="1500" dirty="0">
                <a:solidFill>
                  <a:schemeClr val="bg2"/>
                </a:solidFill>
                <a:latin typeface="Calibri" pitchFamily="34" charset="0"/>
                <a:ea typeface="Calibri" pitchFamily="34" charset="-122"/>
                <a:cs typeface="Calibri" pitchFamily="34" charset="-120"/>
              </a:rPr>
              <a:t>Catalogue and seat map</a:t>
            </a:r>
            <a:endParaRPr lang="en-US" sz="1500" dirty="0"/>
          </a:p>
          <a:p>
            <a:pPr algn="l" indent="0" marL="0">
              <a:buNone/>
            </a:pPr>
            <a:r>
              <a:rPr lang="en-US" sz="1500" dirty="0">
                <a:solidFill>
                  <a:schemeClr val="bg2"/>
                </a:solidFill>
                <a:latin typeface="Calibri" pitchFamily="34" charset="0"/>
                <a:ea typeface="Calibri" pitchFamily="34" charset="-122"/>
                <a:cs typeface="Calibri" pitchFamily="34" charset="-120"/>
              </a:rPr>
              <a:t>Holds, checkout, waiting room</a:t>
            </a:r>
            <a:endParaRPr lang="en-US" sz="1500" dirty="0"/>
          </a:p>
          <a:p>
            <a:pPr algn="l" indent="0" marL="0">
              <a:buNone/>
            </a:pPr>
            <a:r>
              <a:rPr lang="en-US" sz="1500" dirty="0">
                <a:solidFill>
                  <a:schemeClr val="bg2"/>
                </a:solidFill>
                <a:latin typeface="Calibri" pitchFamily="34" charset="0"/>
                <a:ea typeface="Calibri" pitchFamily="34" charset="-122"/>
                <a:cs typeface="Calibri" pitchFamily="34" charset="-120"/>
              </a:rPr>
              <a:t>Signed webhooks and refunds</a:t>
            </a:r>
            <a:endParaRPr lang="en-US" sz="1500" dirty="0"/>
          </a:p>
          <a:p>
            <a:pPr algn="l" indent="0" marL="0">
              <a:buNone/>
            </a:pPr>
            <a:r>
              <a:rPr lang="en-US" sz="1500" dirty="0">
                <a:solidFill>
                  <a:schemeClr val="bg2"/>
                </a:solidFill>
                <a:latin typeface="Calibri" pitchFamily="34" charset="0"/>
                <a:ea typeface="Calibri" pitchFamily="34" charset="-122"/>
                <a:cs typeface="Calibri" pitchFamily="34" charset="-120"/>
              </a:rPr>
              <a:t>Organiser and gate tools</a:t>
            </a:r>
            <a:endParaRPr lang="en-US" sz="1500" dirty="0"/>
          </a:p>
          <a:p>
            <a:pPr algn="l" indent="0" marL="0">
              <a:buNone/>
            </a:pPr>
            <a:r>
              <a:rPr lang="en-US" sz="1500" dirty="0">
                <a:solidFill>
                  <a:schemeClr val="bg2"/>
                </a:solidFill>
                <a:latin typeface="Calibri" pitchFamily="34" charset="0"/>
                <a:ea typeface="Calibri" pitchFamily="34" charset="-122"/>
                <a:cs typeface="Calibri" pitchFamily="34" charset="-120"/>
              </a:rPr>
              <a:t>Health, metrics, the audit</a:t>
            </a:r>
            <a:endParaRPr lang="en-US" sz="1500" dirty="0"/>
          </a:p>
        </p:txBody>
      </p:sp>
      <p:sp>
        <p:nvSpPr>
          <p:cNvPr id="16" name="box Redis (free tier later)"/>
          <p:cNvSpPr/>
          <p:nvPr/>
        </p:nvSpPr>
        <p:spPr>
          <a:xfrm>
            <a:off x="7955280" y="1325880"/>
            <a:ext cx="3657600" cy="1600200"/>
          </a:xfrm>
          <a:prstGeom prst="roundRect">
            <a:avLst>
              <a:gd name="adj" fmla="val 68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7" name="box title Redis (free tier later)"/>
          <p:cNvSpPr txBox="1"/>
          <p:nvPr/>
        </p:nvSpPr>
        <p:spPr>
          <a:xfrm>
            <a:off x="8092440" y="1417320"/>
            <a:ext cx="3383280" cy="41148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Redis (free tier later)</a:t>
            </a:r>
            <a:endParaRPr lang="en-US" sz="1700" dirty="0"/>
          </a:p>
        </p:txBody>
      </p:sp>
      <p:sp>
        <p:nvSpPr>
          <p:cNvPr id="18" name="box text Redis (free tier later)"/>
          <p:cNvSpPr txBox="1"/>
          <p:nvPr/>
        </p:nvSpPr>
        <p:spPr>
          <a:xfrm>
            <a:off x="8092440" y="1828800"/>
            <a:ext cx="3383280" cy="1005840"/>
          </a:xfrm>
          <a:prstGeom prst="rect">
            <a:avLst/>
          </a:prstGeom>
          <a:noFill/>
          <a:ln/>
        </p:spPr>
        <p:txBody>
          <a:bodyPr wrap="square" lIns="508" tIns="508" rIns="508" bIns="508" rtlCol="0" anchor="t"/>
          <a:lstStyle/>
          <a:p>
            <a:pPr algn="l" indent="0" marL="0">
              <a:buNone/>
            </a:pPr>
            <a:r>
              <a:rPr lang="en-US" sz="1400" dirty="0">
                <a:solidFill>
                  <a:schemeClr val="accent4"/>
                </a:solidFill>
                <a:latin typeface="Calibri" pitchFamily="34" charset="0"/>
                <a:ea typeface="Calibri" pitchFamily="34" charset="-122"/>
                <a:cs typeface="Calibri" pitchFamily="34" charset="-120"/>
              </a:rPr>
              <a:t>Fast gate counters, 1 s page cache, rate limits. Only a shield: if it fails, sales go on.</a:t>
            </a:r>
            <a:endParaRPr lang="en-US" sz="1400" dirty="0"/>
          </a:p>
        </p:txBody>
      </p:sp>
      <p:sp>
        <p:nvSpPr>
          <p:cNvPr id="19" name="redis arrow"/>
          <p:cNvSpPr/>
          <p:nvPr/>
        </p:nvSpPr>
        <p:spPr>
          <a:xfrm>
            <a:off x="7315200" y="2103120"/>
            <a:ext cx="640080" cy="0"/>
          </a:xfrm>
          <a:prstGeom prst="line">
            <a:avLst/>
          </a:prstGeom>
          <a:noFill/>
          <a:ln w="28575">
            <a:solidFill>
              <a:schemeClr val="accent4"/>
            </a:solidFill>
            <a:prstDash val="solid"/>
            <a:tailEnd type="triangle"/>
          </a:ln>
        </p:spPr>
      </p:sp>
      <p:sp>
        <p:nvSpPr>
          <p:cNvPr id="20" name="box Payment gateway (simulated)"/>
          <p:cNvSpPr/>
          <p:nvPr/>
        </p:nvSpPr>
        <p:spPr>
          <a:xfrm>
            <a:off x="7955280" y="3200400"/>
            <a:ext cx="3657600" cy="1737360"/>
          </a:xfrm>
          <a:prstGeom prst="roundRect">
            <a:avLst>
              <a:gd name="adj" fmla="val 631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box title Payment gateway (simulated)"/>
          <p:cNvSpPr txBox="1"/>
          <p:nvPr/>
        </p:nvSpPr>
        <p:spPr>
          <a:xfrm>
            <a:off x="8092440" y="3291840"/>
            <a:ext cx="3383280" cy="41148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Payment gateway (simulated)</a:t>
            </a:r>
            <a:endParaRPr lang="en-US" sz="1700" dirty="0"/>
          </a:p>
        </p:txBody>
      </p:sp>
      <p:sp>
        <p:nvSpPr>
          <p:cNvPr id="22" name="box text Payment gateway (simulated)"/>
          <p:cNvSpPr txBox="1"/>
          <p:nvPr/>
        </p:nvSpPr>
        <p:spPr>
          <a:xfrm>
            <a:off x="8092440" y="3703320"/>
            <a:ext cx="3383280" cy="1143000"/>
          </a:xfrm>
          <a:prstGeom prst="rect">
            <a:avLst/>
          </a:prstGeom>
          <a:noFill/>
          <a:ln/>
        </p:spPr>
        <p:txBody>
          <a:bodyPr wrap="square" lIns="508" tIns="508" rIns="508" bIns="508" rtlCol="0" anchor="t"/>
          <a:lstStyle/>
          <a:p>
            <a:pPr algn="l" indent="0" marL="0">
              <a:buNone/>
            </a:pPr>
            <a:r>
              <a:rPr lang="en-US" sz="1400" dirty="0">
                <a:solidFill>
                  <a:schemeClr val="accent4"/>
                </a:solidFill>
                <a:latin typeface="Calibri" pitchFamily="34" charset="0"/>
                <a:ea typeface="Calibri" pitchFamily="34" charset="-122"/>
                <a:cs typeface="Calibri" pitchFamily="34" charset="-120"/>
              </a:rPr>
              <a:t>Sends signed webhooks to the API and keeps its own books. A real one (Cashfree sandbox) would replace it.</a:t>
            </a:r>
            <a:endParaRPr lang="en-US" sz="1400" dirty="0"/>
          </a:p>
        </p:txBody>
      </p:sp>
      <p:sp>
        <p:nvSpPr>
          <p:cNvPr id="23" name="webhook arrow"/>
          <p:cNvSpPr/>
          <p:nvPr/>
        </p:nvSpPr>
        <p:spPr>
          <a:xfrm flipH="1">
            <a:off x="7315200" y="4069080"/>
            <a:ext cx="640080" cy="0"/>
          </a:xfrm>
          <a:prstGeom prst="line">
            <a:avLst/>
          </a:prstGeom>
          <a:noFill/>
          <a:ln w="28575">
            <a:solidFill>
              <a:schemeClr val="accent4"/>
            </a:solidFill>
            <a:prstDash val="solid"/>
            <a:tailEnd type="triangle"/>
          </a:ln>
        </p:spPr>
      </p:sp>
      <p:sp>
        <p:nvSpPr>
          <p:cNvPr id="24" name="db arrow"/>
          <p:cNvSpPr/>
          <p:nvPr/>
        </p:nvSpPr>
        <p:spPr>
          <a:xfrm>
            <a:off x="5212080" y="4937760"/>
            <a:ext cx="0" cy="274320"/>
          </a:xfrm>
          <a:prstGeom prst="line">
            <a:avLst/>
          </a:prstGeom>
          <a:noFill/>
          <a:ln w="28575">
            <a:solidFill>
              <a:schemeClr val="accent4"/>
            </a:solidFill>
            <a:prstDash val="solid"/>
            <a:tailEnd type="triangle"/>
          </a:ln>
        </p:spPr>
      </p:sp>
      <p:sp>
        <p:nvSpPr>
          <p:cNvPr id="25" name="box PostgreSQL: the judge"/>
          <p:cNvSpPr/>
          <p:nvPr/>
        </p:nvSpPr>
        <p:spPr>
          <a:xfrm>
            <a:off x="3108960" y="5212080"/>
            <a:ext cx="4206240" cy="1051560"/>
          </a:xfrm>
          <a:prstGeom prst="roundRect">
            <a:avLst>
              <a:gd name="adj" fmla="val 10435"/>
            </a:avLst>
          </a:prstGeom>
          <a:solidFill>
            <a:schemeClr val="tx1"/>
          </a:solidFill>
          <a:ln w="12700">
            <a:solidFill>
              <a:schemeClr val="tx1"/>
            </a:solidFill>
            <a:prstDash val="solid"/>
          </a:ln>
        </p:spPr>
      </p:sp>
      <p:sp>
        <p:nvSpPr>
          <p:cNvPr id="26" name="box title PostgreSQL: the judge"/>
          <p:cNvSpPr txBox="1"/>
          <p:nvPr/>
        </p:nvSpPr>
        <p:spPr>
          <a:xfrm>
            <a:off x="3246120" y="5303520"/>
            <a:ext cx="3931920" cy="411480"/>
          </a:xfrm>
          <a:prstGeom prst="rect">
            <a:avLst/>
          </a:prstGeom>
          <a:noFill/>
          <a:ln/>
        </p:spPr>
        <p:txBody>
          <a:bodyPr wrap="square" lIns="508" tIns="508" rIns="508" bIns="508" rtlCol="0" anchor="t"/>
          <a:lstStyle/>
          <a:p>
            <a:pPr algn="l" indent="0" marL="0">
              <a:buNone/>
            </a:pPr>
            <a:r>
              <a:rPr lang="en-US" sz="1700" b="1" dirty="0">
                <a:solidFill>
                  <a:schemeClr val="bg1"/>
                </a:solidFill>
                <a:latin typeface="Cambria" pitchFamily="34" charset="0"/>
                <a:ea typeface="Cambria" pitchFamily="34" charset="-122"/>
                <a:cs typeface="Cambria" pitchFamily="34" charset="-120"/>
              </a:rPr>
              <a:t>PostgreSQL: the judge</a:t>
            </a:r>
            <a:endParaRPr lang="en-US" sz="1700" dirty="0"/>
          </a:p>
        </p:txBody>
      </p:sp>
      <p:sp>
        <p:nvSpPr>
          <p:cNvPr id="27" name="box text PostgreSQL: the judge"/>
          <p:cNvSpPr txBox="1"/>
          <p:nvPr/>
        </p:nvSpPr>
        <p:spPr>
          <a:xfrm>
            <a:off x="3246120" y="5715000"/>
            <a:ext cx="3931920" cy="457200"/>
          </a:xfrm>
          <a:prstGeom prst="rect">
            <a:avLst/>
          </a:prstGeom>
          <a:noFill/>
          <a:ln/>
        </p:spPr>
        <p:txBody>
          <a:bodyPr wrap="square" lIns="508" tIns="508" rIns="508" bIns="508" rtlCol="0" anchor="t"/>
          <a:lstStyle/>
          <a:p>
            <a:pPr algn="l" indent="0" marL="0">
              <a:buNone/>
            </a:pPr>
            <a:r>
              <a:rPr lang="en-US" sz="1400" dirty="0">
                <a:solidFill>
                  <a:schemeClr val="bg2"/>
                </a:solidFill>
                <a:latin typeface="Calibri" pitchFamily="34" charset="0"/>
                <a:ea typeface="Calibri" pitchFamily="34" charset="-122"/>
                <a:cs typeface="Calibri" pitchFamily="34" charset="-120"/>
              </a:rPr>
              <a:t>Guarded updates, CHECK rules, lock order</a:t>
            </a:r>
            <a:endParaRPr lang="en-US" sz="1400" dirty="0"/>
          </a:p>
        </p:txBody>
      </p:sp>
      <p:sp>
        <p:nvSpPr>
          <p:cNvPr id="28" name="worker arrow"/>
          <p:cNvSpPr/>
          <p:nvPr/>
        </p:nvSpPr>
        <p:spPr>
          <a:xfrm flipH="1">
            <a:off x="7315200" y="5742432"/>
            <a:ext cx="640080" cy="0"/>
          </a:xfrm>
          <a:prstGeom prst="line">
            <a:avLst/>
          </a:prstGeom>
          <a:noFill/>
          <a:ln w="28575">
            <a:solidFill>
              <a:schemeClr val="accent4"/>
            </a:solidFill>
            <a:prstDash val="solid"/>
            <a:tailEnd type="triangle"/>
          </a:ln>
        </p:spPr>
      </p:sp>
      <p:sp>
        <p:nvSpPr>
          <p:cNvPr id="29" name="box Workers (in every copy)"/>
          <p:cNvSpPr/>
          <p:nvPr/>
        </p:nvSpPr>
        <p:spPr>
          <a:xfrm>
            <a:off x="7955280" y="5212080"/>
            <a:ext cx="3657600" cy="1051560"/>
          </a:xfrm>
          <a:prstGeom prst="roundRect">
            <a:avLst>
              <a:gd name="adj" fmla="val 1043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0" name="box title Workers (in every copy)"/>
          <p:cNvSpPr txBox="1"/>
          <p:nvPr/>
        </p:nvSpPr>
        <p:spPr>
          <a:xfrm>
            <a:off x="8092440" y="5303520"/>
            <a:ext cx="3383280" cy="41148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Workers (in every copy)</a:t>
            </a:r>
            <a:endParaRPr lang="en-US" sz="1700" dirty="0"/>
          </a:p>
        </p:txBody>
      </p:sp>
      <p:sp>
        <p:nvSpPr>
          <p:cNvPr id="31" name="box text Workers (in every copy)"/>
          <p:cNvSpPr txBox="1"/>
          <p:nvPr/>
        </p:nvSpPr>
        <p:spPr>
          <a:xfrm>
            <a:off x="8092440" y="5715000"/>
            <a:ext cx="3383280" cy="457200"/>
          </a:xfrm>
          <a:prstGeom prst="rect">
            <a:avLst/>
          </a:prstGeom>
          <a:noFill/>
          <a:ln/>
        </p:spPr>
        <p:txBody>
          <a:bodyPr wrap="square" lIns="508" tIns="508" rIns="508" bIns="508" rtlCol="0" anchor="t"/>
          <a:lstStyle/>
          <a:p>
            <a:pPr algn="l" indent="0" marL="0">
              <a:buNone/>
            </a:pPr>
            <a:r>
              <a:rPr lang="en-US" sz="1400" dirty="0">
                <a:solidFill>
                  <a:schemeClr val="accent4"/>
                </a:solidFill>
                <a:latin typeface="Calibri" pitchFamily="34" charset="0"/>
                <a:ea typeface="Calibri" pitchFamily="34" charset="-122"/>
                <a:cs typeface="Calibri" pitchFamily="34" charset="-120"/>
              </a:rPr>
              <a:t>Sweeper, ticker, reconcile, outbox</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Money, handled like the real thing</a:t>
            </a:r>
            <a:endParaRPr lang="en-US" dirty="0"/>
          </a:p>
        </p:txBody>
      </p:sp>
      <p:sp>
        <p:nvSpPr>
          <p:cNvPr id="4" name="pay step 1"/>
          <p:cNvSpPr/>
          <p:nvPr/>
        </p:nvSpPr>
        <p:spPr>
          <a:xfrm>
            <a:off x="548640" y="1371600"/>
            <a:ext cx="2057400" cy="1508760"/>
          </a:xfrm>
          <a:prstGeom prst="roundRect">
            <a:avLst>
              <a:gd name="adj" fmla="val 7273"/>
            </a:avLst>
          </a:prstGeom>
          <a:solidFill>
            <a:schemeClr val="bg2"/>
          </a:solidFill>
          <a:ln w="12700">
            <a:solidFill>
              <a:schemeClr val="bg2"/>
            </a:solidFill>
            <a:prstDash val="solid"/>
          </a:ln>
        </p:spPr>
      </p:sp>
      <p:sp>
        <p:nvSpPr>
          <p:cNvPr id="5" name="pay step title 1"/>
          <p:cNvSpPr txBox="1"/>
          <p:nvPr/>
        </p:nvSpPr>
        <p:spPr>
          <a:xfrm>
            <a:off x="658368" y="1463040"/>
            <a:ext cx="1828800" cy="4572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1 · Hold</a:t>
            </a:r>
            <a:endParaRPr lang="en-US" sz="1700" dirty="0"/>
          </a:p>
        </p:txBody>
      </p:sp>
      <p:sp>
        <p:nvSpPr>
          <p:cNvPr id="6" name="pay step text 1"/>
          <p:cNvSpPr txBox="1"/>
          <p:nvPr/>
        </p:nvSpPr>
        <p:spPr>
          <a:xfrm>
            <a:off x="658368" y="1965960"/>
            <a:ext cx="1828800" cy="8686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Seats reserved, timer running.</a:t>
            </a:r>
            <a:endParaRPr lang="en-US" sz="1400" dirty="0"/>
          </a:p>
        </p:txBody>
      </p:sp>
      <p:sp>
        <p:nvSpPr>
          <p:cNvPr id="7" name="pay step 2"/>
          <p:cNvSpPr/>
          <p:nvPr/>
        </p:nvSpPr>
        <p:spPr>
          <a:xfrm>
            <a:off x="2788920" y="1371600"/>
            <a:ext cx="2057400" cy="1508760"/>
          </a:xfrm>
          <a:prstGeom prst="roundRect">
            <a:avLst>
              <a:gd name="adj" fmla="val 7273"/>
            </a:avLst>
          </a:prstGeom>
          <a:solidFill>
            <a:schemeClr val="bg2"/>
          </a:solidFill>
          <a:ln w="12700">
            <a:solidFill>
              <a:schemeClr val="bg2"/>
            </a:solidFill>
            <a:prstDash val="solid"/>
          </a:ln>
        </p:spPr>
      </p:sp>
      <p:sp>
        <p:nvSpPr>
          <p:cNvPr id="8" name="pay step title 2"/>
          <p:cNvSpPr txBox="1"/>
          <p:nvPr/>
        </p:nvSpPr>
        <p:spPr>
          <a:xfrm>
            <a:off x="2898648" y="1463040"/>
            <a:ext cx="1828800" cy="4572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2 · Checkout</a:t>
            </a:r>
            <a:endParaRPr lang="en-US" sz="1700" dirty="0"/>
          </a:p>
        </p:txBody>
      </p:sp>
      <p:sp>
        <p:nvSpPr>
          <p:cNvPr id="9" name="pay step text 2"/>
          <p:cNvSpPr txBox="1"/>
          <p:nvPr/>
        </p:nvSpPr>
        <p:spPr>
          <a:xfrm>
            <a:off x="2898648" y="1965960"/>
            <a:ext cx="1828800" cy="8686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Hold becomes PAYING; time extended once.</a:t>
            </a:r>
            <a:endParaRPr lang="en-US" sz="1400" dirty="0"/>
          </a:p>
        </p:txBody>
      </p:sp>
      <p:sp>
        <p:nvSpPr>
          <p:cNvPr id="10" name="pay step 3"/>
          <p:cNvSpPr/>
          <p:nvPr/>
        </p:nvSpPr>
        <p:spPr>
          <a:xfrm>
            <a:off x="5029200" y="1371600"/>
            <a:ext cx="2057400" cy="1508760"/>
          </a:xfrm>
          <a:prstGeom prst="roundRect">
            <a:avLst>
              <a:gd name="adj" fmla="val 7273"/>
            </a:avLst>
          </a:prstGeom>
          <a:solidFill>
            <a:schemeClr val="bg2"/>
          </a:solidFill>
          <a:ln w="12700">
            <a:solidFill>
              <a:schemeClr val="bg2"/>
            </a:solidFill>
            <a:prstDash val="solid"/>
          </a:ln>
        </p:spPr>
      </p:sp>
      <p:sp>
        <p:nvSpPr>
          <p:cNvPr id="11" name="pay step title 3"/>
          <p:cNvSpPr txBox="1"/>
          <p:nvPr/>
        </p:nvSpPr>
        <p:spPr>
          <a:xfrm>
            <a:off x="5138928" y="1463040"/>
            <a:ext cx="1828800" cy="4572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3 · Gateway</a:t>
            </a:r>
            <a:endParaRPr lang="en-US" sz="1700" dirty="0"/>
          </a:p>
        </p:txBody>
      </p:sp>
      <p:sp>
        <p:nvSpPr>
          <p:cNvPr id="12" name="pay step text 3"/>
          <p:cNvSpPr txBox="1"/>
          <p:nvPr/>
        </p:nvSpPr>
        <p:spPr>
          <a:xfrm>
            <a:off x="5138928" y="1965960"/>
            <a:ext cx="1828800" cy="8686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Buyer pays. Simulated here.</a:t>
            </a:r>
            <a:endParaRPr lang="en-US" sz="1400" dirty="0"/>
          </a:p>
        </p:txBody>
      </p:sp>
      <p:sp>
        <p:nvSpPr>
          <p:cNvPr id="13" name="pay step 4"/>
          <p:cNvSpPr/>
          <p:nvPr/>
        </p:nvSpPr>
        <p:spPr>
          <a:xfrm>
            <a:off x="7269480" y="1371600"/>
            <a:ext cx="2057400" cy="1508760"/>
          </a:xfrm>
          <a:prstGeom prst="roundRect">
            <a:avLst>
              <a:gd name="adj" fmla="val 7273"/>
            </a:avLst>
          </a:prstGeom>
          <a:solidFill>
            <a:schemeClr val="bg2"/>
          </a:solidFill>
          <a:ln w="12700">
            <a:solidFill>
              <a:schemeClr val="bg2"/>
            </a:solidFill>
            <a:prstDash val="solid"/>
          </a:ln>
        </p:spPr>
      </p:sp>
      <p:sp>
        <p:nvSpPr>
          <p:cNvPr id="14" name="pay step title 4"/>
          <p:cNvSpPr txBox="1"/>
          <p:nvPr/>
        </p:nvSpPr>
        <p:spPr>
          <a:xfrm>
            <a:off x="7379208" y="1463040"/>
            <a:ext cx="1828800" cy="4572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4 · Webhook</a:t>
            </a:r>
            <a:endParaRPr lang="en-US" sz="1700" dirty="0"/>
          </a:p>
        </p:txBody>
      </p:sp>
      <p:sp>
        <p:nvSpPr>
          <p:cNvPr id="15" name="pay step text 4"/>
          <p:cNvSpPr txBox="1"/>
          <p:nvPr/>
        </p:nvSpPr>
        <p:spPr>
          <a:xfrm>
            <a:off x="7379208" y="1965960"/>
            <a:ext cx="1828800" cy="8686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Signed message, stored once by its id.</a:t>
            </a:r>
            <a:endParaRPr lang="en-US" sz="1400" dirty="0"/>
          </a:p>
        </p:txBody>
      </p:sp>
      <p:sp>
        <p:nvSpPr>
          <p:cNvPr id="16" name="pay step 5"/>
          <p:cNvSpPr/>
          <p:nvPr/>
        </p:nvSpPr>
        <p:spPr>
          <a:xfrm>
            <a:off x="9509760" y="1371600"/>
            <a:ext cx="2057400" cy="1508760"/>
          </a:xfrm>
          <a:prstGeom prst="roundRect">
            <a:avLst>
              <a:gd name="adj" fmla="val 7273"/>
            </a:avLst>
          </a:prstGeom>
          <a:solidFill>
            <a:schemeClr val="bg2"/>
          </a:solidFill>
          <a:ln w="12700">
            <a:solidFill>
              <a:schemeClr val="bg2"/>
            </a:solidFill>
            <a:prstDash val="solid"/>
          </a:ln>
        </p:spPr>
      </p:sp>
      <p:sp>
        <p:nvSpPr>
          <p:cNvPr id="17" name="pay step title 5"/>
          <p:cNvSpPr txBox="1"/>
          <p:nvPr/>
        </p:nvSpPr>
        <p:spPr>
          <a:xfrm>
            <a:off x="9619488" y="1463040"/>
            <a:ext cx="1828800" cy="4572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5 · Order</a:t>
            </a:r>
            <a:endParaRPr lang="en-US" sz="1700" dirty="0"/>
          </a:p>
        </p:txBody>
      </p:sp>
      <p:sp>
        <p:nvSpPr>
          <p:cNvPr id="18" name="pay step text 5"/>
          <p:cNvSpPr txBox="1"/>
          <p:nvPr/>
        </p:nvSpPr>
        <p:spPr>
          <a:xfrm>
            <a:off x="9619488" y="1965960"/>
            <a:ext cx="1828800" cy="8686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Held becomes sold; tickets created.</a:t>
            </a:r>
            <a:endParaRPr lang="en-US" sz="1400" dirty="0"/>
          </a:p>
        </p:txBody>
      </p:sp>
      <p:sp>
        <p:nvSpPr>
          <p:cNvPr id="19" name="pay case 1"/>
          <p:cNvSpPr/>
          <p:nvPr/>
        </p:nvSpPr>
        <p:spPr>
          <a:xfrm>
            <a:off x="548640" y="3154680"/>
            <a:ext cx="5440680" cy="1280160"/>
          </a:xfrm>
          <a:prstGeom prst="roundRect">
            <a:avLst>
              <a:gd name="adj" fmla="val 8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pay case title 1"/>
          <p:cNvSpPr txBox="1"/>
          <p:nvPr/>
        </p:nvSpPr>
        <p:spPr>
          <a:xfrm>
            <a:off x="777240" y="3291840"/>
            <a:ext cx="4937760" cy="411480"/>
          </a:xfrm>
          <a:prstGeom prst="rect">
            <a:avLst/>
          </a:prstGeom>
          <a:noFill/>
          <a:ln/>
        </p:spPr>
        <p:txBody>
          <a:bodyPr wrap="square" lIns="508" tIns="508" rIns="508" bIns="508" rtlCol="0" anchor="t"/>
          <a:lstStyle/>
          <a:p>
            <a:pPr algn="l" indent="0" marL="0">
              <a:buNone/>
            </a:pPr>
            <a:r>
              <a:rPr lang="en-US" sz="1800" b="1" dirty="0">
                <a:solidFill>
                  <a:schemeClr val="accent1"/>
                </a:solidFill>
                <a:latin typeface="Cambria" pitchFamily="34" charset="0"/>
                <a:ea typeface="Cambria" pitchFamily="34" charset="-122"/>
                <a:cs typeface="Cambria" pitchFamily="34" charset="-120"/>
              </a:rPr>
              <a:t>The same message twice</a:t>
            </a:r>
            <a:endParaRPr lang="en-US" sz="1800" dirty="0"/>
          </a:p>
        </p:txBody>
      </p:sp>
      <p:sp>
        <p:nvSpPr>
          <p:cNvPr id="21" name="pay case text 1"/>
          <p:cNvSpPr txBox="1"/>
          <p:nvPr/>
        </p:nvSpPr>
        <p:spPr>
          <a:xfrm>
            <a:off x="777240" y="3749040"/>
            <a:ext cx="4937760" cy="64008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One order. Eight copies sent at once were tested.</a:t>
            </a:r>
            <a:endParaRPr lang="en-US" sz="1500" dirty="0"/>
          </a:p>
        </p:txBody>
      </p:sp>
      <p:sp>
        <p:nvSpPr>
          <p:cNvPr id="22" name="pay case 2"/>
          <p:cNvSpPr/>
          <p:nvPr/>
        </p:nvSpPr>
        <p:spPr>
          <a:xfrm>
            <a:off x="6172200" y="3154680"/>
            <a:ext cx="5440680" cy="1280160"/>
          </a:xfrm>
          <a:prstGeom prst="roundRect">
            <a:avLst>
              <a:gd name="adj" fmla="val 8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3" name="pay case title 2"/>
          <p:cNvSpPr txBox="1"/>
          <p:nvPr/>
        </p:nvSpPr>
        <p:spPr>
          <a:xfrm>
            <a:off x="6400800" y="3291840"/>
            <a:ext cx="4937760" cy="411480"/>
          </a:xfrm>
          <a:prstGeom prst="rect">
            <a:avLst/>
          </a:prstGeom>
          <a:noFill/>
          <a:ln/>
        </p:spPr>
        <p:txBody>
          <a:bodyPr wrap="square" lIns="508" tIns="508" rIns="508" bIns="508" rtlCol="0" anchor="t"/>
          <a:lstStyle/>
          <a:p>
            <a:pPr algn="l" indent="0" marL="0">
              <a:buNone/>
            </a:pPr>
            <a:r>
              <a:rPr lang="en-US" sz="1800" b="1" dirty="0">
                <a:solidFill>
                  <a:schemeClr val="accent1"/>
                </a:solidFill>
                <a:latin typeface="Cambria" pitchFamily="34" charset="0"/>
                <a:ea typeface="Cambria" pitchFamily="34" charset="-122"/>
                <a:cs typeface="Cambria" pitchFamily="34" charset="-120"/>
              </a:rPr>
              <a:t>A forged message</a:t>
            </a:r>
            <a:endParaRPr lang="en-US" sz="1800" dirty="0"/>
          </a:p>
        </p:txBody>
      </p:sp>
      <p:sp>
        <p:nvSpPr>
          <p:cNvPr id="24" name="pay case text 2"/>
          <p:cNvSpPr txBox="1"/>
          <p:nvPr/>
        </p:nvSpPr>
        <p:spPr>
          <a:xfrm>
            <a:off x="6400800" y="3749040"/>
            <a:ext cx="4937760" cy="64008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Refused, and nothing is stored.</a:t>
            </a:r>
            <a:endParaRPr lang="en-US" sz="1500" dirty="0"/>
          </a:p>
        </p:txBody>
      </p:sp>
      <p:sp>
        <p:nvSpPr>
          <p:cNvPr id="25" name="pay case 3"/>
          <p:cNvSpPr/>
          <p:nvPr/>
        </p:nvSpPr>
        <p:spPr>
          <a:xfrm>
            <a:off x="548640" y="4617720"/>
            <a:ext cx="5440680" cy="1280160"/>
          </a:xfrm>
          <a:prstGeom prst="roundRect">
            <a:avLst>
              <a:gd name="adj" fmla="val 8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6" name="pay case title 3"/>
          <p:cNvSpPr txBox="1"/>
          <p:nvPr/>
        </p:nvSpPr>
        <p:spPr>
          <a:xfrm>
            <a:off x="777240" y="4754880"/>
            <a:ext cx="4937760" cy="411480"/>
          </a:xfrm>
          <a:prstGeom prst="rect">
            <a:avLst/>
          </a:prstGeom>
          <a:noFill/>
          <a:ln/>
        </p:spPr>
        <p:txBody>
          <a:bodyPr wrap="square" lIns="508" tIns="508" rIns="508" bIns="508" rtlCol="0" anchor="t"/>
          <a:lstStyle/>
          <a:p>
            <a:pPr algn="l" indent="0" marL="0">
              <a:buNone/>
            </a:pPr>
            <a:r>
              <a:rPr lang="en-US" sz="1800" b="1" dirty="0">
                <a:solidFill>
                  <a:schemeClr val="accent1"/>
                </a:solidFill>
                <a:latin typeface="Cambria" pitchFamily="34" charset="0"/>
                <a:ea typeface="Cambria" pitchFamily="34" charset="-122"/>
                <a:cs typeface="Cambria" pitchFamily="34" charset="-120"/>
              </a:rPr>
              <a:t>Money after the timer</a:t>
            </a:r>
            <a:endParaRPr lang="en-US" sz="1800" dirty="0"/>
          </a:p>
        </p:txBody>
      </p:sp>
      <p:sp>
        <p:nvSpPr>
          <p:cNvPr id="27" name="pay case text 3"/>
          <p:cNvSpPr txBox="1"/>
          <p:nvPr/>
        </p:nvSpPr>
        <p:spPr>
          <a:xfrm>
            <a:off x="777240" y="5212080"/>
            <a:ext cx="4937760" cy="64008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Still counts if nobody has closed the hold: the seats are still ours.</a:t>
            </a:r>
            <a:endParaRPr lang="en-US" sz="1500" dirty="0"/>
          </a:p>
        </p:txBody>
      </p:sp>
      <p:sp>
        <p:nvSpPr>
          <p:cNvPr id="28" name="pay case 4"/>
          <p:cNvSpPr/>
          <p:nvPr/>
        </p:nvSpPr>
        <p:spPr>
          <a:xfrm>
            <a:off x="6172200" y="4617720"/>
            <a:ext cx="5440680" cy="1280160"/>
          </a:xfrm>
          <a:prstGeom prst="roundRect">
            <a:avLst>
              <a:gd name="adj" fmla="val 857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pay case title 4"/>
          <p:cNvSpPr txBox="1"/>
          <p:nvPr/>
        </p:nvSpPr>
        <p:spPr>
          <a:xfrm>
            <a:off x="6400800" y="4754880"/>
            <a:ext cx="4937760" cy="411480"/>
          </a:xfrm>
          <a:prstGeom prst="rect">
            <a:avLst/>
          </a:prstGeom>
          <a:noFill/>
          <a:ln/>
        </p:spPr>
        <p:txBody>
          <a:bodyPr wrap="square" lIns="508" tIns="508" rIns="508" bIns="508" rtlCol="0" anchor="t"/>
          <a:lstStyle/>
          <a:p>
            <a:pPr algn="l" indent="0" marL="0">
              <a:buNone/>
            </a:pPr>
            <a:r>
              <a:rPr lang="en-US" sz="1800" b="1" dirty="0">
                <a:solidFill>
                  <a:schemeClr val="accent1"/>
                </a:solidFill>
                <a:latin typeface="Cambria" pitchFamily="34" charset="0"/>
                <a:ea typeface="Cambria" pitchFamily="34" charset="-122"/>
                <a:cs typeface="Cambria" pitchFamily="34" charset="-120"/>
              </a:rPr>
              <a:t>Money after the seat was resold</a:t>
            </a:r>
            <a:endParaRPr lang="en-US" sz="1800" dirty="0"/>
          </a:p>
        </p:txBody>
      </p:sp>
      <p:sp>
        <p:nvSpPr>
          <p:cNvPr id="30" name="pay case text 4"/>
          <p:cNvSpPr txBox="1"/>
          <p:nvPr/>
        </p:nvSpPr>
        <p:spPr>
          <a:xfrm>
            <a:off x="6400800" y="5212080"/>
            <a:ext cx="4937760" cy="64008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Refunded automatically. A check finds messages that never came.</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Proof for the next level</a:t>
            </a:r>
            <a:endParaRPr lang="en-US" dirty="0"/>
          </a:p>
        </p:txBody>
      </p:sp>
      <p:sp>
        <p:nvSpPr>
          <p:cNvPr id="4" name="live proof card 1"/>
          <p:cNvSpPr/>
          <p:nvPr/>
        </p:nvSpPr>
        <p:spPr>
          <a:xfrm>
            <a:off x="548640" y="1417320"/>
            <a:ext cx="356616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live proof 98"/>
          <p:cNvSpPr txBox="1"/>
          <p:nvPr/>
        </p:nvSpPr>
        <p:spPr>
          <a:xfrm>
            <a:off x="777240" y="1554480"/>
            <a:ext cx="3108960" cy="868680"/>
          </a:xfrm>
          <a:prstGeom prst="rect">
            <a:avLst/>
          </a:prstGeom>
          <a:noFill/>
          <a:ln/>
        </p:spPr>
        <p:txBody>
          <a:bodyPr wrap="square" lIns="508" tIns="508" rIns="508" bIns="508" rtlCol="0" anchor="t"/>
          <a:lstStyle/>
          <a:p>
            <a:pPr algn="l" indent="0" marL="0">
              <a:buNone/>
            </a:pPr>
            <a:r>
              <a:rPr lang="en-US" sz="4400" b="1" dirty="0">
                <a:solidFill>
                  <a:schemeClr val="accent1"/>
                </a:solidFill>
                <a:latin typeface="Cambria" pitchFamily="34" charset="0"/>
                <a:ea typeface="Cambria" pitchFamily="34" charset="-122"/>
                <a:cs typeface="Cambria" pitchFamily="34" charset="-120"/>
              </a:rPr>
              <a:t>98</a:t>
            </a:r>
            <a:endParaRPr lang="en-US" sz="4400" dirty="0"/>
          </a:p>
        </p:txBody>
      </p:sp>
      <p:sp>
        <p:nvSpPr>
          <p:cNvPr id="6" name="live proof label 1"/>
          <p:cNvSpPr txBox="1"/>
          <p:nvPr/>
        </p:nvSpPr>
        <p:spPr>
          <a:xfrm>
            <a:off x="777240" y="2468880"/>
            <a:ext cx="3108960" cy="100584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tests pass. 5 more need a real Redis address and are skipped.</a:t>
            </a:r>
            <a:endParaRPr lang="en-US" sz="1600" dirty="0"/>
          </a:p>
        </p:txBody>
      </p:sp>
      <p:sp>
        <p:nvSpPr>
          <p:cNvPr id="7" name="live proof card 2"/>
          <p:cNvSpPr/>
          <p:nvPr/>
        </p:nvSpPr>
        <p:spPr>
          <a:xfrm>
            <a:off x="4297680" y="1417320"/>
            <a:ext cx="356616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8" name="live proof 6"/>
          <p:cNvSpPr txBox="1"/>
          <p:nvPr/>
        </p:nvSpPr>
        <p:spPr>
          <a:xfrm>
            <a:off x="4526280" y="1554480"/>
            <a:ext cx="3108960" cy="868680"/>
          </a:xfrm>
          <a:prstGeom prst="rect">
            <a:avLst/>
          </a:prstGeom>
          <a:noFill/>
          <a:ln/>
        </p:spPr>
        <p:txBody>
          <a:bodyPr wrap="square" lIns="508" tIns="508" rIns="508" bIns="508" rtlCol="0" anchor="t"/>
          <a:lstStyle/>
          <a:p>
            <a:pPr algn="l" indent="0" marL="0">
              <a:buNone/>
            </a:pPr>
            <a:r>
              <a:rPr lang="en-US" sz="4400" b="1" dirty="0">
                <a:solidFill>
                  <a:schemeClr val="accent1"/>
                </a:solidFill>
                <a:latin typeface="Cambria" pitchFamily="34" charset="0"/>
                <a:ea typeface="Cambria" pitchFamily="34" charset="-122"/>
                <a:cs typeface="Cambria" pitchFamily="34" charset="-120"/>
              </a:rPr>
              <a:t>6</a:t>
            </a:r>
            <a:endParaRPr lang="en-US" sz="4400" dirty="0"/>
          </a:p>
        </p:txBody>
      </p:sp>
      <p:sp>
        <p:nvSpPr>
          <p:cNvPr id="9" name="live proof label 2"/>
          <p:cNvSpPr txBox="1"/>
          <p:nvPr/>
        </p:nvSpPr>
        <p:spPr>
          <a:xfrm>
            <a:off x="4526280" y="2468880"/>
            <a:ext cx="3108960" cy="100584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safeguards removed one at a time. A test failed every time.</a:t>
            </a:r>
            <a:endParaRPr lang="en-US" sz="1600" dirty="0"/>
          </a:p>
        </p:txBody>
      </p:sp>
      <p:sp>
        <p:nvSpPr>
          <p:cNvPr id="10" name="live proof card 3"/>
          <p:cNvSpPr/>
          <p:nvPr/>
        </p:nvSpPr>
        <p:spPr>
          <a:xfrm>
            <a:off x="8046720" y="1417320"/>
            <a:ext cx="356616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live proof 200 → 50"/>
          <p:cNvSpPr txBox="1"/>
          <p:nvPr/>
        </p:nvSpPr>
        <p:spPr>
          <a:xfrm>
            <a:off x="8275320" y="1554480"/>
            <a:ext cx="3108960" cy="868680"/>
          </a:xfrm>
          <a:prstGeom prst="rect">
            <a:avLst/>
          </a:prstGeom>
          <a:noFill/>
          <a:ln/>
        </p:spPr>
        <p:txBody>
          <a:bodyPr wrap="square" lIns="508" tIns="508" rIns="508" bIns="508" rtlCol="0" anchor="t"/>
          <a:lstStyle/>
          <a:p>
            <a:pPr algn="l" indent="0" marL="0">
              <a:buNone/>
            </a:pPr>
            <a:r>
              <a:rPr lang="en-US" sz="4400" b="1" dirty="0">
                <a:solidFill>
                  <a:schemeClr val="accent1"/>
                </a:solidFill>
                <a:latin typeface="Cambria" pitchFamily="34" charset="0"/>
                <a:ea typeface="Cambria" pitchFamily="34" charset="-122"/>
                <a:cs typeface="Cambria" pitchFamily="34" charset="-120"/>
              </a:rPr>
              <a:t>200 → 50</a:t>
            </a:r>
            <a:endParaRPr lang="en-US" sz="4400" dirty="0"/>
          </a:p>
        </p:txBody>
      </p:sp>
      <p:sp>
        <p:nvSpPr>
          <p:cNvPr id="12" name="live proof label 3"/>
          <p:cNvSpPr txBox="1"/>
          <p:nvPr/>
        </p:nvSpPr>
        <p:spPr>
          <a:xfrm>
            <a:off x="8275320" y="2468880"/>
            <a:ext cx="3108960" cy="100584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buyers split over two real server processes: exactly 50 win.</a:t>
            </a:r>
            <a:endParaRPr lang="en-US" sz="1600" dirty="0"/>
          </a:p>
        </p:txBody>
      </p:sp>
      <p:sp>
        <p:nvSpPr>
          <p:cNvPr id="13" name="first try card"/>
          <p:cNvSpPr/>
          <p:nvPr/>
        </p:nvSpPr>
        <p:spPr>
          <a:xfrm>
            <a:off x="548640" y="3840480"/>
            <a:ext cx="11064240" cy="2148840"/>
          </a:xfrm>
          <a:prstGeom prst="roundRect">
            <a:avLst>
              <a:gd name="adj" fmla="val 5106"/>
            </a:avLst>
          </a:prstGeom>
          <a:solidFill>
            <a:schemeClr val="accent6"/>
          </a:solidFill>
          <a:ln w="12700">
            <a:solidFill>
              <a:schemeClr val="accent6"/>
            </a:solidFill>
            <a:prstDash val="solid"/>
          </a:ln>
        </p:spPr>
      </p:sp>
      <p:sp>
        <p:nvSpPr>
          <p:cNvPr id="14" name="first try title"/>
          <p:cNvSpPr txBox="1"/>
          <p:nvPr/>
        </p:nvSpPr>
        <p:spPr>
          <a:xfrm>
            <a:off x="822960" y="4023360"/>
            <a:ext cx="10515600" cy="457200"/>
          </a:xfrm>
          <a:prstGeom prst="rect">
            <a:avLst/>
          </a:prstGeom>
          <a:noFill/>
          <a:ln/>
        </p:spPr>
        <p:txBody>
          <a:bodyPr wrap="square" lIns="508" tIns="508" rIns="508" bIns="508" rtlCol="0" anchor="t"/>
          <a:lstStyle/>
          <a:p>
            <a:pPr algn="l" indent="0" marL="0">
              <a:buNone/>
            </a:pPr>
            <a:r>
              <a:rPr lang="en-US" sz="2200" b="1" dirty="0">
                <a:solidFill>
                  <a:schemeClr val="accent2"/>
                </a:solidFill>
                <a:latin typeface="Cambria" pitchFamily="34" charset="0"/>
                <a:ea typeface="Cambria" pitchFamily="34" charset="-122"/>
                <a:cs typeface="Cambria" pitchFamily="34" charset="-120"/>
              </a:rPr>
              <a:t>The first try caught only some</a:t>
            </a:r>
            <a:endParaRPr lang="en-US" sz="2200" dirty="0"/>
          </a:p>
        </p:txBody>
      </p:sp>
      <p:sp>
        <p:nvSpPr>
          <p:cNvPr id="15" name="first try text"/>
          <p:cNvSpPr txBox="1"/>
          <p:nvPr/>
        </p:nvSpPr>
        <p:spPr>
          <a:xfrm>
            <a:off x="822960" y="4572000"/>
            <a:ext cx="10515600" cy="1325880"/>
          </a:xfrm>
          <a:prstGeom prst="rect">
            <a:avLst/>
          </a:prstGeom>
          <a:noFill/>
          <a:ln/>
        </p:spPr>
        <p:txBody>
          <a:bodyPr wrap="square" lIns="508" tIns="508" rIns="508" bIns="508" rtlCol="0" anchor="t"/>
          <a:lstStyle/>
          <a:p>
            <a:pPr algn="l" indent="0" marL="0">
              <a:buNone/>
            </a:pPr>
            <a:r>
              <a:rPr lang="en-US" sz="1700" dirty="0">
                <a:solidFill>
                  <a:schemeClr val="bg1"/>
                </a:solidFill>
                <a:latin typeface="Calibri" pitchFamily="34" charset="0"/>
                <a:ea typeface="Calibri" pitchFamily="34" charset="-122"/>
                <a:cs typeface="Calibri" pitchFamily="34" charset="-120"/>
              </a:rPr>
              <a:t>Removing the ticket-type check went unnoticed: the Redis shield was refusing buyers before the database ever saw them. We now run every concurrency test twice, shield on and shield off, so the database is proven on its own. The same method exposed a second gap: losers were getting an error instead of "sold out".</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rush, measured honestly</a:t>
            </a:r>
            <a:endParaRPr lang="en-US" dirty="0"/>
          </a:p>
        </p:txBody>
      </p:sp>
      <p:sp>
        <p:nvSpPr>
          <p:cNvPr id="4" name="right card"/>
          <p:cNvSpPr/>
          <p:nvPr/>
        </p:nvSpPr>
        <p:spPr>
          <a:xfrm>
            <a:off x="548640" y="1371600"/>
            <a:ext cx="5440680" cy="4069080"/>
          </a:xfrm>
          <a:prstGeom prst="roundRect">
            <a:avLst>
              <a:gd name="adj" fmla="val 2697"/>
            </a:avLst>
          </a:prstGeom>
          <a:solidFill>
            <a:schemeClr val="bg2"/>
          </a:solidFill>
          <a:ln w="12700">
            <a:solidFill>
              <a:schemeClr val="bg2"/>
            </a:solidFill>
            <a:prstDash val="solid"/>
          </a:ln>
        </p:spPr>
      </p:sp>
      <p:sp>
        <p:nvSpPr>
          <p:cNvPr id="5" name="right title"/>
          <p:cNvSpPr txBox="1"/>
          <p:nvPr/>
        </p:nvSpPr>
        <p:spPr>
          <a:xfrm>
            <a:off x="822960" y="1508760"/>
            <a:ext cx="4937760" cy="457200"/>
          </a:xfrm>
          <a:prstGeom prst="rect">
            <a:avLst/>
          </a:prstGeom>
          <a:noFill/>
          <a:ln/>
        </p:spPr>
        <p:txBody>
          <a:bodyPr wrap="square" lIns="508" tIns="508" rIns="508" bIns="508" rtlCol="0" anchor="t"/>
          <a:lstStyle/>
          <a:p>
            <a:pPr algn="l" indent="0" marL="0">
              <a:buNone/>
            </a:pPr>
            <a:r>
              <a:rPr lang="en-US" sz="2200" b="1" dirty="0">
                <a:solidFill>
                  <a:schemeClr val="accent1"/>
                </a:solidFill>
                <a:latin typeface="Cambria" pitchFamily="34" charset="0"/>
                <a:ea typeface="Cambria" pitchFamily="34" charset="-122"/>
                <a:cs typeface="Cambria" pitchFamily="34" charset="-120"/>
              </a:rPr>
              <a:t>What was right</a:t>
            </a:r>
            <a:endParaRPr lang="en-US" sz="2200" dirty="0"/>
          </a:p>
        </p:txBody>
      </p:sp>
      <p:sp>
        <p:nvSpPr>
          <p:cNvPr id="6" name="right stat 4,500"/>
          <p:cNvSpPr txBox="1"/>
          <p:nvPr/>
        </p:nvSpPr>
        <p:spPr>
          <a:xfrm>
            <a:off x="822960" y="2103120"/>
            <a:ext cx="2286000" cy="777240"/>
          </a:xfrm>
          <a:prstGeom prst="rect">
            <a:avLst/>
          </a:prstGeom>
          <a:noFill/>
          <a:ln/>
        </p:spPr>
        <p:txBody>
          <a:bodyPr wrap="square" lIns="508" tIns="508" rIns="508" bIns="508" rtlCol="0" anchor="t"/>
          <a:lstStyle/>
          <a:p>
            <a:pPr algn="l" indent="0" marL="0">
              <a:buNone/>
            </a:pPr>
            <a:r>
              <a:rPr lang="en-US" sz="4000" b="1" dirty="0">
                <a:solidFill>
                  <a:schemeClr val="tx1"/>
                </a:solidFill>
                <a:latin typeface="Cambria" pitchFamily="34" charset="0"/>
                <a:ea typeface="Cambria" pitchFamily="34" charset="-122"/>
                <a:cs typeface="Cambria" pitchFamily="34" charset="-120"/>
              </a:rPr>
              <a:t>4,500</a:t>
            </a:r>
            <a:endParaRPr lang="en-US" sz="4000" dirty="0"/>
          </a:p>
        </p:txBody>
      </p:sp>
      <p:sp>
        <p:nvSpPr>
          <p:cNvPr id="7" name="right label 4,500"/>
          <p:cNvSpPr txBox="1"/>
          <p:nvPr/>
        </p:nvSpPr>
        <p:spPr>
          <a:xfrm>
            <a:off x="822960" y="2880360"/>
            <a:ext cx="2286000" cy="41148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held, then paid</a:t>
            </a:r>
            <a:endParaRPr lang="en-US" sz="1600" dirty="0"/>
          </a:p>
        </p:txBody>
      </p:sp>
      <p:sp>
        <p:nvSpPr>
          <p:cNvPr id="8" name="right stat 500"/>
          <p:cNvSpPr txBox="1"/>
          <p:nvPr/>
        </p:nvSpPr>
        <p:spPr>
          <a:xfrm>
            <a:off x="3383280" y="2103120"/>
            <a:ext cx="2286000" cy="777240"/>
          </a:xfrm>
          <a:prstGeom prst="rect">
            <a:avLst/>
          </a:prstGeom>
          <a:noFill/>
          <a:ln/>
        </p:spPr>
        <p:txBody>
          <a:bodyPr wrap="square" lIns="508" tIns="508" rIns="508" bIns="508" rtlCol="0" anchor="t"/>
          <a:lstStyle/>
          <a:p>
            <a:pPr algn="l" indent="0" marL="0">
              <a:buNone/>
            </a:pPr>
            <a:r>
              <a:rPr lang="en-US" sz="4000" b="1" dirty="0">
                <a:solidFill>
                  <a:schemeClr val="tx1"/>
                </a:solidFill>
                <a:latin typeface="Cambria" pitchFamily="34" charset="0"/>
                <a:ea typeface="Cambria" pitchFamily="34" charset="-122"/>
                <a:cs typeface="Cambria" pitchFamily="34" charset="-120"/>
              </a:rPr>
              <a:t>500</a:t>
            </a:r>
            <a:endParaRPr lang="en-US" sz="4000" dirty="0"/>
          </a:p>
        </p:txBody>
      </p:sp>
      <p:sp>
        <p:nvSpPr>
          <p:cNvPr id="9" name="right label 500"/>
          <p:cNvSpPr txBox="1"/>
          <p:nvPr/>
        </p:nvSpPr>
        <p:spPr>
          <a:xfrm>
            <a:off x="3383280" y="2880360"/>
            <a:ext cx="2286000" cy="41148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told sold out</a:t>
            </a:r>
            <a:endParaRPr lang="en-US" sz="1600" dirty="0"/>
          </a:p>
        </p:txBody>
      </p:sp>
      <p:sp>
        <p:nvSpPr>
          <p:cNvPr id="10" name="right stat 0"/>
          <p:cNvSpPr txBox="1"/>
          <p:nvPr/>
        </p:nvSpPr>
        <p:spPr>
          <a:xfrm>
            <a:off x="822960" y="3703320"/>
            <a:ext cx="2286000" cy="777240"/>
          </a:xfrm>
          <a:prstGeom prst="rect">
            <a:avLst/>
          </a:prstGeom>
          <a:noFill/>
          <a:ln/>
        </p:spPr>
        <p:txBody>
          <a:bodyPr wrap="square" lIns="508" tIns="508" rIns="508" bIns="508" rtlCol="0" anchor="t"/>
          <a:lstStyle/>
          <a:p>
            <a:pPr algn="l" indent="0" marL="0">
              <a:buNone/>
            </a:pPr>
            <a:r>
              <a:rPr lang="en-US" sz="4000" b="1" dirty="0">
                <a:solidFill>
                  <a:schemeClr val="tx1"/>
                </a:solidFill>
                <a:latin typeface="Cambria" pitchFamily="34" charset="0"/>
                <a:ea typeface="Cambria" pitchFamily="34" charset="-122"/>
                <a:cs typeface="Cambria" pitchFamily="34" charset="-120"/>
              </a:rPr>
              <a:t>0</a:t>
            </a:r>
            <a:endParaRPr lang="en-US" sz="4000" dirty="0"/>
          </a:p>
        </p:txBody>
      </p:sp>
      <p:sp>
        <p:nvSpPr>
          <p:cNvPr id="11" name="right label 0"/>
          <p:cNvSpPr txBox="1"/>
          <p:nvPr/>
        </p:nvSpPr>
        <p:spPr>
          <a:xfrm>
            <a:off x="822960" y="4480560"/>
            <a:ext cx="2286000" cy="41148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oversold</a:t>
            </a:r>
            <a:endParaRPr lang="en-US" sz="1600" dirty="0"/>
          </a:p>
        </p:txBody>
      </p:sp>
      <p:sp>
        <p:nvSpPr>
          <p:cNvPr id="12" name="right stat Clean"/>
          <p:cNvSpPr txBox="1"/>
          <p:nvPr/>
        </p:nvSpPr>
        <p:spPr>
          <a:xfrm>
            <a:off x="3383280" y="3703320"/>
            <a:ext cx="2286000" cy="777240"/>
          </a:xfrm>
          <a:prstGeom prst="rect">
            <a:avLst/>
          </a:prstGeom>
          <a:noFill/>
          <a:ln/>
        </p:spPr>
        <p:txBody>
          <a:bodyPr wrap="square" lIns="508" tIns="508" rIns="508" bIns="508" rtlCol="0" anchor="t"/>
          <a:lstStyle/>
          <a:p>
            <a:pPr algn="l" indent="0" marL="0">
              <a:buNone/>
            </a:pPr>
            <a:r>
              <a:rPr lang="en-US" sz="4000" b="1" dirty="0">
                <a:solidFill>
                  <a:schemeClr val="tx1"/>
                </a:solidFill>
                <a:latin typeface="Cambria" pitchFamily="34" charset="0"/>
                <a:ea typeface="Cambria" pitchFamily="34" charset="-122"/>
                <a:cs typeface="Cambria" pitchFamily="34" charset="-120"/>
              </a:rPr>
              <a:t>Clean</a:t>
            </a:r>
            <a:endParaRPr lang="en-US" sz="4000" dirty="0"/>
          </a:p>
        </p:txBody>
      </p:sp>
      <p:sp>
        <p:nvSpPr>
          <p:cNvPr id="13" name="right label Clean"/>
          <p:cNvSpPr txBox="1"/>
          <p:nvPr/>
        </p:nvSpPr>
        <p:spPr>
          <a:xfrm>
            <a:off x="3383280" y="4480560"/>
            <a:ext cx="2286000" cy="411480"/>
          </a:xfrm>
          <a:prstGeom prst="rect">
            <a:avLst/>
          </a:prstGeom>
          <a:noFill/>
          <a:ln/>
        </p:spPr>
        <p:txBody>
          <a:bodyPr wrap="square" lIns="508" tIns="508" rIns="508" bIns="508" rtlCol="0" anchor="t"/>
          <a:lstStyle/>
          <a:p>
            <a:pPr algn="l" indent="0" marL="0">
              <a:buNone/>
            </a:pPr>
            <a:r>
              <a:rPr lang="en-US" sz="1600" dirty="0">
                <a:solidFill>
                  <a:schemeClr val="accent4"/>
                </a:solidFill>
                <a:latin typeface="Calibri" pitchFamily="34" charset="0"/>
                <a:ea typeface="Calibri" pitchFamily="34" charset="-122"/>
                <a:cs typeface="Calibri" pitchFamily="34" charset="-120"/>
              </a:rPr>
              <a:t>self-check</a:t>
            </a:r>
            <a:endParaRPr lang="en-US" sz="1600" dirty="0"/>
          </a:p>
        </p:txBody>
      </p:sp>
      <p:sp>
        <p:nvSpPr>
          <p:cNvPr id="14" name="not good card"/>
          <p:cNvSpPr/>
          <p:nvPr/>
        </p:nvSpPr>
        <p:spPr>
          <a:xfrm>
            <a:off x="6217920" y="1371600"/>
            <a:ext cx="5394960" cy="4069080"/>
          </a:xfrm>
          <a:prstGeom prst="roundRect">
            <a:avLst>
              <a:gd name="adj" fmla="val 2697"/>
            </a:avLst>
          </a:prstGeom>
          <a:solidFill>
            <a:schemeClr val="accent6"/>
          </a:solidFill>
          <a:ln w="12700">
            <a:solidFill>
              <a:schemeClr val="accent6"/>
            </a:solidFill>
            <a:prstDash val="solid"/>
          </a:ln>
        </p:spPr>
      </p:sp>
      <p:sp>
        <p:nvSpPr>
          <p:cNvPr id="15" name="not good title"/>
          <p:cNvSpPr txBox="1"/>
          <p:nvPr/>
        </p:nvSpPr>
        <p:spPr>
          <a:xfrm>
            <a:off x="6492240" y="1508760"/>
            <a:ext cx="4846320" cy="457200"/>
          </a:xfrm>
          <a:prstGeom prst="rect">
            <a:avLst/>
          </a:prstGeom>
          <a:noFill/>
          <a:ln/>
        </p:spPr>
        <p:txBody>
          <a:bodyPr wrap="square" lIns="508" tIns="508" rIns="508" bIns="508" rtlCol="0" anchor="t"/>
          <a:lstStyle/>
          <a:p>
            <a:pPr algn="l" indent="0" marL="0">
              <a:buNone/>
            </a:pPr>
            <a:r>
              <a:rPr lang="en-US" sz="2200" b="1" dirty="0">
                <a:solidFill>
                  <a:schemeClr val="accent2"/>
                </a:solidFill>
                <a:latin typeface="Cambria" pitchFamily="34" charset="0"/>
                <a:ea typeface="Cambria" pitchFamily="34" charset="-122"/>
                <a:cs typeface="Cambria" pitchFamily="34" charset="-120"/>
              </a:rPr>
              <a:t>What was not good</a:t>
            </a:r>
            <a:endParaRPr lang="en-US" sz="2200" dirty="0"/>
          </a:p>
        </p:txBody>
      </p:sp>
      <p:sp>
        <p:nvSpPr>
          <p:cNvPr id="16" name="bad stat 186 s"/>
          <p:cNvSpPr txBox="1"/>
          <p:nvPr/>
        </p:nvSpPr>
        <p:spPr>
          <a:xfrm>
            <a:off x="6492240" y="2103120"/>
            <a:ext cx="1554480" cy="640080"/>
          </a:xfrm>
          <a:prstGeom prst="rect">
            <a:avLst/>
          </a:prstGeom>
          <a:noFill/>
          <a:ln/>
        </p:spPr>
        <p:txBody>
          <a:bodyPr wrap="square" lIns="508" tIns="508" rIns="508" bIns="508"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186 s</a:t>
            </a:r>
            <a:endParaRPr lang="en-US" sz="3000" dirty="0"/>
          </a:p>
        </p:txBody>
      </p:sp>
      <p:sp>
        <p:nvSpPr>
          <p:cNvPr id="17" name="bad label 186 s"/>
          <p:cNvSpPr txBox="1"/>
          <p:nvPr/>
        </p:nvSpPr>
        <p:spPr>
          <a:xfrm>
            <a:off x="8138160" y="2103120"/>
            <a:ext cx="3291840" cy="640080"/>
          </a:xfrm>
          <a:prstGeom prst="rect">
            <a:avLst/>
          </a:prstGeom>
          <a:noFill/>
          <a:ln/>
        </p:spPr>
        <p:txBody>
          <a:bodyPr wrap="square" lIns="508" tIns="508" rIns="508" bIns="508" rtlCol="0" anchor="ctr"/>
          <a:lstStyle/>
          <a:p>
            <a:pPr algn="l" indent="0" marL="0">
              <a:buNone/>
            </a:pPr>
            <a:r>
              <a:rPr lang="en-US" sz="1600" dirty="0">
                <a:solidFill>
                  <a:schemeClr val="bg2"/>
                </a:solidFill>
                <a:latin typeface="Calibri" pitchFamily="34" charset="0"/>
                <a:ea typeface="Calibri" pitchFamily="34" charset="-122"/>
                <a:cs typeface="Calibri" pitchFamily="34" charset="-120"/>
              </a:rPr>
              <a:t>for the hold rush (27 a second)</a:t>
            </a:r>
            <a:endParaRPr lang="en-US" sz="1600" dirty="0"/>
          </a:p>
        </p:txBody>
      </p:sp>
      <p:sp>
        <p:nvSpPr>
          <p:cNvPr id="18" name="bad stat 16 s"/>
          <p:cNvSpPr txBox="1"/>
          <p:nvPr/>
        </p:nvSpPr>
        <p:spPr>
          <a:xfrm>
            <a:off x="6492240" y="2880360"/>
            <a:ext cx="1554480" cy="640080"/>
          </a:xfrm>
          <a:prstGeom prst="rect">
            <a:avLst/>
          </a:prstGeom>
          <a:noFill/>
          <a:ln/>
        </p:spPr>
        <p:txBody>
          <a:bodyPr wrap="square" lIns="508" tIns="508" rIns="508" bIns="508"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16 s</a:t>
            </a:r>
            <a:endParaRPr lang="en-US" sz="3000" dirty="0"/>
          </a:p>
        </p:txBody>
      </p:sp>
      <p:sp>
        <p:nvSpPr>
          <p:cNvPr id="19" name="bad label 16 s"/>
          <p:cNvSpPr txBox="1"/>
          <p:nvPr/>
        </p:nvSpPr>
        <p:spPr>
          <a:xfrm>
            <a:off x="8138160" y="2880360"/>
            <a:ext cx="3291840" cy="640080"/>
          </a:xfrm>
          <a:prstGeom prst="rect">
            <a:avLst/>
          </a:prstGeom>
          <a:noFill/>
          <a:ln/>
        </p:spPr>
        <p:txBody>
          <a:bodyPr wrap="square" lIns="508" tIns="508" rIns="508" bIns="508" rtlCol="0" anchor="ctr"/>
          <a:lstStyle/>
          <a:p>
            <a:pPr algn="l" indent="0" marL="0">
              <a:buNone/>
            </a:pPr>
            <a:r>
              <a:rPr lang="en-US" sz="1600" dirty="0">
                <a:solidFill>
                  <a:schemeClr val="bg2"/>
                </a:solidFill>
                <a:latin typeface="Calibri" pitchFamily="34" charset="0"/>
                <a:ea typeface="Calibri" pitchFamily="34" charset="-122"/>
                <a:cs typeface="Calibri" pitchFamily="34" charset="-120"/>
              </a:rPr>
              <a:t>median wait for a buyer</a:t>
            </a:r>
            <a:endParaRPr lang="en-US" sz="1600" dirty="0"/>
          </a:p>
        </p:txBody>
      </p:sp>
      <p:sp>
        <p:nvSpPr>
          <p:cNvPr id="20" name="bad stat 58 s"/>
          <p:cNvSpPr txBox="1"/>
          <p:nvPr/>
        </p:nvSpPr>
        <p:spPr>
          <a:xfrm>
            <a:off x="6492240" y="3657600"/>
            <a:ext cx="1554480" cy="640080"/>
          </a:xfrm>
          <a:prstGeom prst="rect">
            <a:avLst/>
          </a:prstGeom>
          <a:noFill/>
          <a:ln/>
        </p:spPr>
        <p:txBody>
          <a:bodyPr wrap="square" lIns="508" tIns="508" rIns="508" bIns="508" rtlCol="0" anchor="ctr"/>
          <a:lstStyle/>
          <a:p>
            <a:pPr algn="l" indent="0" marL="0">
              <a:buNone/>
            </a:pPr>
            <a:r>
              <a:rPr lang="en-US" sz="3000" b="1" dirty="0">
                <a:solidFill>
                  <a:schemeClr val="bg1"/>
                </a:solidFill>
                <a:latin typeface="Cambria" pitchFamily="34" charset="0"/>
                <a:ea typeface="Cambria" pitchFamily="34" charset="-122"/>
                <a:cs typeface="Cambria" pitchFamily="34" charset="-120"/>
              </a:rPr>
              <a:t>58 s</a:t>
            </a:r>
            <a:endParaRPr lang="en-US" sz="3000" dirty="0"/>
          </a:p>
        </p:txBody>
      </p:sp>
      <p:sp>
        <p:nvSpPr>
          <p:cNvPr id="21" name="bad label 58 s"/>
          <p:cNvSpPr txBox="1"/>
          <p:nvPr/>
        </p:nvSpPr>
        <p:spPr>
          <a:xfrm>
            <a:off x="8138160" y="3657600"/>
            <a:ext cx="3291840" cy="640080"/>
          </a:xfrm>
          <a:prstGeom prst="rect">
            <a:avLst/>
          </a:prstGeom>
          <a:noFill/>
          <a:ln/>
        </p:spPr>
        <p:txBody>
          <a:bodyPr wrap="square" lIns="508" tIns="508" rIns="508" bIns="508" rtlCol="0" anchor="ctr"/>
          <a:lstStyle/>
          <a:p>
            <a:pPr algn="l" indent="0" marL="0">
              <a:buNone/>
            </a:pPr>
            <a:r>
              <a:rPr lang="en-US" sz="1600" dirty="0">
                <a:solidFill>
                  <a:schemeClr val="bg2"/>
                </a:solidFill>
                <a:latin typeface="Calibri" pitchFamily="34" charset="0"/>
                <a:ea typeface="Calibri" pitchFamily="34" charset="-122"/>
                <a:cs typeface="Calibri" pitchFamily="34" charset="-120"/>
              </a:rPr>
              <a:t>to pay all 4,500 winners</a:t>
            </a:r>
            <a:endParaRPr lang="en-US" sz="1600" dirty="0"/>
          </a:p>
        </p:txBody>
      </p:sp>
      <p:sp>
        <p:nvSpPr>
          <p:cNvPr id="22" name="not good note"/>
          <p:cNvSpPr txBox="1"/>
          <p:nvPr/>
        </p:nvSpPr>
        <p:spPr>
          <a:xfrm>
            <a:off x="6492240" y="4389120"/>
            <a:ext cx="4846320" cy="1005840"/>
          </a:xfrm>
          <a:prstGeom prst="rect">
            <a:avLst/>
          </a:prstGeom>
          <a:noFill/>
          <a:ln/>
        </p:spPr>
        <p:txBody>
          <a:bodyPr wrap="square" lIns="508" tIns="508" rIns="508" bIns="508" rtlCol="0" anchor="t"/>
          <a:lstStyle/>
          <a:p>
            <a:pPr algn="l" indent="0" marL="0">
              <a:buNone/>
            </a:pPr>
            <a:r>
              <a:rPr lang="en-US" sz="1400" dirty="0">
                <a:solidFill>
                  <a:schemeClr val="bg2"/>
                </a:solidFill>
                <a:latin typeface="Calibri" pitchFamily="34" charset="0"/>
                <a:ea typeface="Calibri" pitchFamily="34" charset="-122"/>
                <a:cs typeface="Calibri" pitchFamily="34" charset="-120"/>
              </a:rPr>
              <a:t>The submitted SQLite version did about 1,000 a second on the same laptop. Here the buyers mostly wait for the lock on one hot counter. Full cause not found; Linux not tried.</a:t>
            </a:r>
            <a:endParaRPr lang="en-US" sz="1400" dirty="0"/>
          </a:p>
        </p:txBody>
      </p:sp>
      <p:sp>
        <p:nvSpPr>
          <p:cNvPr id="23" name="rush takeaway"/>
          <p:cNvSpPr txBox="1"/>
          <p:nvPr/>
        </p:nvSpPr>
        <p:spPr>
          <a:xfrm>
            <a:off x="548640" y="5623560"/>
            <a:ext cx="11064240" cy="502920"/>
          </a:xfrm>
          <a:prstGeom prst="rect">
            <a:avLst/>
          </a:prstGeom>
          <a:noFill/>
          <a:ln/>
        </p:spPr>
        <p:txBody>
          <a:bodyPr wrap="square" lIns="508" tIns="508" rIns="508" bIns="508" rtlCol="0" anchor="t"/>
          <a:lstStyle/>
          <a:p>
            <a:pPr algn="l" indent="0" marL="0">
              <a:buNone/>
            </a:pPr>
            <a:r>
              <a:rPr lang="en-US" sz="1700" b="1" dirty="0">
                <a:solidFill>
                  <a:schemeClr val="accent1"/>
                </a:solidFill>
                <a:latin typeface="Calibri" pitchFamily="34" charset="0"/>
                <a:ea typeface="Calibri" pitchFamily="34" charset="-122"/>
                <a:cs typeface="Calibri" pitchFamily="34" charset="-120"/>
              </a:rPr>
              <a:t>Correctness held under the full rush, payments included. Speed is the open problem.</a:t>
            </a:r>
            <a:endParaRPr lang="en-US" sz="17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Roadmap: same rules, bigger machinery</a:t>
            </a:r>
            <a:endParaRPr lang="en-US" dirty="0"/>
          </a:p>
        </p:txBody>
      </p:sp>
      <p:sp>
        <p:nvSpPr>
          <p:cNvPr id="4" name="roadmap sub"/>
          <p:cNvSpPr txBox="1"/>
          <p:nvPr/>
        </p:nvSpPr>
        <p:spPr>
          <a:xfrm>
            <a:off x="548640" y="1188720"/>
            <a:ext cx="11064240" cy="365760"/>
          </a:xfrm>
          <a:prstGeom prst="rect">
            <a:avLst/>
          </a:prstGeom>
          <a:noFill/>
          <a:ln/>
        </p:spPr>
        <p:txBody>
          <a:bodyPr wrap="square" lIns="508" tIns="508" rIns="508" bIns="508" rtlCol="0" anchor="t"/>
          <a:lstStyle/>
          <a:p>
            <a:pPr algn="l" indent="0" marL="0">
              <a:buNone/>
            </a:pPr>
            <a:r>
              <a:rPr lang="en-US" sz="1500" dirty="0">
                <a:solidFill>
                  <a:schemeClr val="accent4"/>
                </a:solidFill>
                <a:latin typeface="Calibri" pitchFamily="34" charset="0"/>
                <a:ea typeface="Calibri" pitchFamily="34" charset="-122"/>
                <a:cs typeface="Calibri" pitchFamily="34" charset="-120"/>
              </a:rPr>
              <a:t>Stages 1 to 4 now exist in AtomicPass Live (backend and tests). Stage 5 is not built. Stage 6 is partly built.</a:t>
            </a:r>
            <a:endParaRPr lang="en-US" sz="1500" dirty="0"/>
          </a:p>
        </p:txBody>
      </p:sp>
      <p:sp>
        <p:nvSpPr>
          <p:cNvPr id="5" name="road card 1"/>
          <p:cNvSpPr/>
          <p:nvPr/>
        </p:nvSpPr>
        <p:spPr>
          <a:xfrm>
            <a:off x="548640" y="1691640"/>
            <a:ext cx="356616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badge 1"/>
          <p:cNvSpPr/>
          <p:nvPr/>
        </p:nvSpPr>
        <p:spPr>
          <a:xfrm>
            <a:off x="731520" y="1874520"/>
            <a:ext cx="502920" cy="502920"/>
          </a:xfrm>
          <a:prstGeom prst="ellipse">
            <a:avLst/>
          </a:prstGeom>
          <a:solidFill>
            <a:schemeClr val="accent1"/>
          </a:solidFill>
          <a:ln w="12700">
            <a:solidFill>
              <a:schemeClr val="accent1"/>
            </a:solidFill>
            <a:prstDash val="solid"/>
          </a:ln>
        </p:spPr>
      </p:sp>
      <p:sp>
        <p:nvSpPr>
          <p:cNvPr id="7" name="Text 4"/>
          <p:cNvSpPr txBox="1"/>
          <p:nvPr/>
        </p:nvSpPr>
        <p:spPr>
          <a:xfrm>
            <a:off x="731520" y="1874520"/>
            <a:ext cx="502920" cy="50292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8" name="road PostgreSQL and many servers"/>
          <p:cNvSpPr txBox="1"/>
          <p:nvPr/>
        </p:nvSpPr>
        <p:spPr>
          <a:xfrm>
            <a:off x="1371600" y="1828800"/>
            <a:ext cx="2651760" cy="6858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PostgreSQL and many servers</a:t>
            </a:r>
            <a:endParaRPr lang="en-US" sz="1700" dirty="0"/>
          </a:p>
        </p:txBody>
      </p:sp>
      <p:sp>
        <p:nvSpPr>
          <p:cNvPr id="9" name="road text 1"/>
          <p:cNvSpPr txBox="1"/>
          <p:nvPr/>
        </p:nvSpPr>
        <p:spPr>
          <a:xfrm>
            <a:off x="731520" y="2514600"/>
            <a:ext cx="3200400" cy="8686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Same guarded statements; row locks; fixed lock order. Every race re-run from two servers.</a:t>
            </a:r>
            <a:endParaRPr lang="en-US" sz="1400" dirty="0"/>
          </a:p>
        </p:txBody>
      </p:sp>
      <p:sp>
        <p:nvSpPr>
          <p:cNvPr id="10" name="Shape 7"/>
          <p:cNvSpPr/>
          <p:nvPr/>
        </p:nvSpPr>
        <p:spPr>
          <a:xfrm>
            <a:off x="731520" y="3429000"/>
            <a:ext cx="3200400" cy="310896"/>
          </a:xfrm>
          <a:prstGeom prst="roundRect">
            <a:avLst>
              <a:gd name="adj" fmla="val 50000"/>
            </a:avLst>
          </a:prstGeom>
          <a:solidFill>
            <a:schemeClr val="accent1"/>
          </a:solidFill>
          <a:ln w="12700">
            <a:solidFill>
              <a:schemeClr val="accent1"/>
            </a:solidFill>
            <a:prstDash val="solid"/>
          </a:ln>
        </p:spPr>
      </p:sp>
      <p:sp>
        <p:nvSpPr>
          <p:cNvPr id="11" name="Text 8"/>
          <p:cNvSpPr txBox="1"/>
          <p:nvPr/>
        </p:nvSpPr>
        <p:spPr>
          <a:xfrm>
            <a:off x="731520" y="3429000"/>
            <a:ext cx="320040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Built · two-process test passes</a:t>
            </a:r>
            <a:endParaRPr lang="en-US" sz="1200" dirty="0"/>
          </a:p>
        </p:txBody>
      </p:sp>
      <p:sp>
        <p:nvSpPr>
          <p:cNvPr id="12" name="road card 2"/>
          <p:cNvSpPr/>
          <p:nvPr/>
        </p:nvSpPr>
        <p:spPr>
          <a:xfrm>
            <a:off x="4297680" y="1691640"/>
            <a:ext cx="356616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badge 2"/>
          <p:cNvSpPr/>
          <p:nvPr/>
        </p:nvSpPr>
        <p:spPr>
          <a:xfrm>
            <a:off x="4480560" y="1874520"/>
            <a:ext cx="502920" cy="502920"/>
          </a:xfrm>
          <a:prstGeom prst="ellipse">
            <a:avLst/>
          </a:prstGeom>
          <a:solidFill>
            <a:schemeClr val="accent1"/>
          </a:solidFill>
          <a:ln w="12700">
            <a:solidFill>
              <a:schemeClr val="accent1"/>
            </a:solidFill>
            <a:prstDash val="solid"/>
          </a:ln>
        </p:spPr>
      </p:sp>
      <p:sp>
        <p:nvSpPr>
          <p:cNvPr id="14" name="Text 11"/>
          <p:cNvSpPr txBox="1"/>
          <p:nvPr/>
        </p:nvSpPr>
        <p:spPr>
          <a:xfrm>
            <a:off x="4480560" y="1874520"/>
            <a:ext cx="502920" cy="50292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15" name="road Fast gate and cached reads"/>
          <p:cNvSpPr txBox="1"/>
          <p:nvPr/>
        </p:nvSpPr>
        <p:spPr>
          <a:xfrm>
            <a:off x="5120640" y="1828800"/>
            <a:ext cx="2651760" cy="6858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Fast gate and cached reads</a:t>
            </a:r>
            <a:endParaRPr lang="en-US" sz="1700" dirty="0"/>
          </a:p>
        </p:txBody>
      </p:sp>
      <p:sp>
        <p:nvSpPr>
          <p:cNvPr id="16" name="road text 2"/>
          <p:cNvSpPr txBox="1"/>
          <p:nvPr/>
        </p:nvSpPr>
        <p:spPr>
          <a:xfrm>
            <a:off x="4480560" y="2514600"/>
            <a:ext cx="3200400" cy="8686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A Redis counter refuses obvious losers; a cache serves seat maps; the database stays the judge.</a:t>
            </a:r>
            <a:endParaRPr lang="en-US" sz="1400" dirty="0"/>
          </a:p>
        </p:txBody>
      </p:sp>
      <p:sp>
        <p:nvSpPr>
          <p:cNvPr id="17" name="Shape 14"/>
          <p:cNvSpPr/>
          <p:nvPr/>
        </p:nvSpPr>
        <p:spPr>
          <a:xfrm>
            <a:off x="4480560" y="3429000"/>
            <a:ext cx="3200400" cy="310896"/>
          </a:xfrm>
          <a:prstGeom prst="roundRect">
            <a:avLst>
              <a:gd name="adj" fmla="val 50000"/>
            </a:avLst>
          </a:prstGeom>
          <a:solidFill>
            <a:schemeClr val="accent1"/>
          </a:solidFill>
          <a:ln w="12700">
            <a:solidFill>
              <a:schemeClr val="accent1"/>
            </a:solidFill>
            <a:prstDash val="solid"/>
          </a:ln>
        </p:spPr>
      </p:sp>
      <p:sp>
        <p:nvSpPr>
          <p:cNvPr id="18" name="Text 15"/>
          <p:cNvSpPr txBox="1"/>
          <p:nvPr/>
        </p:nvSpPr>
        <p:spPr>
          <a:xfrm>
            <a:off x="4480560" y="3429000"/>
            <a:ext cx="320040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Built · Redis stand-in only</a:t>
            </a:r>
            <a:endParaRPr lang="en-US" sz="1200" dirty="0"/>
          </a:p>
        </p:txBody>
      </p:sp>
      <p:sp>
        <p:nvSpPr>
          <p:cNvPr id="19" name="road card 3"/>
          <p:cNvSpPr/>
          <p:nvPr/>
        </p:nvSpPr>
        <p:spPr>
          <a:xfrm>
            <a:off x="8046720" y="1691640"/>
            <a:ext cx="356616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badge 3"/>
          <p:cNvSpPr/>
          <p:nvPr/>
        </p:nvSpPr>
        <p:spPr>
          <a:xfrm>
            <a:off x="8229600" y="1874520"/>
            <a:ext cx="502920" cy="502920"/>
          </a:xfrm>
          <a:prstGeom prst="ellipse">
            <a:avLst/>
          </a:prstGeom>
          <a:solidFill>
            <a:schemeClr val="accent1"/>
          </a:solidFill>
          <a:ln w="12700">
            <a:solidFill>
              <a:schemeClr val="accent1"/>
            </a:solidFill>
            <a:prstDash val="solid"/>
          </a:ln>
        </p:spPr>
      </p:sp>
      <p:sp>
        <p:nvSpPr>
          <p:cNvPr id="21" name="Text 18"/>
          <p:cNvSpPr txBox="1"/>
          <p:nvPr/>
        </p:nvSpPr>
        <p:spPr>
          <a:xfrm>
            <a:off x="8229600" y="1874520"/>
            <a:ext cx="502920" cy="50292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22" name="road A bigger waiting room"/>
          <p:cNvSpPr txBox="1"/>
          <p:nvPr/>
        </p:nvSpPr>
        <p:spPr>
          <a:xfrm>
            <a:off x="8869680" y="1828800"/>
            <a:ext cx="2651760" cy="6858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A bigger waiting room</a:t>
            </a:r>
            <a:endParaRPr lang="en-US" sz="1700" dirty="0"/>
          </a:p>
        </p:txBody>
      </p:sp>
      <p:sp>
        <p:nvSpPr>
          <p:cNvPr id="23" name="road text 3"/>
          <p:cNvSpPr txBox="1"/>
          <p:nvPr/>
        </p:nvSpPr>
        <p:spPr>
          <a:xfrm>
            <a:off x="8229600" y="2514600"/>
            <a:ext cx="3200400" cy="8686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Signed passes, admission paced by seats left, pushed updates, rate limits.</a:t>
            </a:r>
            <a:endParaRPr lang="en-US" sz="1400" dirty="0"/>
          </a:p>
        </p:txBody>
      </p:sp>
      <p:sp>
        <p:nvSpPr>
          <p:cNvPr id="24" name="Shape 21"/>
          <p:cNvSpPr/>
          <p:nvPr/>
        </p:nvSpPr>
        <p:spPr>
          <a:xfrm>
            <a:off x="8229600" y="3429000"/>
            <a:ext cx="3200400" cy="310896"/>
          </a:xfrm>
          <a:prstGeom prst="roundRect">
            <a:avLst>
              <a:gd name="adj" fmla="val 50000"/>
            </a:avLst>
          </a:prstGeom>
          <a:solidFill>
            <a:schemeClr val="accent1"/>
          </a:solidFill>
          <a:ln w="12700">
            <a:solidFill>
              <a:schemeClr val="accent1"/>
            </a:solidFill>
            <a:prstDash val="solid"/>
          </a:ln>
        </p:spPr>
      </p:sp>
      <p:sp>
        <p:nvSpPr>
          <p:cNvPr id="25" name="Text 22"/>
          <p:cNvSpPr txBox="1"/>
          <p:nvPr/>
        </p:nvSpPr>
        <p:spPr>
          <a:xfrm>
            <a:off x="8229600" y="3429000"/>
            <a:ext cx="320040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Built · no bot defence beyond limits</a:t>
            </a:r>
            <a:endParaRPr lang="en-US" sz="1200" dirty="0"/>
          </a:p>
        </p:txBody>
      </p:sp>
      <p:sp>
        <p:nvSpPr>
          <p:cNvPr id="26" name="road card 4"/>
          <p:cNvSpPr/>
          <p:nvPr/>
        </p:nvSpPr>
        <p:spPr>
          <a:xfrm>
            <a:off x="548640" y="4023360"/>
            <a:ext cx="356616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7" name="badge 4"/>
          <p:cNvSpPr/>
          <p:nvPr/>
        </p:nvSpPr>
        <p:spPr>
          <a:xfrm>
            <a:off x="731520" y="4206240"/>
            <a:ext cx="502920" cy="502920"/>
          </a:xfrm>
          <a:prstGeom prst="ellipse">
            <a:avLst/>
          </a:prstGeom>
          <a:solidFill>
            <a:schemeClr val="accent1"/>
          </a:solidFill>
          <a:ln w="12700">
            <a:solidFill>
              <a:schemeClr val="accent1"/>
            </a:solidFill>
            <a:prstDash val="solid"/>
          </a:ln>
        </p:spPr>
      </p:sp>
      <p:sp>
        <p:nvSpPr>
          <p:cNvPr id="28" name="Text 25"/>
          <p:cNvSpPr txBox="1"/>
          <p:nvPr/>
        </p:nvSpPr>
        <p:spPr>
          <a:xfrm>
            <a:off x="731520" y="4206240"/>
            <a:ext cx="502920" cy="50292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4</a:t>
            </a:r>
            <a:endParaRPr lang="en-US" sz="2200" dirty="0"/>
          </a:p>
        </p:txBody>
      </p:sp>
      <p:sp>
        <p:nvSpPr>
          <p:cNvPr id="29" name="road Real payments"/>
          <p:cNvSpPr txBox="1"/>
          <p:nvPr/>
        </p:nvSpPr>
        <p:spPr>
          <a:xfrm>
            <a:off x="1371600" y="4160520"/>
            <a:ext cx="2651760" cy="6858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Real payments</a:t>
            </a:r>
            <a:endParaRPr lang="en-US" sz="1700" dirty="0"/>
          </a:p>
        </p:txBody>
      </p:sp>
      <p:sp>
        <p:nvSpPr>
          <p:cNvPr id="30" name="road text 4"/>
          <p:cNvSpPr txBox="1"/>
          <p:nvPr/>
        </p:nvSpPr>
        <p:spPr>
          <a:xfrm>
            <a:off x="731520" y="4846320"/>
            <a:ext cx="3200400" cy="8686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A capped PAYING state, each gateway message handled once, reconciliation.</a:t>
            </a:r>
            <a:endParaRPr lang="en-US" sz="1400" dirty="0"/>
          </a:p>
        </p:txBody>
      </p:sp>
      <p:sp>
        <p:nvSpPr>
          <p:cNvPr id="31" name="Shape 28"/>
          <p:cNvSpPr/>
          <p:nvPr/>
        </p:nvSpPr>
        <p:spPr>
          <a:xfrm>
            <a:off x="731520" y="5760720"/>
            <a:ext cx="3200400" cy="310896"/>
          </a:xfrm>
          <a:prstGeom prst="roundRect">
            <a:avLst>
              <a:gd name="adj" fmla="val 50000"/>
            </a:avLst>
          </a:prstGeom>
          <a:solidFill>
            <a:schemeClr val="accent1"/>
          </a:solidFill>
          <a:ln w="12700">
            <a:solidFill>
              <a:schemeClr val="accent1"/>
            </a:solidFill>
            <a:prstDash val="solid"/>
          </a:ln>
        </p:spPr>
      </p:sp>
      <p:sp>
        <p:nvSpPr>
          <p:cNvPr id="32" name="Text 29"/>
          <p:cNvSpPr txBox="1"/>
          <p:nvPr/>
        </p:nvSpPr>
        <p:spPr>
          <a:xfrm>
            <a:off x="731520" y="5760720"/>
            <a:ext cx="320040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Built · simulated gateway</a:t>
            </a:r>
            <a:endParaRPr lang="en-US" sz="1200" dirty="0"/>
          </a:p>
        </p:txBody>
      </p:sp>
      <p:sp>
        <p:nvSpPr>
          <p:cNvPr id="33" name="road card 5"/>
          <p:cNvSpPr/>
          <p:nvPr/>
        </p:nvSpPr>
        <p:spPr>
          <a:xfrm>
            <a:off x="4297680" y="4023360"/>
            <a:ext cx="356616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4" name="badge 5"/>
          <p:cNvSpPr/>
          <p:nvPr/>
        </p:nvSpPr>
        <p:spPr>
          <a:xfrm>
            <a:off x="4480560" y="4206240"/>
            <a:ext cx="502920" cy="502920"/>
          </a:xfrm>
          <a:prstGeom prst="ellipse">
            <a:avLst/>
          </a:prstGeom>
          <a:solidFill>
            <a:schemeClr val="accent1"/>
          </a:solidFill>
          <a:ln w="12700">
            <a:solidFill>
              <a:schemeClr val="accent1"/>
            </a:solidFill>
            <a:prstDash val="solid"/>
          </a:ln>
        </p:spPr>
      </p:sp>
      <p:sp>
        <p:nvSpPr>
          <p:cNvPr id="35" name="Text 32"/>
          <p:cNvSpPr txBox="1"/>
          <p:nvPr/>
        </p:nvSpPr>
        <p:spPr>
          <a:xfrm>
            <a:off x="4480560" y="4206240"/>
            <a:ext cx="502920" cy="50292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5</a:t>
            </a:r>
            <a:endParaRPr lang="en-US" sz="2200" dirty="0"/>
          </a:p>
        </p:txBody>
      </p:sp>
      <p:sp>
        <p:nvSpPr>
          <p:cNvPr id="36" name="road Shard by event"/>
          <p:cNvSpPr txBox="1"/>
          <p:nvPr/>
        </p:nvSpPr>
        <p:spPr>
          <a:xfrm>
            <a:off x="5120640" y="4160520"/>
            <a:ext cx="2651760" cy="6858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Shard by event</a:t>
            </a:r>
            <a:endParaRPr lang="en-US" sz="1700" dirty="0"/>
          </a:p>
        </p:txBody>
      </p:sp>
      <p:sp>
        <p:nvSpPr>
          <p:cNvPr id="37" name="road text 5"/>
          <p:cNvSpPr txBox="1"/>
          <p:nvPr/>
        </p:nvSpPr>
        <p:spPr>
          <a:xfrm>
            <a:off x="4480560" y="4846320"/>
            <a:ext cx="3200400" cy="8686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Events are independent: split by event id, split the hottest counter, add regions.</a:t>
            </a:r>
            <a:endParaRPr lang="en-US" sz="1400" dirty="0"/>
          </a:p>
        </p:txBody>
      </p:sp>
      <p:sp>
        <p:nvSpPr>
          <p:cNvPr id="38" name="Shape 35"/>
          <p:cNvSpPr/>
          <p:nvPr/>
        </p:nvSpPr>
        <p:spPr>
          <a:xfrm>
            <a:off x="4480560" y="5760720"/>
            <a:ext cx="3200400" cy="310896"/>
          </a:xfrm>
          <a:prstGeom prst="roundRect">
            <a:avLst>
              <a:gd name="adj" fmla="val 50000"/>
            </a:avLst>
          </a:prstGeom>
          <a:solidFill>
            <a:schemeClr val="accent3"/>
          </a:solidFill>
          <a:ln w="12700">
            <a:solidFill>
              <a:schemeClr val="accent3"/>
            </a:solidFill>
            <a:prstDash val="solid"/>
          </a:ln>
        </p:spPr>
      </p:sp>
      <p:sp>
        <p:nvSpPr>
          <p:cNvPr id="39" name="Text 36"/>
          <p:cNvSpPr txBox="1"/>
          <p:nvPr/>
        </p:nvSpPr>
        <p:spPr>
          <a:xfrm>
            <a:off x="4480560" y="5760720"/>
            <a:ext cx="320040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Not built</a:t>
            </a:r>
            <a:endParaRPr lang="en-US" sz="1200" dirty="0"/>
          </a:p>
        </p:txBody>
      </p:sp>
      <p:sp>
        <p:nvSpPr>
          <p:cNvPr id="40" name="road card 6"/>
          <p:cNvSpPr/>
          <p:nvPr/>
        </p:nvSpPr>
        <p:spPr>
          <a:xfrm>
            <a:off x="8046720" y="4023360"/>
            <a:ext cx="3566160" cy="2148840"/>
          </a:xfrm>
          <a:prstGeom prst="roundRect">
            <a:avLst>
              <a:gd name="adj" fmla="val 51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1" name="badge 6"/>
          <p:cNvSpPr/>
          <p:nvPr/>
        </p:nvSpPr>
        <p:spPr>
          <a:xfrm>
            <a:off x="8229600" y="4206240"/>
            <a:ext cx="502920" cy="502920"/>
          </a:xfrm>
          <a:prstGeom prst="ellipse">
            <a:avLst/>
          </a:prstGeom>
          <a:solidFill>
            <a:schemeClr val="accent1"/>
          </a:solidFill>
          <a:ln w="12700">
            <a:solidFill>
              <a:schemeClr val="accent1"/>
            </a:solidFill>
            <a:prstDash val="solid"/>
          </a:ln>
        </p:spPr>
      </p:sp>
      <p:sp>
        <p:nvSpPr>
          <p:cNvPr id="42" name="Text 39"/>
          <p:cNvSpPr txBox="1"/>
          <p:nvPr/>
        </p:nvSpPr>
        <p:spPr>
          <a:xfrm>
            <a:off x="8229600" y="4206240"/>
            <a:ext cx="502920" cy="50292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6</a:t>
            </a:r>
            <a:endParaRPr lang="en-US" sz="2200" dirty="0"/>
          </a:p>
        </p:txBody>
      </p:sp>
      <p:sp>
        <p:nvSpPr>
          <p:cNvPr id="43" name="road The product around it"/>
          <p:cNvSpPr txBox="1"/>
          <p:nvPr/>
        </p:nvSpPr>
        <p:spPr>
          <a:xfrm>
            <a:off x="8869680" y="4160520"/>
            <a:ext cx="2651760" cy="6858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The product around it</a:t>
            </a:r>
            <a:endParaRPr lang="en-US" sz="1700" dirty="0"/>
          </a:p>
        </p:txBody>
      </p:sp>
      <p:sp>
        <p:nvSpPr>
          <p:cNvPr id="44" name="road text 6"/>
          <p:cNvSpPr txBox="1"/>
          <p:nvPr/>
        </p:nvSpPr>
        <p:spPr>
          <a:xfrm>
            <a:off x="8229600" y="4846320"/>
            <a:ext cx="3200400" cy="8686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Buyer and gate screens, email and SMS, seat maps, alerts, all through the same API.</a:t>
            </a:r>
            <a:endParaRPr lang="en-US" sz="1400" dirty="0"/>
          </a:p>
        </p:txBody>
      </p:sp>
      <p:sp>
        <p:nvSpPr>
          <p:cNvPr id="45" name="Shape 42"/>
          <p:cNvSpPr/>
          <p:nvPr/>
        </p:nvSpPr>
        <p:spPr>
          <a:xfrm>
            <a:off x="8229600" y="5760720"/>
            <a:ext cx="3200400" cy="310896"/>
          </a:xfrm>
          <a:prstGeom prst="roundRect">
            <a:avLst>
              <a:gd name="adj" fmla="val 50000"/>
            </a:avLst>
          </a:prstGeom>
          <a:solidFill>
            <a:schemeClr val="accent2"/>
          </a:solidFill>
          <a:ln w="12700">
            <a:solidFill>
              <a:schemeClr val="accent2"/>
            </a:solidFill>
            <a:prstDash val="solid"/>
          </a:ln>
        </p:spPr>
      </p:sp>
      <p:sp>
        <p:nvSpPr>
          <p:cNvPr id="46" name="Text 43"/>
          <p:cNvSpPr txBox="1"/>
          <p:nvPr/>
        </p:nvSpPr>
        <p:spPr>
          <a:xfrm>
            <a:off x="8229600" y="5760720"/>
            <a:ext cx="3200400" cy="310896"/>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Partly · APIs yes, screens no</a:t>
            </a:r>
            <a:endParaRPr lang="en-US" sz="12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future: the same rules at larger scale</a:t>
            </a:r>
            <a:endParaRPr lang="en-US" dirty="0"/>
          </a:p>
        </p:txBody>
      </p:sp>
      <p:sp>
        <p:nvSpPr>
          <p:cNvPr id="4" name="plan note"/>
          <p:cNvSpPr txBox="1"/>
          <p:nvPr/>
        </p:nvSpPr>
        <p:spPr>
          <a:xfrm>
            <a:off x="548640" y="1143000"/>
            <a:ext cx="11064240" cy="320040"/>
          </a:xfrm>
          <a:prstGeom prst="rect">
            <a:avLst/>
          </a:prstGeom>
          <a:noFill/>
          <a:ln/>
        </p:spPr>
        <p:txBody>
          <a:bodyPr wrap="square" lIns="508" tIns="508" rIns="508" bIns="508" rtlCol="0" anchor="t"/>
          <a:lstStyle/>
          <a:p>
            <a:pPr algn="l" indent="0" marL="0">
              <a:buNone/>
            </a:pPr>
            <a:r>
              <a:rPr lang="en-US" sz="1500" b="1" i="1" dirty="0">
                <a:solidFill>
                  <a:schemeClr val="accent3"/>
                </a:solidFill>
                <a:latin typeface="Calibri" pitchFamily="34" charset="0"/>
                <a:ea typeface="Calibri" pitchFamily="34" charset="-122"/>
                <a:cs typeface="Calibri" pitchFamily="34" charset="-120"/>
              </a:rPr>
              <a:t>Everything on this slide is a plan. None of it is built.</a:t>
            </a:r>
            <a:endParaRPr lang="en-US" sz="1500" dirty="0"/>
          </a:p>
        </p:txBody>
      </p:sp>
      <p:sp>
        <p:nvSpPr>
          <p:cNvPr id="5" name="box Edge and CDN"/>
          <p:cNvSpPr/>
          <p:nvPr/>
        </p:nvSpPr>
        <p:spPr>
          <a:xfrm>
            <a:off x="548640" y="1554480"/>
            <a:ext cx="329184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box title Edge and CDN"/>
          <p:cNvSpPr txBox="1"/>
          <p:nvPr/>
        </p:nvSpPr>
        <p:spPr>
          <a:xfrm>
            <a:off x="685800" y="1645920"/>
            <a:ext cx="3017520" cy="41148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Edge and CDN</a:t>
            </a:r>
            <a:endParaRPr lang="en-US" sz="1700" dirty="0"/>
          </a:p>
        </p:txBody>
      </p:sp>
      <p:sp>
        <p:nvSpPr>
          <p:cNvPr id="7" name="box text Edge and CDN"/>
          <p:cNvSpPr txBox="1"/>
          <p:nvPr/>
        </p:nvSpPr>
        <p:spPr>
          <a:xfrm>
            <a:off x="685800" y="2057400"/>
            <a:ext cx="3017520" cy="731520"/>
          </a:xfrm>
          <a:prstGeom prst="rect">
            <a:avLst/>
          </a:prstGeom>
          <a:noFill/>
          <a:ln/>
        </p:spPr>
        <p:txBody>
          <a:bodyPr wrap="square" lIns="508" tIns="508" rIns="508" bIns="508" rtlCol="0" anchor="t"/>
          <a:lstStyle/>
          <a:p>
            <a:pPr algn="l" indent="0" marL="0">
              <a:buNone/>
            </a:pPr>
            <a:r>
              <a:rPr lang="en-US" sz="1400" dirty="0">
                <a:solidFill>
                  <a:schemeClr val="accent4"/>
                </a:solidFill>
                <a:latin typeface="Calibri" pitchFamily="34" charset="0"/>
                <a:ea typeface="Calibri" pitchFamily="34" charset="-122"/>
                <a:cs typeface="Calibri" pitchFamily="34" charset="-120"/>
              </a:rPr>
              <a:t>Static pages and the signed waiting-room pass, served close to the buyer.</a:t>
            </a:r>
            <a:endParaRPr lang="en-US" sz="1400" dirty="0"/>
          </a:p>
        </p:txBody>
      </p:sp>
      <p:sp>
        <p:nvSpPr>
          <p:cNvPr id="8" name="edge arrow"/>
          <p:cNvSpPr/>
          <p:nvPr/>
        </p:nvSpPr>
        <p:spPr>
          <a:xfrm>
            <a:off x="3840480" y="2212848"/>
            <a:ext cx="594360" cy="0"/>
          </a:xfrm>
          <a:prstGeom prst="line">
            <a:avLst/>
          </a:prstGeom>
          <a:noFill/>
          <a:ln w="28575">
            <a:solidFill>
              <a:schemeClr val="accent4"/>
            </a:solidFill>
            <a:prstDash val="solid"/>
            <a:tailEnd type="triangle"/>
          </a:ln>
        </p:spPr>
      </p:sp>
      <p:sp>
        <p:nvSpPr>
          <p:cNvPr id="9" name="box Waiting room service"/>
          <p:cNvSpPr/>
          <p:nvPr/>
        </p:nvSpPr>
        <p:spPr>
          <a:xfrm>
            <a:off x="4434840" y="1554480"/>
            <a:ext cx="329184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box title Waiting room service"/>
          <p:cNvSpPr txBox="1"/>
          <p:nvPr/>
        </p:nvSpPr>
        <p:spPr>
          <a:xfrm>
            <a:off x="4572000" y="1645920"/>
            <a:ext cx="3017520" cy="41148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Waiting room service</a:t>
            </a:r>
            <a:endParaRPr lang="en-US" sz="1700" dirty="0"/>
          </a:p>
        </p:txBody>
      </p:sp>
      <p:sp>
        <p:nvSpPr>
          <p:cNvPr id="11" name="box text Waiting room service"/>
          <p:cNvSpPr txBox="1"/>
          <p:nvPr/>
        </p:nvSpPr>
        <p:spPr>
          <a:xfrm>
            <a:off x="4572000" y="2057400"/>
            <a:ext cx="3017520" cy="731520"/>
          </a:xfrm>
          <a:prstGeom prst="rect">
            <a:avLst/>
          </a:prstGeom>
          <a:noFill/>
          <a:ln/>
        </p:spPr>
        <p:txBody>
          <a:bodyPr wrap="square" lIns="508" tIns="508" rIns="508" bIns="508" rtlCol="0" anchor="t"/>
          <a:lstStyle/>
          <a:p>
            <a:pPr algn="l" indent="0" marL="0">
              <a:buNone/>
            </a:pPr>
            <a:r>
              <a:rPr lang="en-US" sz="1400" dirty="0">
                <a:solidFill>
                  <a:schemeClr val="accent4"/>
                </a:solidFill>
                <a:latin typeface="Calibri" pitchFamily="34" charset="0"/>
                <a:ea typeface="Calibri" pitchFamily="34" charset="-122"/>
                <a:cs typeface="Calibri" pitchFamily="34" charset="-120"/>
              </a:rPr>
              <a:t>Admits buyers at the rate the checkout can take, from seats left.</a:t>
            </a:r>
            <a:endParaRPr lang="en-US" sz="1400" dirty="0"/>
          </a:p>
        </p:txBody>
      </p:sp>
      <p:sp>
        <p:nvSpPr>
          <p:cNvPr id="12" name="edge arrow"/>
          <p:cNvSpPr/>
          <p:nvPr/>
        </p:nvSpPr>
        <p:spPr>
          <a:xfrm>
            <a:off x="7726680" y="2212848"/>
            <a:ext cx="594360" cy="0"/>
          </a:xfrm>
          <a:prstGeom prst="line">
            <a:avLst/>
          </a:prstGeom>
          <a:noFill/>
          <a:ln w="28575">
            <a:solidFill>
              <a:schemeClr val="accent4"/>
            </a:solidFill>
            <a:prstDash val="solid"/>
            <a:tailEnd type="triangle"/>
          </a:ln>
        </p:spPr>
      </p:sp>
      <p:sp>
        <p:nvSpPr>
          <p:cNvPr id="13" name="box Load balancer"/>
          <p:cNvSpPr/>
          <p:nvPr/>
        </p:nvSpPr>
        <p:spPr>
          <a:xfrm>
            <a:off x="8321040" y="1554480"/>
            <a:ext cx="3291840" cy="1325880"/>
          </a:xfrm>
          <a:prstGeom prst="roundRect">
            <a:avLst>
              <a:gd name="adj" fmla="val 827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box title Load balancer"/>
          <p:cNvSpPr txBox="1"/>
          <p:nvPr/>
        </p:nvSpPr>
        <p:spPr>
          <a:xfrm>
            <a:off x="8458200" y="1645920"/>
            <a:ext cx="3017520" cy="41148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Load balancer</a:t>
            </a:r>
            <a:endParaRPr lang="en-US" sz="1700" dirty="0"/>
          </a:p>
        </p:txBody>
      </p:sp>
      <p:sp>
        <p:nvSpPr>
          <p:cNvPr id="15" name="box text Load balancer"/>
          <p:cNvSpPr txBox="1"/>
          <p:nvPr/>
        </p:nvSpPr>
        <p:spPr>
          <a:xfrm>
            <a:off x="8458200" y="2057400"/>
            <a:ext cx="3017520" cy="731520"/>
          </a:xfrm>
          <a:prstGeom prst="rect">
            <a:avLst/>
          </a:prstGeom>
          <a:noFill/>
          <a:ln/>
        </p:spPr>
        <p:txBody>
          <a:bodyPr wrap="square" lIns="508" tIns="508" rIns="508" bIns="508" rtlCol="0" anchor="t"/>
          <a:lstStyle/>
          <a:p>
            <a:pPr algn="l" indent="0" marL="0">
              <a:buNone/>
            </a:pPr>
            <a:r>
              <a:rPr lang="en-US" sz="1400" dirty="0">
                <a:solidFill>
                  <a:schemeClr val="accent4"/>
                </a:solidFill>
                <a:latin typeface="Calibri" pitchFamily="34" charset="0"/>
                <a:ea typeface="Calibri" pitchFamily="34" charset="-122"/>
                <a:cs typeface="Calibri" pitchFamily="34" charset="-120"/>
              </a:rPr>
              <a:t>Spreads buyers over the API copies and drops bots early.</a:t>
            </a:r>
            <a:endParaRPr lang="en-US" sz="1400" dirty="0"/>
          </a:p>
        </p:txBody>
      </p:sp>
      <p:sp>
        <p:nvSpPr>
          <p:cNvPr id="16" name="lb arrow"/>
          <p:cNvSpPr/>
          <p:nvPr/>
        </p:nvSpPr>
        <p:spPr>
          <a:xfrm>
            <a:off x="9966960" y="2880360"/>
            <a:ext cx="0" cy="228600"/>
          </a:xfrm>
          <a:prstGeom prst="line">
            <a:avLst/>
          </a:prstGeom>
          <a:noFill/>
          <a:ln w="28575">
            <a:solidFill>
              <a:schemeClr val="accent4"/>
            </a:solidFill>
            <a:prstDash val="solid"/>
            <a:tailEnd type="triangle"/>
          </a:ln>
        </p:spPr>
      </p:sp>
      <p:sp>
        <p:nvSpPr>
          <p:cNvPr id="17" name="box API servers: as many copies as needed"/>
          <p:cNvSpPr/>
          <p:nvPr/>
        </p:nvSpPr>
        <p:spPr>
          <a:xfrm>
            <a:off x="548640" y="3108960"/>
            <a:ext cx="11064240" cy="914400"/>
          </a:xfrm>
          <a:prstGeom prst="roundRect">
            <a:avLst>
              <a:gd name="adj" fmla="val 12000"/>
            </a:avLst>
          </a:prstGeom>
          <a:solidFill>
            <a:schemeClr val="accent1"/>
          </a:solidFill>
          <a:ln w="12700">
            <a:solidFill>
              <a:schemeClr val="accent1"/>
            </a:solidFill>
            <a:prstDash val="solid"/>
          </a:ln>
        </p:spPr>
      </p:sp>
      <p:sp>
        <p:nvSpPr>
          <p:cNvPr id="18" name="box title API servers: as many copies as needed"/>
          <p:cNvSpPr txBox="1"/>
          <p:nvPr/>
        </p:nvSpPr>
        <p:spPr>
          <a:xfrm>
            <a:off x="685800" y="3200400"/>
            <a:ext cx="10789920" cy="411480"/>
          </a:xfrm>
          <a:prstGeom prst="rect">
            <a:avLst/>
          </a:prstGeom>
          <a:noFill/>
          <a:ln/>
        </p:spPr>
        <p:txBody>
          <a:bodyPr wrap="square" lIns="508" tIns="508" rIns="508" bIns="508" rtlCol="0" anchor="t"/>
          <a:lstStyle/>
          <a:p>
            <a:pPr algn="l" indent="0" marL="0">
              <a:buNone/>
            </a:pPr>
            <a:r>
              <a:rPr lang="en-US" sz="1800" b="1" dirty="0">
                <a:solidFill>
                  <a:schemeClr val="bg1"/>
                </a:solidFill>
                <a:latin typeface="Cambria" pitchFamily="34" charset="0"/>
                <a:ea typeface="Cambria" pitchFamily="34" charset="-122"/>
                <a:cs typeface="Cambria" pitchFamily="34" charset="-120"/>
              </a:rPr>
              <a:t>API servers: as many copies as needed</a:t>
            </a:r>
            <a:endParaRPr lang="en-US" sz="1800" dirty="0"/>
          </a:p>
        </p:txBody>
      </p:sp>
      <p:sp>
        <p:nvSpPr>
          <p:cNvPr id="19" name="box text API servers: as many copies as needed"/>
          <p:cNvSpPr txBox="1"/>
          <p:nvPr/>
        </p:nvSpPr>
        <p:spPr>
          <a:xfrm>
            <a:off x="685800" y="3611880"/>
            <a:ext cx="10789920" cy="320040"/>
          </a:xfrm>
          <a:prstGeom prst="rect">
            <a:avLst/>
          </a:prstGeom>
          <a:noFill/>
          <a:ln/>
        </p:spPr>
        <p:txBody>
          <a:bodyPr wrap="square" lIns="508" tIns="508" rIns="508" bIns="508" rtlCol="0" anchor="t"/>
          <a:lstStyle/>
          <a:p>
            <a:pPr algn="l" indent="0" marL="0">
              <a:buNone/>
            </a:pPr>
            <a:r>
              <a:rPr lang="en-US" sz="1500" dirty="0">
                <a:solidFill>
                  <a:schemeClr val="bg2"/>
                </a:solidFill>
                <a:latin typeface="Calibri" pitchFamily="34" charset="0"/>
                <a:ea typeface="Calibri" pitchFamily="34" charset="-122"/>
                <a:cs typeface="Calibri" pitchFamily="34" charset="-120"/>
              </a:rPr>
              <a:t>The same guarded steps as today. Any copy can serve any buyer.</a:t>
            </a:r>
            <a:endParaRPr lang="en-US" sz="1500" dirty="0"/>
          </a:p>
        </p:txBody>
      </p:sp>
      <p:sp>
        <p:nvSpPr>
          <p:cNvPr id="20" name="tier arrow"/>
          <p:cNvSpPr/>
          <p:nvPr/>
        </p:nvSpPr>
        <p:spPr>
          <a:xfrm>
            <a:off x="2194560" y="4023360"/>
            <a:ext cx="0" cy="228600"/>
          </a:xfrm>
          <a:prstGeom prst="line">
            <a:avLst/>
          </a:prstGeom>
          <a:noFill/>
          <a:ln w="28575">
            <a:solidFill>
              <a:schemeClr val="accent4"/>
            </a:solidFill>
            <a:prstDash val="solid"/>
            <a:tailEnd type="triangle"/>
          </a:ln>
        </p:spPr>
      </p:sp>
      <p:sp>
        <p:nvSpPr>
          <p:cNvPr id="21" name="box Redis cluster"/>
          <p:cNvSpPr/>
          <p:nvPr/>
        </p:nvSpPr>
        <p:spPr>
          <a:xfrm>
            <a:off x="548640" y="4251960"/>
            <a:ext cx="32918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box title Redis cluster"/>
          <p:cNvSpPr txBox="1"/>
          <p:nvPr/>
        </p:nvSpPr>
        <p:spPr>
          <a:xfrm>
            <a:off x="685800" y="4343400"/>
            <a:ext cx="3017520" cy="41148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Redis cluster</a:t>
            </a:r>
            <a:endParaRPr lang="en-US" sz="1700" dirty="0"/>
          </a:p>
        </p:txBody>
      </p:sp>
      <p:sp>
        <p:nvSpPr>
          <p:cNvPr id="23" name="box text Redis cluster"/>
          <p:cNvSpPr txBox="1"/>
          <p:nvPr/>
        </p:nvSpPr>
        <p:spPr>
          <a:xfrm>
            <a:off x="685800" y="4754880"/>
            <a:ext cx="3017520" cy="914400"/>
          </a:xfrm>
          <a:prstGeom prst="rect">
            <a:avLst/>
          </a:prstGeom>
          <a:noFill/>
          <a:ln/>
        </p:spPr>
        <p:txBody>
          <a:bodyPr wrap="square" lIns="508" tIns="508" rIns="508" bIns="508" rtlCol="0" anchor="t"/>
          <a:lstStyle/>
          <a:p>
            <a:pPr algn="l" indent="0" marL="0">
              <a:buNone/>
            </a:pPr>
            <a:r>
              <a:rPr lang="en-US" sz="1400" dirty="0">
                <a:solidFill>
                  <a:schemeClr val="accent4"/>
                </a:solidFill>
                <a:latin typeface="Calibri" pitchFamily="34" charset="0"/>
                <a:ea typeface="Calibri" pitchFamily="34" charset="-122"/>
                <a:cs typeface="Calibri" pitchFamily="34" charset="-120"/>
              </a:rPr>
              <a:t>Fast-gate counters per sub-pool, page cache. A shield only.</a:t>
            </a:r>
            <a:endParaRPr lang="en-US" sz="1400" dirty="0"/>
          </a:p>
        </p:txBody>
      </p:sp>
      <p:sp>
        <p:nvSpPr>
          <p:cNvPr id="24" name="tier arrow"/>
          <p:cNvSpPr/>
          <p:nvPr/>
        </p:nvSpPr>
        <p:spPr>
          <a:xfrm>
            <a:off x="6080760" y="4023360"/>
            <a:ext cx="0" cy="228600"/>
          </a:xfrm>
          <a:prstGeom prst="line">
            <a:avLst/>
          </a:prstGeom>
          <a:noFill/>
          <a:ln w="28575">
            <a:solidFill>
              <a:schemeClr val="accent4"/>
            </a:solidFill>
            <a:prstDash val="solid"/>
            <a:tailEnd type="triangle"/>
          </a:ln>
        </p:spPr>
      </p:sp>
      <p:sp>
        <p:nvSpPr>
          <p:cNvPr id="25" name="box PostgreSQL by event"/>
          <p:cNvSpPr/>
          <p:nvPr/>
        </p:nvSpPr>
        <p:spPr>
          <a:xfrm>
            <a:off x="4434840" y="4251960"/>
            <a:ext cx="32918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6" name="box title PostgreSQL by event"/>
          <p:cNvSpPr txBox="1"/>
          <p:nvPr/>
        </p:nvSpPr>
        <p:spPr>
          <a:xfrm>
            <a:off x="4572000" y="4343400"/>
            <a:ext cx="3017520" cy="41148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PostgreSQL by event</a:t>
            </a:r>
            <a:endParaRPr lang="en-US" sz="1700" dirty="0"/>
          </a:p>
        </p:txBody>
      </p:sp>
      <p:sp>
        <p:nvSpPr>
          <p:cNvPr id="27" name="box text PostgreSQL by event"/>
          <p:cNvSpPr txBox="1"/>
          <p:nvPr/>
        </p:nvSpPr>
        <p:spPr>
          <a:xfrm>
            <a:off x="4572000" y="4754880"/>
            <a:ext cx="3017520" cy="914400"/>
          </a:xfrm>
          <a:prstGeom prst="rect">
            <a:avLst/>
          </a:prstGeom>
          <a:noFill/>
          <a:ln/>
        </p:spPr>
        <p:txBody>
          <a:bodyPr wrap="square" lIns="508" tIns="508" rIns="508" bIns="508" rtlCol="0" anchor="t"/>
          <a:lstStyle/>
          <a:p>
            <a:pPr algn="l" indent="0" marL="0">
              <a:buNone/>
            </a:pPr>
            <a:r>
              <a:rPr lang="en-US" sz="1400" dirty="0">
                <a:solidFill>
                  <a:schemeClr val="accent4"/>
                </a:solidFill>
                <a:latin typeface="Calibri" pitchFamily="34" charset="0"/>
                <a:ea typeface="Calibri" pitchFamily="34" charset="-122"/>
                <a:cs typeface="Calibri" pitchFamily="34" charset="-120"/>
              </a:rPr>
              <a:t>One primary per group of events, read copies for pages. Hottest counter split into sub-pools.</a:t>
            </a:r>
            <a:endParaRPr lang="en-US" sz="1400" dirty="0"/>
          </a:p>
        </p:txBody>
      </p:sp>
      <p:sp>
        <p:nvSpPr>
          <p:cNvPr id="28" name="tier arrow"/>
          <p:cNvSpPr/>
          <p:nvPr/>
        </p:nvSpPr>
        <p:spPr>
          <a:xfrm>
            <a:off x="9966960" y="4023360"/>
            <a:ext cx="0" cy="228600"/>
          </a:xfrm>
          <a:prstGeom prst="line">
            <a:avLst/>
          </a:prstGeom>
          <a:noFill/>
          <a:ln w="28575">
            <a:solidFill>
              <a:schemeClr val="accent4"/>
            </a:solidFill>
            <a:prstDash val="solid"/>
            <a:tailEnd type="triangle"/>
          </a:ln>
        </p:spPr>
      </p:sp>
      <p:sp>
        <p:nvSpPr>
          <p:cNvPr id="29" name="box Payment workers"/>
          <p:cNvSpPr/>
          <p:nvPr/>
        </p:nvSpPr>
        <p:spPr>
          <a:xfrm>
            <a:off x="8321040" y="4251960"/>
            <a:ext cx="3291840" cy="1508760"/>
          </a:xfrm>
          <a:prstGeom prst="roundRect">
            <a:avLst>
              <a:gd name="adj" fmla="val 727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0" name="box title Payment workers"/>
          <p:cNvSpPr txBox="1"/>
          <p:nvPr/>
        </p:nvSpPr>
        <p:spPr>
          <a:xfrm>
            <a:off x="8458200" y="4343400"/>
            <a:ext cx="3017520" cy="41148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Payment workers</a:t>
            </a:r>
            <a:endParaRPr lang="en-US" sz="1700" dirty="0"/>
          </a:p>
        </p:txBody>
      </p:sp>
      <p:sp>
        <p:nvSpPr>
          <p:cNvPr id="31" name="box text Payment workers"/>
          <p:cNvSpPr txBox="1"/>
          <p:nvPr/>
        </p:nvSpPr>
        <p:spPr>
          <a:xfrm>
            <a:off x="8458200" y="4754880"/>
            <a:ext cx="3017520" cy="914400"/>
          </a:xfrm>
          <a:prstGeom prst="rect">
            <a:avLst/>
          </a:prstGeom>
          <a:noFill/>
          <a:ln/>
        </p:spPr>
        <p:txBody>
          <a:bodyPr wrap="square" lIns="508" tIns="508" rIns="508" bIns="508" rtlCol="0" anchor="t"/>
          <a:lstStyle/>
          <a:p>
            <a:pPr algn="l" indent="0" marL="0">
              <a:buNone/>
            </a:pPr>
            <a:r>
              <a:rPr lang="en-US" sz="1400" dirty="0">
                <a:solidFill>
                  <a:schemeClr val="accent4"/>
                </a:solidFill>
                <a:latin typeface="Calibri" pitchFamily="34" charset="0"/>
                <a:ea typeface="Calibri" pitchFamily="34" charset="-122"/>
                <a:cs typeface="Calibri" pitchFamily="34" charset="-120"/>
              </a:rPr>
              <a:t>Webhook handling, refund retries and reconciliation, off the buyer path.</a:t>
            </a:r>
            <a:endParaRPr lang="en-US" sz="1400" dirty="0"/>
          </a:p>
        </p:txBody>
      </p:sp>
      <p:sp>
        <p:nvSpPr>
          <p:cNvPr id="32" name="watch bar"/>
          <p:cNvSpPr/>
          <p:nvPr/>
        </p:nvSpPr>
        <p:spPr>
          <a:xfrm>
            <a:off x="548640" y="5897880"/>
            <a:ext cx="11064240" cy="411480"/>
          </a:xfrm>
          <a:prstGeom prst="roundRect">
            <a:avLst>
              <a:gd name="adj" fmla="val 26667"/>
            </a:avLst>
          </a:prstGeom>
          <a:solidFill>
            <a:schemeClr val="accent6"/>
          </a:solidFill>
          <a:ln w="12700">
            <a:solidFill>
              <a:schemeClr val="accent6"/>
            </a:solidFill>
            <a:prstDash val="solid"/>
          </a:ln>
        </p:spPr>
      </p:sp>
      <p:sp>
        <p:nvSpPr>
          <p:cNvPr id="33" name="watch text"/>
          <p:cNvSpPr txBox="1"/>
          <p:nvPr/>
        </p:nvSpPr>
        <p:spPr>
          <a:xfrm>
            <a:off x="731520" y="5943600"/>
            <a:ext cx="10698480" cy="320040"/>
          </a:xfrm>
          <a:prstGeom prst="rect">
            <a:avLst/>
          </a:prstGeom>
          <a:noFill/>
          <a:ln/>
        </p:spPr>
        <p:txBody>
          <a:bodyPr wrap="square" lIns="508" tIns="508" rIns="508" bIns="508" rtlCol="0" anchor="ctr"/>
          <a:lstStyle/>
          <a:p>
            <a:pPr algn="l" indent="0" marL="0">
              <a:buNone/>
            </a:pPr>
            <a:r>
              <a:rPr lang="en-US" sz="1400" b="1" dirty="0">
                <a:solidFill>
                  <a:schemeClr val="bg1"/>
                </a:solidFill>
                <a:latin typeface="Calibri" pitchFamily="34" charset="0"/>
                <a:ea typeface="Calibri" pitchFamily="34" charset="-122"/>
                <a:cs typeface="Calibri" pitchFamily="34" charset="-120"/>
              </a:rPr>
              <a:t>Metrics, alerts and the audit job watch everything, and flag any count that is wrong in seconds.</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hardest scaling problem: one hot counter</a:t>
            </a:r>
            <a:endParaRPr lang="en-US" dirty="0"/>
          </a:p>
        </p:txBody>
      </p:sp>
      <p:sp>
        <p:nvSpPr>
          <p:cNvPr id="4" name="hot step 1"/>
          <p:cNvSpPr/>
          <p:nvPr/>
        </p:nvSpPr>
        <p:spPr>
          <a:xfrm>
            <a:off x="548640" y="1417320"/>
            <a:ext cx="2057400" cy="1737360"/>
          </a:xfrm>
          <a:prstGeom prst="roundRect">
            <a:avLst>
              <a:gd name="adj" fmla="val 6316"/>
            </a:avLst>
          </a:prstGeom>
          <a:solidFill>
            <a:schemeClr val="bg2"/>
          </a:solidFill>
          <a:ln w="12700">
            <a:solidFill>
              <a:schemeClr val="bg2"/>
            </a:solidFill>
            <a:prstDash val="solid"/>
          </a:ln>
        </p:spPr>
      </p:sp>
      <p:sp>
        <p:nvSpPr>
          <p:cNvPr id="5" name="hot title 1"/>
          <p:cNvSpPr txBox="1"/>
          <p:nvPr/>
        </p:nvSpPr>
        <p:spPr>
          <a:xfrm>
            <a:off x="658368" y="1508760"/>
            <a:ext cx="1828800" cy="4572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1 · Queue</a:t>
            </a:r>
            <a:endParaRPr lang="en-US" sz="1700" dirty="0"/>
          </a:p>
        </p:txBody>
      </p:sp>
      <p:sp>
        <p:nvSpPr>
          <p:cNvPr id="6" name="hot text 1"/>
          <p:cNvSpPr txBox="1"/>
          <p:nvPr/>
        </p:nvSpPr>
        <p:spPr>
          <a:xfrm>
            <a:off x="658368" y="2011680"/>
            <a:ext cx="1828800" cy="10972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Admit only what the system can handle.</a:t>
            </a:r>
            <a:endParaRPr lang="en-US" sz="1400" dirty="0"/>
          </a:p>
        </p:txBody>
      </p:sp>
      <p:sp>
        <p:nvSpPr>
          <p:cNvPr id="7" name="hot step 2"/>
          <p:cNvSpPr/>
          <p:nvPr/>
        </p:nvSpPr>
        <p:spPr>
          <a:xfrm>
            <a:off x="2788920" y="1417320"/>
            <a:ext cx="2057400" cy="1737360"/>
          </a:xfrm>
          <a:prstGeom prst="roundRect">
            <a:avLst>
              <a:gd name="adj" fmla="val 6316"/>
            </a:avLst>
          </a:prstGeom>
          <a:solidFill>
            <a:schemeClr val="bg2"/>
          </a:solidFill>
          <a:ln w="12700">
            <a:solidFill>
              <a:schemeClr val="bg2"/>
            </a:solidFill>
            <a:prstDash val="solid"/>
          </a:ln>
        </p:spPr>
      </p:sp>
      <p:sp>
        <p:nvSpPr>
          <p:cNvPr id="8" name="hot title 2"/>
          <p:cNvSpPr txBox="1"/>
          <p:nvPr/>
        </p:nvSpPr>
        <p:spPr>
          <a:xfrm>
            <a:off x="2898648" y="1508760"/>
            <a:ext cx="1828800" cy="4572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2 · Cache</a:t>
            </a:r>
            <a:endParaRPr lang="en-US" sz="1700" dirty="0"/>
          </a:p>
        </p:txBody>
      </p:sp>
      <p:sp>
        <p:nvSpPr>
          <p:cNvPr id="9" name="hot text 2"/>
          <p:cNvSpPr txBox="1"/>
          <p:nvPr/>
        </p:nvSpPr>
        <p:spPr>
          <a:xfrm>
            <a:off x="2898648" y="2011680"/>
            <a:ext cx="1828800" cy="10972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Seat maps are read from a cache, not the database.</a:t>
            </a:r>
            <a:endParaRPr lang="en-US" sz="1400" dirty="0"/>
          </a:p>
        </p:txBody>
      </p:sp>
      <p:sp>
        <p:nvSpPr>
          <p:cNvPr id="10" name="hot step 3"/>
          <p:cNvSpPr/>
          <p:nvPr/>
        </p:nvSpPr>
        <p:spPr>
          <a:xfrm>
            <a:off x="5029200" y="1417320"/>
            <a:ext cx="2057400" cy="1737360"/>
          </a:xfrm>
          <a:prstGeom prst="roundRect">
            <a:avLst>
              <a:gd name="adj" fmla="val 6316"/>
            </a:avLst>
          </a:prstGeom>
          <a:solidFill>
            <a:schemeClr val="bg2"/>
          </a:solidFill>
          <a:ln w="12700">
            <a:solidFill>
              <a:schemeClr val="bg2"/>
            </a:solidFill>
            <a:prstDash val="solid"/>
          </a:ln>
        </p:spPr>
      </p:sp>
      <p:sp>
        <p:nvSpPr>
          <p:cNvPr id="11" name="hot title 3"/>
          <p:cNvSpPr txBox="1"/>
          <p:nvPr/>
        </p:nvSpPr>
        <p:spPr>
          <a:xfrm>
            <a:off x="5138928" y="1508760"/>
            <a:ext cx="1828800" cy="4572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3 · Fast gate</a:t>
            </a:r>
            <a:endParaRPr lang="en-US" sz="1700" dirty="0"/>
          </a:p>
        </p:txBody>
      </p:sp>
      <p:sp>
        <p:nvSpPr>
          <p:cNvPr id="12" name="hot text 3"/>
          <p:cNvSpPr txBox="1"/>
          <p:nvPr/>
        </p:nvSpPr>
        <p:spPr>
          <a:xfrm>
            <a:off x="5138928" y="2011680"/>
            <a:ext cx="1828800" cy="10972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An in-memory counter refuses the obvious losers.</a:t>
            </a:r>
            <a:endParaRPr lang="en-US" sz="1400" dirty="0"/>
          </a:p>
        </p:txBody>
      </p:sp>
      <p:sp>
        <p:nvSpPr>
          <p:cNvPr id="13" name="hot step 4"/>
          <p:cNvSpPr/>
          <p:nvPr/>
        </p:nvSpPr>
        <p:spPr>
          <a:xfrm>
            <a:off x="7269480" y="1417320"/>
            <a:ext cx="2057400" cy="1737360"/>
          </a:xfrm>
          <a:prstGeom prst="roundRect">
            <a:avLst>
              <a:gd name="adj" fmla="val 6316"/>
            </a:avLst>
          </a:prstGeom>
          <a:solidFill>
            <a:schemeClr val="bg2"/>
          </a:solidFill>
          <a:ln w="12700">
            <a:solidFill>
              <a:schemeClr val="bg2"/>
            </a:solidFill>
            <a:prstDash val="solid"/>
          </a:ln>
        </p:spPr>
      </p:sp>
      <p:sp>
        <p:nvSpPr>
          <p:cNvPr id="14" name="hot title 4"/>
          <p:cNvSpPr txBox="1"/>
          <p:nvPr/>
        </p:nvSpPr>
        <p:spPr>
          <a:xfrm>
            <a:off x="7379208" y="1508760"/>
            <a:ext cx="1828800" cy="4572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4 · Database</a:t>
            </a:r>
            <a:endParaRPr lang="en-US" sz="1700" dirty="0"/>
          </a:p>
        </p:txBody>
      </p:sp>
      <p:sp>
        <p:nvSpPr>
          <p:cNvPr id="15" name="hot text 4"/>
          <p:cNvSpPr txBox="1"/>
          <p:nvPr/>
        </p:nvSpPr>
        <p:spPr>
          <a:xfrm>
            <a:off x="7379208" y="2011680"/>
            <a:ext cx="1828800" cy="10972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The guarded update is the judge of real winners.</a:t>
            </a:r>
            <a:endParaRPr lang="en-US" sz="1400" dirty="0"/>
          </a:p>
        </p:txBody>
      </p:sp>
      <p:sp>
        <p:nvSpPr>
          <p:cNvPr id="16" name="hot step 5"/>
          <p:cNvSpPr/>
          <p:nvPr/>
        </p:nvSpPr>
        <p:spPr>
          <a:xfrm>
            <a:off x="9509760" y="1417320"/>
            <a:ext cx="2057400" cy="1737360"/>
          </a:xfrm>
          <a:prstGeom prst="roundRect">
            <a:avLst>
              <a:gd name="adj" fmla="val 6316"/>
            </a:avLst>
          </a:prstGeom>
          <a:solidFill>
            <a:schemeClr val="bg2"/>
          </a:solidFill>
          <a:ln w="12700">
            <a:solidFill>
              <a:schemeClr val="bg2"/>
            </a:solidFill>
            <a:prstDash val="solid"/>
          </a:ln>
        </p:spPr>
      </p:sp>
      <p:sp>
        <p:nvSpPr>
          <p:cNvPr id="17" name="hot title 5"/>
          <p:cNvSpPr txBox="1"/>
          <p:nvPr/>
        </p:nvSpPr>
        <p:spPr>
          <a:xfrm>
            <a:off x="9619488" y="1508760"/>
            <a:ext cx="1828800" cy="45720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5 · Audit</a:t>
            </a:r>
            <a:endParaRPr lang="en-US" sz="1700" dirty="0"/>
          </a:p>
        </p:txBody>
      </p:sp>
      <p:sp>
        <p:nvSpPr>
          <p:cNvPr id="18" name="hot text 5"/>
          <p:cNvSpPr txBox="1"/>
          <p:nvPr/>
        </p:nvSpPr>
        <p:spPr>
          <a:xfrm>
            <a:off x="9619488" y="2011680"/>
            <a:ext cx="1828800" cy="109728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A job recomputes counts and heals cache drift.</a:t>
            </a:r>
            <a:endParaRPr lang="en-US" sz="1400" dirty="0"/>
          </a:p>
        </p:txBody>
      </p:sp>
      <p:sp>
        <p:nvSpPr>
          <p:cNvPr id="19" name="split card"/>
          <p:cNvSpPr/>
          <p:nvPr/>
        </p:nvSpPr>
        <p:spPr>
          <a:xfrm>
            <a:off x="548640" y="3429000"/>
            <a:ext cx="5440680" cy="2651760"/>
          </a:xfrm>
          <a:prstGeom prst="roundRect">
            <a:avLst>
              <a:gd name="adj" fmla="val 413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split title"/>
          <p:cNvSpPr txBox="1"/>
          <p:nvPr/>
        </p:nvSpPr>
        <p:spPr>
          <a:xfrm>
            <a:off x="822960" y="3611880"/>
            <a:ext cx="4937760" cy="457200"/>
          </a:xfrm>
          <a:prstGeom prst="rect">
            <a:avLst/>
          </a:prstGeom>
          <a:noFill/>
          <a:ln/>
        </p:spPr>
        <p:txBody>
          <a:bodyPr wrap="square" lIns="508" tIns="508" rIns="508" bIns="508" rtlCol="0" anchor="t"/>
          <a:lstStyle/>
          <a:p>
            <a:pPr algn="l" indent="0" marL="0">
              <a:buNone/>
            </a:pPr>
            <a:r>
              <a:rPr lang="en-US" sz="2000" b="1" dirty="0">
                <a:solidFill>
                  <a:schemeClr val="tx1"/>
                </a:solidFill>
                <a:latin typeface="Cambria" pitchFamily="34" charset="0"/>
                <a:ea typeface="Cambria" pitchFamily="34" charset="-122"/>
                <a:cs typeface="Cambria" pitchFamily="34" charset="-120"/>
              </a:rPr>
              <a:t>Split the counter (plan)</a:t>
            </a:r>
            <a:endParaRPr lang="en-US" sz="2000" dirty="0"/>
          </a:p>
        </p:txBody>
      </p:sp>
      <p:sp>
        <p:nvSpPr>
          <p:cNvPr id="21" name="split text"/>
          <p:cNvSpPr txBox="1"/>
          <p:nvPr/>
        </p:nvSpPr>
        <p:spPr>
          <a:xfrm>
            <a:off x="822960" y="4160520"/>
            <a:ext cx="4937760" cy="182880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Divide an event’s pool into several sub-pools, each with its own row. A buyer is routed to one, and tries the next if it is empty. Contention drops roughly in proportion; “sold out” then needs a check across all sub-pools.</a:t>
            </a:r>
            <a:endParaRPr lang="en-US" sz="1500" dirty="0"/>
          </a:p>
        </p:txBody>
      </p:sp>
      <p:sp>
        <p:nvSpPr>
          <p:cNvPr id="22" name="ready card"/>
          <p:cNvSpPr/>
          <p:nvPr/>
        </p:nvSpPr>
        <p:spPr>
          <a:xfrm>
            <a:off x="6217920" y="3429000"/>
            <a:ext cx="5394960" cy="2651760"/>
          </a:xfrm>
          <a:prstGeom prst="roundRect">
            <a:avLst>
              <a:gd name="adj" fmla="val 413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3" name="ready title"/>
          <p:cNvSpPr txBox="1"/>
          <p:nvPr/>
        </p:nvSpPr>
        <p:spPr>
          <a:xfrm>
            <a:off x="6492240" y="3611880"/>
            <a:ext cx="4846320" cy="457200"/>
          </a:xfrm>
          <a:prstGeom prst="rect">
            <a:avLst/>
          </a:prstGeom>
          <a:noFill/>
          <a:ln/>
        </p:spPr>
        <p:txBody>
          <a:bodyPr wrap="square" lIns="508" tIns="508" rIns="508" bIns="508" rtlCol="0" anchor="t"/>
          <a:lstStyle/>
          <a:p>
            <a:pPr algn="l" indent="0" marL="0">
              <a:buNone/>
            </a:pPr>
            <a:r>
              <a:rPr lang="en-US" sz="2000" b="1" dirty="0">
                <a:solidFill>
                  <a:schemeClr val="tx1"/>
                </a:solidFill>
                <a:latin typeface="Cambria" pitchFamily="34" charset="0"/>
                <a:ea typeface="Cambria" pitchFamily="34" charset="-122"/>
                <a:cs typeface="Cambria" pitchFamily="34" charset="-120"/>
              </a:rPr>
              <a:t>Why we are ready for it</a:t>
            </a:r>
            <a:endParaRPr lang="en-US" sz="2000" dirty="0"/>
          </a:p>
        </p:txBody>
      </p:sp>
      <p:sp>
        <p:nvSpPr>
          <p:cNvPr id="24" name="ready text"/>
          <p:cNvSpPr txBox="1"/>
          <p:nvPr/>
        </p:nvSpPr>
        <p:spPr>
          <a:xfrm>
            <a:off x="6492240" y="4160520"/>
            <a:ext cx="4846320" cy="1828800"/>
          </a:xfrm>
          <a:prstGeom prst="rect">
            <a:avLst/>
          </a:prstGeom>
          <a:noFill/>
          <a:ln/>
        </p:spPr>
        <p:txBody>
          <a:bodyPr wrap="square" lIns="508" tIns="508" rIns="508" bIns="508" rtlCol="0" anchor="t"/>
          <a:lstStyle/>
          <a:p>
            <a:pPr algn="l" indent="0" marL="0">
              <a:buNone/>
            </a:pPr>
            <a:r>
              <a:rPr lang="en-US" sz="1500" dirty="0">
                <a:solidFill>
                  <a:schemeClr val="tx1"/>
                </a:solidFill>
                <a:latin typeface="Calibri" pitchFamily="34" charset="0"/>
                <a:ea typeface="Calibri" pitchFamily="34" charset="-122"/>
                <a:cs typeface="Calibri" pitchFamily="34" charset="-120"/>
              </a:rPr>
              <a:t>Our audit already recomputes held and sold from the records, and our tests already race separate connections. Those two tools are exactly what a counter-splitting change needs to be proven safe.</a:t>
            </a:r>
            <a:endParaRPr lang="en-US" sz="15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The next 12 weeks</a:t>
            </a:r>
            <a:endParaRPr lang="en-US" dirty="0"/>
          </a:p>
        </p:txBody>
      </p:sp>
      <p:sp>
        <p:nvSpPr>
          <p:cNvPr id="4" name="plan note 2"/>
          <p:cNvSpPr txBox="1"/>
          <p:nvPr/>
        </p:nvSpPr>
        <p:spPr>
          <a:xfrm>
            <a:off x="548640" y="1143000"/>
            <a:ext cx="11064240" cy="320040"/>
          </a:xfrm>
          <a:prstGeom prst="rect">
            <a:avLst/>
          </a:prstGeom>
          <a:noFill/>
          <a:ln/>
        </p:spPr>
        <p:txBody>
          <a:bodyPr wrap="square" lIns="508" tIns="508" rIns="508" bIns="508" rtlCol="0" anchor="t"/>
          <a:lstStyle/>
          <a:p>
            <a:pPr algn="l" indent="0" marL="0">
              <a:buNone/>
            </a:pPr>
            <a:r>
              <a:rPr lang="en-US" sz="1500" b="1" i="1" dirty="0">
                <a:solidFill>
                  <a:schemeClr val="accent3"/>
                </a:solidFill>
                <a:latin typeface="Calibri" pitchFamily="34" charset="0"/>
                <a:ea typeface="Calibri" pitchFamily="34" charset="-122"/>
                <a:cs typeface="Calibri" pitchFamily="34" charset="-120"/>
              </a:rPr>
              <a:t>A plan. The numbers are targets, not results.</a:t>
            </a:r>
            <a:endParaRPr lang="en-US" sz="1500" dirty="0"/>
          </a:p>
        </p:txBody>
      </p:sp>
      <p:sp>
        <p:nvSpPr>
          <p:cNvPr id="5" name="plan card 1"/>
          <p:cNvSpPr/>
          <p:nvPr/>
        </p:nvSpPr>
        <p:spPr>
          <a:xfrm>
            <a:off x="548640" y="1600200"/>
            <a:ext cx="2103120" cy="448056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685800" y="1737360"/>
            <a:ext cx="1463040" cy="310896"/>
          </a:xfrm>
          <a:prstGeom prst="roundRect">
            <a:avLst>
              <a:gd name="adj" fmla="val 50000"/>
            </a:avLst>
          </a:prstGeom>
          <a:solidFill>
            <a:schemeClr val="accent1"/>
          </a:solidFill>
          <a:ln w="12700">
            <a:solidFill>
              <a:schemeClr val="accent1"/>
            </a:solidFill>
            <a:prstDash val="solid"/>
          </a:ln>
        </p:spPr>
      </p:sp>
      <p:sp>
        <p:nvSpPr>
          <p:cNvPr id="7" name="Text 4"/>
          <p:cNvSpPr txBox="1"/>
          <p:nvPr/>
        </p:nvSpPr>
        <p:spPr>
          <a:xfrm>
            <a:off x="685800" y="1737360"/>
            <a:ext cx="146304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Weeks 1–2</a:t>
            </a:r>
            <a:endParaRPr lang="en-US" sz="1200" dirty="0"/>
          </a:p>
        </p:txBody>
      </p:sp>
      <p:sp>
        <p:nvSpPr>
          <p:cNvPr id="8" name="plan title 1"/>
          <p:cNvSpPr txBox="1"/>
          <p:nvPr/>
        </p:nvSpPr>
        <p:spPr>
          <a:xfrm>
            <a:off x="685800" y="2194560"/>
            <a:ext cx="1828800" cy="73152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Find the speed limit</a:t>
            </a:r>
            <a:endParaRPr lang="en-US" sz="1700" dirty="0"/>
          </a:p>
        </p:txBody>
      </p:sp>
      <p:sp>
        <p:nvSpPr>
          <p:cNvPr id="9" name="plan text 1"/>
          <p:cNvSpPr txBox="1"/>
          <p:nvPr/>
        </p:nvSpPr>
        <p:spPr>
          <a:xfrm>
            <a:off x="685800" y="2971800"/>
            <a:ext cx="1828800" cy="146304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Run on a Linux Postgres. Cap how many buyers work on one event at once.</a:t>
            </a:r>
            <a:endParaRPr lang="en-US" sz="1400" dirty="0"/>
          </a:p>
        </p:txBody>
      </p:sp>
      <p:sp>
        <p:nvSpPr>
          <p:cNvPr id="10" name="plan done 1"/>
          <p:cNvSpPr txBox="1"/>
          <p:nvPr/>
        </p:nvSpPr>
        <p:spPr>
          <a:xfrm>
            <a:off x="685800" y="4526280"/>
            <a:ext cx="1828800" cy="1463040"/>
          </a:xfrm>
          <a:prstGeom prst="rect">
            <a:avLst/>
          </a:prstGeom>
          <a:noFill/>
          <a:ln/>
        </p:spPr>
        <p:txBody>
          <a:bodyPr wrap="square" lIns="508" tIns="508" rIns="508" bIns="508" rtlCol="0" anchor="t"/>
          <a:lstStyle/>
          <a:p>
            <a:pPr algn="l" indent="0" marL="0">
              <a:buNone/>
            </a:pPr>
            <a:r>
              <a:rPr lang="en-US" sz="1300" b="1" dirty="0">
                <a:solidFill>
                  <a:schemeClr val="accent1"/>
                </a:solidFill>
                <a:latin typeface="Calibri" pitchFamily="34" charset="0"/>
                <a:ea typeface="Calibri" pitchFamily="34" charset="-122"/>
                <a:cs typeface="Calibri" pitchFamily="34" charset="-120"/>
              </a:rPr>
              <a:t>Done when: the 5,000-buyer rush finishes in about 30 s (target).</a:t>
            </a:r>
            <a:endParaRPr lang="en-US" sz="1300" dirty="0"/>
          </a:p>
        </p:txBody>
      </p:sp>
      <p:sp>
        <p:nvSpPr>
          <p:cNvPr id="11" name="plan card 2"/>
          <p:cNvSpPr/>
          <p:nvPr/>
        </p:nvSpPr>
        <p:spPr>
          <a:xfrm>
            <a:off x="2788920" y="1600200"/>
            <a:ext cx="2103120" cy="448056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2926080" y="1737360"/>
            <a:ext cx="1463040" cy="310896"/>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2926080" y="1737360"/>
            <a:ext cx="146304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Weeks 3–4</a:t>
            </a:r>
            <a:endParaRPr lang="en-US" sz="1200" dirty="0"/>
          </a:p>
        </p:txBody>
      </p:sp>
      <p:sp>
        <p:nvSpPr>
          <p:cNvPr id="14" name="plan title 2"/>
          <p:cNvSpPr txBox="1"/>
          <p:nvPr/>
        </p:nvSpPr>
        <p:spPr>
          <a:xfrm>
            <a:off x="2926080" y="2194560"/>
            <a:ext cx="1828800" cy="73152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Split the hot counter</a:t>
            </a:r>
            <a:endParaRPr lang="en-US" sz="1700" dirty="0"/>
          </a:p>
        </p:txBody>
      </p:sp>
      <p:sp>
        <p:nvSpPr>
          <p:cNvPr id="15" name="plan text 2"/>
          <p:cNvSpPr txBox="1"/>
          <p:nvPr/>
        </p:nvSpPr>
        <p:spPr>
          <a:xfrm>
            <a:off x="2926080" y="2971800"/>
            <a:ext cx="1828800" cy="146304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Several sub-pools per event, each its own row.</a:t>
            </a:r>
            <a:endParaRPr lang="en-US" sz="1400" dirty="0"/>
          </a:p>
        </p:txBody>
      </p:sp>
      <p:sp>
        <p:nvSpPr>
          <p:cNvPr id="16" name="plan done 2"/>
          <p:cNvSpPr txBox="1"/>
          <p:nvPr/>
        </p:nvSpPr>
        <p:spPr>
          <a:xfrm>
            <a:off x="2926080" y="4526280"/>
            <a:ext cx="1828800" cy="1463040"/>
          </a:xfrm>
          <a:prstGeom prst="rect">
            <a:avLst/>
          </a:prstGeom>
          <a:noFill/>
          <a:ln/>
        </p:spPr>
        <p:txBody>
          <a:bodyPr wrap="square" lIns="508" tIns="508" rIns="508" bIns="508" rtlCol="0" anchor="t"/>
          <a:lstStyle/>
          <a:p>
            <a:pPr algn="l" indent="0" marL="0">
              <a:buNone/>
            </a:pPr>
            <a:r>
              <a:rPr lang="en-US" sz="1300" b="1" dirty="0">
                <a:solidFill>
                  <a:schemeClr val="accent1"/>
                </a:solidFill>
                <a:latin typeface="Calibri" pitchFamily="34" charset="0"/>
                <a:ea typeface="Calibri" pitchFamily="34" charset="-122"/>
                <a:cs typeface="Calibri" pitchFamily="34" charset="-120"/>
              </a:rPr>
              <a:t>Done when: faster, audit clean, every race test passes.</a:t>
            </a:r>
            <a:endParaRPr lang="en-US" sz="1300" dirty="0"/>
          </a:p>
        </p:txBody>
      </p:sp>
      <p:sp>
        <p:nvSpPr>
          <p:cNvPr id="17" name="plan card 3"/>
          <p:cNvSpPr/>
          <p:nvPr/>
        </p:nvSpPr>
        <p:spPr>
          <a:xfrm>
            <a:off x="5029200" y="1600200"/>
            <a:ext cx="2103120" cy="448056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5166360" y="1737360"/>
            <a:ext cx="1463040" cy="310896"/>
          </a:xfrm>
          <a:prstGeom prst="roundRect">
            <a:avLst>
              <a:gd name="adj" fmla="val 50000"/>
            </a:avLst>
          </a:prstGeom>
          <a:solidFill>
            <a:schemeClr val="accent1"/>
          </a:solidFill>
          <a:ln w="12700">
            <a:solidFill>
              <a:schemeClr val="accent1"/>
            </a:solidFill>
            <a:prstDash val="solid"/>
          </a:ln>
        </p:spPr>
      </p:sp>
      <p:sp>
        <p:nvSpPr>
          <p:cNvPr id="19" name="Text 16"/>
          <p:cNvSpPr txBox="1"/>
          <p:nvPr/>
        </p:nvSpPr>
        <p:spPr>
          <a:xfrm>
            <a:off x="5166360" y="1737360"/>
            <a:ext cx="146304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Weeks 5–6</a:t>
            </a:r>
            <a:endParaRPr lang="en-US" sz="1200" dirty="0"/>
          </a:p>
        </p:txBody>
      </p:sp>
      <p:sp>
        <p:nvSpPr>
          <p:cNvPr id="20" name="plan title 3"/>
          <p:cNvSpPr txBox="1"/>
          <p:nvPr/>
        </p:nvSpPr>
        <p:spPr>
          <a:xfrm>
            <a:off x="5166360" y="2194560"/>
            <a:ext cx="1828800" cy="73152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Real services</a:t>
            </a:r>
            <a:endParaRPr lang="en-US" sz="1700" dirty="0"/>
          </a:p>
        </p:txBody>
      </p:sp>
      <p:sp>
        <p:nvSpPr>
          <p:cNvPr id="21" name="plan text 3"/>
          <p:cNvSpPr txBox="1"/>
          <p:nvPr/>
        </p:nvSpPr>
        <p:spPr>
          <a:xfrm>
            <a:off x="5166360" y="2971800"/>
            <a:ext cx="1828800" cy="146304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A real Redis free tier and the Cashfree sandbox.</a:t>
            </a:r>
            <a:endParaRPr lang="en-US" sz="1400" dirty="0"/>
          </a:p>
        </p:txBody>
      </p:sp>
      <p:sp>
        <p:nvSpPr>
          <p:cNvPr id="22" name="plan done 3"/>
          <p:cNvSpPr txBox="1"/>
          <p:nvPr/>
        </p:nvSpPr>
        <p:spPr>
          <a:xfrm>
            <a:off x="5166360" y="4526280"/>
            <a:ext cx="1828800" cy="1463040"/>
          </a:xfrm>
          <a:prstGeom prst="rect">
            <a:avLst/>
          </a:prstGeom>
          <a:noFill/>
          <a:ln/>
        </p:spPr>
        <p:txBody>
          <a:bodyPr wrap="square" lIns="508" tIns="508" rIns="508" bIns="508" rtlCol="0" anchor="t"/>
          <a:lstStyle/>
          <a:p>
            <a:pPr algn="l" indent="0" marL="0">
              <a:buNone/>
            </a:pPr>
            <a:r>
              <a:rPr lang="en-US" sz="1300" b="1" dirty="0">
                <a:solidFill>
                  <a:schemeClr val="accent1"/>
                </a:solidFill>
                <a:latin typeface="Calibri" pitchFamily="34" charset="0"/>
                <a:ea typeface="Calibri" pitchFamily="34" charset="-122"/>
                <a:cs typeface="Calibri" pitchFamily="34" charset="-120"/>
              </a:rPr>
              <a:t>Done when: the real-Redis tests pass and a test payment works end to end.</a:t>
            </a:r>
            <a:endParaRPr lang="en-US" sz="1300" dirty="0"/>
          </a:p>
        </p:txBody>
      </p:sp>
      <p:sp>
        <p:nvSpPr>
          <p:cNvPr id="23" name="plan card 4"/>
          <p:cNvSpPr/>
          <p:nvPr/>
        </p:nvSpPr>
        <p:spPr>
          <a:xfrm>
            <a:off x="7269480" y="1600200"/>
            <a:ext cx="2103120" cy="448056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Shape 21"/>
          <p:cNvSpPr/>
          <p:nvPr/>
        </p:nvSpPr>
        <p:spPr>
          <a:xfrm>
            <a:off x="7406640" y="1737360"/>
            <a:ext cx="1463040" cy="310896"/>
          </a:xfrm>
          <a:prstGeom prst="roundRect">
            <a:avLst>
              <a:gd name="adj" fmla="val 50000"/>
            </a:avLst>
          </a:prstGeom>
          <a:solidFill>
            <a:schemeClr val="accent1"/>
          </a:solidFill>
          <a:ln w="12700">
            <a:solidFill>
              <a:schemeClr val="accent1"/>
            </a:solidFill>
            <a:prstDash val="solid"/>
          </a:ln>
        </p:spPr>
      </p:sp>
      <p:sp>
        <p:nvSpPr>
          <p:cNvPr id="25" name="Text 22"/>
          <p:cNvSpPr txBox="1"/>
          <p:nvPr/>
        </p:nvSpPr>
        <p:spPr>
          <a:xfrm>
            <a:off x="7406640" y="1737360"/>
            <a:ext cx="146304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Weeks 7–10</a:t>
            </a:r>
            <a:endParaRPr lang="en-US" sz="1200" dirty="0"/>
          </a:p>
        </p:txBody>
      </p:sp>
      <p:sp>
        <p:nvSpPr>
          <p:cNvPr id="26" name="plan title 4"/>
          <p:cNvSpPr txBox="1"/>
          <p:nvPr/>
        </p:nvSpPr>
        <p:spPr>
          <a:xfrm>
            <a:off x="7406640" y="2194560"/>
            <a:ext cx="1828800" cy="73152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Screens</a:t>
            </a:r>
            <a:endParaRPr lang="en-US" sz="1700" dirty="0"/>
          </a:p>
        </p:txBody>
      </p:sp>
      <p:sp>
        <p:nvSpPr>
          <p:cNvPr id="27" name="plan text 4"/>
          <p:cNvSpPr txBox="1"/>
          <p:nvPr/>
        </p:nvSpPr>
        <p:spPr>
          <a:xfrm>
            <a:off x="7406640" y="2971800"/>
            <a:ext cx="1828800" cy="146304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Buyer, organiser and gate screens on the existing API.</a:t>
            </a:r>
            <a:endParaRPr lang="en-US" sz="1400" dirty="0"/>
          </a:p>
        </p:txBody>
      </p:sp>
      <p:sp>
        <p:nvSpPr>
          <p:cNvPr id="28" name="plan done 4"/>
          <p:cNvSpPr txBox="1"/>
          <p:nvPr/>
        </p:nvSpPr>
        <p:spPr>
          <a:xfrm>
            <a:off x="7406640" y="4526280"/>
            <a:ext cx="1828800" cy="1463040"/>
          </a:xfrm>
          <a:prstGeom prst="rect">
            <a:avLst/>
          </a:prstGeom>
          <a:noFill/>
          <a:ln/>
        </p:spPr>
        <p:txBody>
          <a:bodyPr wrap="square" lIns="508" tIns="508" rIns="508" bIns="508" rtlCol="0" anchor="t"/>
          <a:lstStyle/>
          <a:p>
            <a:pPr algn="l" indent="0" marL="0">
              <a:buNone/>
            </a:pPr>
            <a:r>
              <a:rPr lang="en-US" sz="1300" b="1" dirty="0">
                <a:solidFill>
                  <a:schemeClr val="accent1"/>
                </a:solidFill>
                <a:latin typeface="Calibri" pitchFamily="34" charset="0"/>
                <a:ea typeface="Calibri" pitchFamily="34" charset="-122"/>
                <a:cs typeface="Calibri" pitchFamily="34" charset="-120"/>
              </a:rPr>
              <a:t>Done when: a stranger buys a ticket and gets through the gate unaided.</a:t>
            </a:r>
            <a:endParaRPr lang="en-US" sz="1300" dirty="0"/>
          </a:p>
        </p:txBody>
      </p:sp>
      <p:sp>
        <p:nvSpPr>
          <p:cNvPr id="29" name="plan card 5"/>
          <p:cNvSpPr/>
          <p:nvPr/>
        </p:nvSpPr>
        <p:spPr>
          <a:xfrm>
            <a:off x="9509760" y="1600200"/>
            <a:ext cx="2103120" cy="4480560"/>
          </a:xfrm>
          <a:prstGeom prst="roundRect">
            <a:avLst>
              <a:gd name="adj" fmla="val 521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0" name="Shape 27"/>
          <p:cNvSpPr/>
          <p:nvPr/>
        </p:nvSpPr>
        <p:spPr>
          <a:xfrm>
            <a:off x="9646920" y="1737360"/>
            <a:ext cx="1463040" cy="310896"/>
          </a:xfrm>
          <a:prstGeom prst="roundRect">
            <a:avLst>
              <a:gd name="adj" fmla="val 50000"/>
            </a:avLst>
          </a:prstGeom>
          <a:solidFill>
            <a:schemeClr val="accent3"/>
          </a:solidFill>
          <a:ln w="12700">
            <a:solidFill>
              <a:schemeClr val="accent3"/>
            </a:solidFill>
            <a:prstDash val="solid"/>
          </a:ln>
        </p:spPr>
      </p:sp>
      <p:sp>
        <p:nvSpPr>
          <p:cNvPr id="31" name="Text 28"/>
          <p:cNvSpPr txBox="1"/>
          <p:nvPr/>
        </p:nvSpPr>
        <p:spPr>
          <a:xfrm>
            <a:off x="9646920" y="1737360"/>
            <a:ext cx="1463040" cy="310896"/>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Weeks 11–12</a:t>
            </a:r>
            <a:endParaRPr lang="en-US" sz="1200" dirty="0"/>
          </a:p>
        </p:txBody>
      </p:sp>
      <p:sp>
        <p:nvSpPr>
          <p:cNvPr id="32" name="plan title 5"/>
          <p:cNvSpPr txBox="1"/>
          <p:nvPr/>
        </p:nvSpPr>
        <p:spPr>
          <a:xfrm>
            <a:off x="9646920" y="2194560"/>
            <a:ext cx="1828800" cy="731520"/>
          </a:xfrm>
          <a:prstGeom prst="rect">
            <a:avLst/>
          </a:prstGeom>
          <a:noFill/>
          <a:ln/>
        </p:spPr>
        <p:txBody>
          <a:bodyPr wrap="square" lIns="508" tIns="508" rIns="508" bIns="508" rtlCol="0" anchor="t"/>
          <a:lstStyle/>
          <a:p>
            <a:pPr algn="l" indent="0" marL="0">
              <a:buNone/>
            </a:pPr>
            <a:r>
              <a:rPr lang="en-US" sz="1700" b="1" dirty="0">
                <a:solidFill>
                  <a:schemeClr val="tx1"/>
                </a:solidFill>
                <a:latin typeface="Cambria" pitchFamily="34" charset="0"/>
                <a:ea typeface="Cambria" pitchFamily="34" charset="-122"/>
                <a:cs typeface="Cambria" pitchFamily="34" charset="-120"/>
              </a:rPr>
              <a:t>Pilot</a:t>
            </a:r>
            <a:endParaRPr lang="en-US" sz="1700" dirty="0"/>
          </a:p>
        </p:txBody>
      </p:sp>
      <p:sp>
        <p:nvSpPr>
          <p:cNvPr id="33" name="plan text 5"/>
          <p:cNvSpPr txBox="1"/>
          <p:nvPr/>
        </p:nvSpPr>
        <p:spPr>
          <a:xfrm>
            <a:off x="9646920" y="2971800"/>
            <a:ext cx="1828800" cy="1463040"/>
          </a:xfrm>
          <a:prstGeom prst="rect">
            <a:avLst/>
          </a:prstGeom>
          <a:noFill/>
          <a:ln/>
        </p:spPr>
        <p:txBody>
          <a:bodyPr wrap="square" lIns="508" tIns="508" rIns="508" bIns="508" rtlCol="0" anchor="t"/>
          <a:lstStyle/>
          <a:p>
            <a:pPr algn="l" indent="0" marL="0">
              <a:buNone/>
            </a:pPr>
            <a:r>
              <a:rPr lang="en-US" sz="1400" dirty="0">
                <a:solidFill>
                  <a:schemeClr val="tx1"/>
                </a:solidFill>
                <a:latin typeface="Calibri" pitchFamily="34" charset="0"/>
                <a:ea typeface="Calibri" pitchFamily="34" charset="-122"/>
                <a:cs typeface="Calibri" pitchFamily="34" charset="-120"/>
              </a:rPr>
              <a:t>One small real event with real money.</a:t>
            </a:r>
            <a:endParaRPr lang="en-US" sz="1400" dirty="0"/>
          </a:p>
        </p:txBody>
      </p:sp>
      <p:sp>
        <p:nvSpPr>
          <p:cNvPr id="34" name="plan done 5"/>
          <p:cNvSpPr txBox="1"/>
          <p:nvPr/>
        </p:nvSpPr>
        <p:spPr>
          <a:xfrm>
            <a:off x="9646920" y="4526280"/>
            <a:ext cx="1828800" cy="1463040"/>
          </a:xfrm>
          <a:prstGeom prst="rect">
            <a:avLst/>
          </a:prstGeom>
          <a:noFill/>
          <a:ln/>
        </p:spPr>
        <p:txBody>
          <a:bodyPr wrap="square" lIns="508" tIns="508" rIns="508" bIns="508" rtlCol="0" anchor="t"/>
          <a:lstStyle/>
          <a:p>
            <a:pPr algn="l" indent="0" marL="0">
              <a:buNone/>
            </a:pPr>
            <a:r>
              <a:rPr lang="en-US" sz="1300" b="1" dirty="0">
                <a:solidFill>
                  <a:schemeClr val="accent1"/>
                </a:solidFill>
                <a:latin typeface="Calibri" pitchFamily="34" charset="0"/>
                <a:ea typeface="Calibri" pitchFamily="34" charset="-122"/>
                <a:cs typeface="Calibri" pitchFamily="34" charset="-120"/>
              </a:rPr>
              <a:t>Done when: every rupee is reconciled and the incident notes are written.</a:t>
            </a:r>
            <a:endParaRPr lang="en-US" sz="13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Our honest limits, and what comes next</a:t>
            </a:r>
            <a:endParaRPr lang="en-US" dirty="0"/>
          </a:p>
        </p:txBody>
      </p:sp>
      <p:sp>
        <p:nvSpPr>
          <p:cNvPr id="4" name="limits card"/>
          <p:cNvSpPr/>
          <p:nvPr/>
        </p:nvSpPr>
        <p:spPr>
          <a:xfrm>
            <a:off x="548640" y="1417320"/>
            <a:ext cx="5440680" cy="4663440"/>
          </a:xfrm>
          <a:prstGeom prst="roundRect">
            <a:avLst>
              <a:gd name="adj" fmla="val 2353"/>
            </a:avLst>
          </a:prstGeom>
          <a:solidFill>
            <a:schemeClr val="bg2"/>
          </a:solidFill>
          <a:ln w="12700">
            <a:solidFill>
              <a:schemeClr val="bg2"/>
            </a:solidFill>
            <a:prstDash val="solid"/>
          </a:ln>
        </p:spPr>
      </p:sp>
      <p:sp>
        <p:nvSpPr>
          <p:cNvPr id="5" name="limits title"/>
          <p:cNvSpPr txBox="1"/>
          <p:nvPr/>
        </p:nvSpPr>
        <p:spPr>
          <a:xfrm>
            <a:off x="822960" y="1600200"/>
            <a:ext cx="4937760" cy="457200"/>
          </a:xfrm>
          <a:prstGeom prst="rect">
            <a:avLst/>
          </a:prstGeom>
          <a:noFill/>
          <a:ln/>
        </p:spPr>
        <p:txBody>
          <a:bodyPr wrap="square" lIns="508" tIns="508" rIns="508" bIns="508" rtlCol="0" anchor="t"/>
          <a:lstStyle/>
          <a:p>
            <a:pPr algn="l" indent="0" marL="0">
              <a:buNone/>
            </a:pPr>
            <a:r>
              <a:rPr lang="en-US" sz="2200" b="1" dirty="0">
                <a:solidFill>
                  <a:schemeClr val="accent3"/>
                </a:solidFill>
                <a:latin typeface="Cambria" pitchFamily="34" charset="0"/>
                <a:ea typeface="Cambria" pitchFamily="34" charset="-122"/>
                <a:cs typeface="Cambria" pitchFamily="34" charset="-120"/>
              </a:rPr>
              <a:t>What it is not</a:t>
            </a:r>
            <a:endParaRPr lang="en-US" sz="2200" dirty="0"/>
          </a:p>
        </p:txBody>
      </p:sp>
      <p:sp>
        <p:nvSpPr>
          <p:cNvPr id="6" name="limits list"/>
          <p:cNvSpPr txBox="1"/>
          <p:nvPr/>
        </p:nvSpPr>
        <p:spPr>
          <a:xfrm>
            <a:off x="822960" y="2194560"/>
            <a:ext cx="4937760" cy="3749040"/>
          </a:xfrm>
          <a:prstGeom prst="rect">
            <a:avLst/>
          </a:prstGeom>
          <a:noFill/>
          <a:ln/>
        </p:spPr>
        <p:txBody>
          <a:bodyPr wrap="square" lIns="508" tIns="508" rIns="508" bIns="508" rtlCol="0" anchor="t"/>
          <a:lstStyle/>
          <a:p>
            <a:pPr algn="l"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A backend only: no buyer screens yet</a:t>
            </a:r>
            <a:endParaRPr lang="en-US" sz="1600" dirty="0"/>
          </a:p>
          <a:p>
            <a:pPr algn="l"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Payments go to a simulated gateway</a:t>
            </a:r>
            <a:endParaRPr lang="en-US" sz="1600" dirty="0"/>
          </a:p>
          <a:p>
            <a:pPr algn="l"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Redis only tried through an in-process stand-in</a:t>
            </a:r>
            <a:endParaRPr lang="en-US" sz="1600" dirty="0"/>
          </a:p>
          <a:p>
            <a:pPr algn="l"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Slower than the submitted version on one laptop (186 s for the rush)</a:t>
            </a:r>
            <a:endParaRPr lang="en-US" sz="1600" dirty="0"/>
          </a:p>
          <a:p>
            <a:pPr algn="l"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Some findings about the original are reasoned from code, not reproduced</a:t>
            </a:r>
            <a:endParaRPr lang="en-US" sz="1600" dirty="0"/>
          </a:p>
          <a:p>
            <a:pPr algn="l" marL="342900" indent="-3429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The buyer limit can be beaten with many phone numbers</a:t>
            </a:r>
            <a:endParaRPr lang="en-US" sz="1600" dirty="0"/>
          </a:p>
        </p:txBody>
      </p:sp>
      <p:sp>
        <p:nvSpPr>
          <p:cNvPr id="7" name="next card"/>
          <p:cNvSpPr/>
          <p:nvPr/>
        </p:nvSpPr>
        <p:spPr>
          <a:xfrm>
            <a:off x="6217920" y="1417320"/>
            <a:ext cx="5394960" cy="4663440"/>
          </a:xfrm>
          <a:prstGeom prst="roundRect">
            <a:avLst>
              <a:gd name="adj" fmla="val 2353"/>
            </a:avLst>
          </a:prstGeom>
          <a:solidFill>
            <a:schemeClr val="accent6"/>
          </a:solidFill>
          <a:ln w="12700">
            <a:solidFill>
              <a:schemeClr val="accent6"/>
            </a:solidFill>
            <a:prstDash val="solid"/>
          </a:ln>
        </p:spPr>
      </p:sp>
      <p:sp>
        <p:nvSpPr>
          <p:cNvPr id="8" name="next title"/>
          <p:cNvSpPr txBox="1"/>
          <p:nvPr/>
        </p:nvSpPr>
        <p:spPr>
          <a:xfrm>
            <a:off x="6492240" y="1600200"/>
            <a:ext cx="4846320" cy="457200"/>
          </a:xfrm>
          <a:prstGeom prst="rect">
            <a:avLst/>
          </a:prstGeom>
          <a:noFill/>
          <a:ln/>
        </p:spPr>
        <p:txBody>
          <a:bodyPr wrap="square" lIns="508" tIns="508" rIns="508" bIns="508" rtlCol="0" anchor="t"/>
          <a:lstStyle/>
          <a:p>
            <a:pPr algn="l" indent="0" marL="0">
              <a:buNone/>
            </a:pPr>
            <a:r>
              <a:rPr lang="en-US" sz="2200" b="1" dirty="0">
                <a:solidFill>
                  <a:schemeClr val="accent2"/>
                </a:solidFill>
                <a:latin typeface="Cambria" pitchFamily="34" charset="0"/>
                <a:ea typeface="Cambria" pitchFamily="34" charset="-122"/>
                <a:cs typeface="Cambria" pitchFamily="34" charset="-120"/>
              </a:rPr>
              <a:t>What we would do next</a:t>
            </a:r>
            <a:endParaRPr lang="en-US" sz="2200" dirty="0"/>
          </a:p>
        </p:txBody>
      </p:sp>
      <p:sp>
        <p:nvSpPr>
          <p:cNvPr id="9" name="next list"/>
          <p:cNvSpPr txBox="1"/>
          <p:nvPr/>
        </p:nvSpPr>
        <p:spPr>
          <a:xfrm>
            <a:off x="6492240" y="2194560"/>
            <a:ext cx="4846320" cy="3749040"/>
          </a:xfrm>
          <a:prstGeom prst="rect">
            <a:avLst/>
          </a:prstGeom>
          <a:noFill/>
          <a:ln/>
        </p:spPr>
        <p:txBody>
          <a:bodyPr wrap="square" lIns="508" tIns="508" rIns="508" bIns="508" rtlCol="0" anchor="t"/>
          <a:lstStyle/>
          <a:p>
            <a:pPr algn="l"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Measure on Linux, cap buyers per event, split the hot counter</a:t>
            </a:r>
            <a:endParaRPr lang="en-US" sz="1600" dirty="0"/>
          </a:p>
          <a:p>
            <a:pPr algn="l"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Try a real Redis free tier and the Cashfree sandbox</a:t>
            </a:r>
            <a:endParaRPr lang="en-US" sz="1600" dirty="0"/>
          </a:p>
          <a:p>
            <a:pPr algn="l"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Build buyer, organiser and gate screens on the API</a:t>
            </a:r>
            <a:endParaRPr lang="en-US" sz="1600" dirty="0"/>
          </a:p>
          <a:p>
            <a:pPr algn="l"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Deploy on free tiers and run the rush there</a:t>
            </a:r>
            <a:endParaRPr lang="en-US" sz="1600" dirty="0"/>
          </a:p>
          <a:p>
            <a:pPr algn="l" marL="342900" indent="-342900">
              <a:spcAft>
                <a:spcPts val="800"/>
              </a:spcAft>
              <a:buSzPct val="100000"/>
              <a:buChar char="•"/>
            </a:pPr>
            <a:r>
              <a:rPr lang="en-US" sz="1600" dirty="0">
                <a:solidFill>
                  <a:schemeClr val="bg1"/>
                </a:solidFill>
                <a:latin typeface="Calibri" pitchFamily="34" charset="0"/>
                <a:ea typeface="Calibri" pitchFamily="34" charset="-122"/>
                <a:cs typeface="Calibri" pitchFamily="34" charset="-120"/>
              </a:rPr>
              <a:t>Pilot one real event with small real money</a:t>
            </a:r>
            <a:endParaRPr lang="en-US" sz="16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31520" y="1188720"/>
            <a:ext cx="10698480" cy="1371600"/>
          </a:xfrm>
          <a:prstGeom prst="rect">
            <a:avLst/>
          </a:prstGeom>
          <a:noFill/>
          <a:ln/>
        </p:spPr>
        <p:txBody>
          <a:bodyPr wrap="square" rtlCol="0"/>
          <a:lstStyle/>
          <a:p>
            <a:pPr indent="0" marL="0">
              <a:buNone/>
            </a:pPr>
            <a:r>
              <a:rPr lang="en-US" sz="4800" dirty="0"/>
              <a:t>Every rule is one all-or-nothing step.</a:t>
            </a:r>
            <a:endParaRPr lang="en-US" sz="4800" dirty="0"/>
          </a:p>
        </p:txBody>
      </p:sp>
      <p:sp>
        <p:nvSpPr>
          <p:cNvPr id="3" name="closing line"/>
          <p:cNvSpPr txBox="1"/>
          <p:nvPr/>
        </p:nvSpPr>
        <p:spPr>
          <a:xfrm>
            <a:off x="731520" y="2697480"/>
            <a:ext cx="10698480" cy="731520"/>
          </a:xfrm>
          <a:prstGeom prst="rect">
            <a:avLst/>
          </a:prstGeom>
          <a:noFill/>
          <a:ln/>
        </p:spPr>
        <p:txBody>
          <a:bodyPr wrap="square" lIns="508" tIns="508" rIns="508" bIns="508" rtlCol="0" anchor="t"/>
          <a:lstStyle/>
          <a:p>
            <a:pPr algn="l" indent="0" marL="0">
              <a:buNone/>
            </a:pPr>
            <a:r>
              <a:rPr lang="en-US" sz="3000" dirty="0">
                <a:solidFill>
                  <a:schemeClr val="accent2"/>
                </a:solidFill>
                <a:latin typeface="Cambria" pitchFamily="34" charset="0"/>
                <a:ea typeface="Cambria" pitchFamily="34" charset="-122"/>
                <a:cs typeface="Cambria" pitchFamily="34" charset="-120"/>
              </a:rPr>
              <a:t>And we tried to break each one on purpose.</a:t>
            </a:r>
            <a:endParaRPr lang="en-US" sz="3000" dirty="0"/>
          </a:p>
        </p:txBody>
      </p:sp>
      <p:sp>
        <p:nvSpPr>
          <p:cNvPr id="4" name="close stat 163 + 98"/>
          <p:cNvSpPr/>
          <p:nvPr/>
        </p:nvSpPr>
        <p:spPr>
          <a:xfrm>
            <a:off x="731520" y="3931920"/>
            <a:ext cx="2514600" cy="1371600"/>
          </a:xfrm>
          <a:prstGeom prst="roundRect">
            <a:avLst>
              <a:gd name="adj" fmla="val 8000"/>
            </a:avLst>
          </a:prstGeom>
          <a:solidFill>
            <a:schemeClr val="accent6"/>
          </a:solidFill>
          <a:ln w="12700">
            <a:solidFill>
              <a:schemeClr val="accent6"/>
            </a:solidFill>
            <a:prstDash val="solid"/>
          </a:ln>
        </p:spPr>
      </p:sp>
      <p:sp>
        <p:nvSpPr>
          <p:cNvPr id="5" name="close stat num 163 + 98"/>
          <p:cNvSpPr txBox="1"/>
          <p:nvPr/>
        </p:nvSpPr>
        <p:spPr>
          <a:xfrm>
            <a:off x="914400" y="4023360"/>
            <a:ext cx="2148840" cy="731520"/>
          </a:xfrm>
          <a:prstGeom prst="rect">
            <a:avLst/>
          </a:prstGeom>
          <a:noFill/>
          <a:ln/>
        </p:spPr>
        <p:txBody>
          <a:bodyPr wrap="square" lIns="508" tIns="508" rIns="508" bIns="508"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163 + 98</a:t>
            </a:r>
            <a:endParaRPr lang="en-US" sz="3400" dirty="0"/>
          </a:p>
        </p:txBody>
      </p:sp>
      <p:sp>
        <p:nvSpPr>
          <p:cNvPr id="6" name="close stat label 163 + 98"/>
          <p:cNvSpPr txBox="1"/>
          <p:nvPr/>
        </p:nvSpPr>
        <p:spPr>
          <a:xfrm>
            <a:off x="914400" y="4754880"/>
            <a:ext cx="2148840" cy="411480"/>
          </a:xfrm>
          <a:prstGeom prst="rect">
            <a:avLst/>
          </a:prstGeom>
          <a:noFill/>
          <a:ln/>
        </p:spPr>
        <p:txBody>
          <a:bodyPr wrap="square" lIns="508" tIns="508" rIns="508" bIns="508" rtlCol="0" anchor="t"/>
          <a:lstStyle/>
          <a:p>
            <a:pPr algn="l" indent="0" marL="0">
              <a:buNone/>
            </a:pPr>
            <a:r>
              <a:rPr lang="en-US" sz="1500" dirty="0">
                <a:solidFill>
                  <a:schemeClr val="bg2"/>
                </a:solidFill>
                <a:latin typeface="Calibri" pitchFamily="34" charset="0"/>
                <a:ea typeface="Calibri" pitchFamily="34" charset="-122"/>
                <a:cs typeface="Calibri" pitchFamily="34" charset="-120"/>
              </a:rPr>
              <a:t>tests passing</a:t>
            </a:r>
            <a:endParaRPr lang="en-US" sz="1500" dirty="0"/>
          </a:p>
        </p:txBody>
      </p:sp>
      <p:sp>
        <p:nvSpPr>
          <p:cNvPr id="7" name="close stat 0"/>
          <p:cNvSpPr/>
          <p:nvPr/>
        </p:nvSpPr>
        <p:spPr>
          <a:xfrm>
            <a:off x="3474720" y="3931920"/>
            <a:ext cx="2514600" cy="1371600"/>
          </a:xfrm>
          <a:prstGeom prst="roundRect">
            <a:avLst>
              <a:gd name="adj" fmla="val 8000"/>
            </a:avLst>
          </a:prstGeom>
          <a:solidFill>
            <a:schemeClr val="accent6"/>
          </a:solidFill>
          <a:ln w="12700">
            <a:solidFill>
              <a:schemeClr val="accent6"/>
            </a:solidFill>
            <a:prstDash val="solid"/>
          </a:ln>
        </p:spPr>
      </p:sp>
      <p:sp>
        <p:nvSpPr>
          <p:cNvPr id="8" name="close stat num 0"/>
          <p:cNvSpPr txBox="1"/>
          <p:nvPr/>
        </p:nvSpPr>
        <p:spPr>
          <a:xfrm>
            <a:off x="3657600" y="4023360"/>
            <a:ext cx="2148840" cy="731520"/>
          </a:xfrm>
          <a:prstGeom prst="rect">
            <a:avLst/>
          </a:prstGeom>
          <a:noFill/>
          <a:ln/>
        </p:spPr>
        <p:txBody>
          <a:bodyPr wrap="square" lIns="508" tIns="508" rIns="508" bIns="508"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0</a:t>
            </a:r>
            <a:endParaRPr lang="en-US" sz="3400" dirty="0"/>
          </a:p>
        </p:txBody>
      </p:sp>
      <p:sp>
        <p:nvSpPr>
          <p:cNvPr id="9" name="close stat label 0"/>
          <p:cNvSpPr txBox="1"/>
          <p:nvPr/>
        </p:nvSpPr>
        <p:spPr>
          <a:xfrm>
            <a:off x="3657600" y="4754880"/>
            <a:ext cx="2148840" cy="411480"/>
          </a:xfrm>
          <a:prstGeom prst="rect">
            <a:avLst/>
          </a:prstGeom>
          <a:noFill/>
          <a:ln/>
        </p:spPr>
        <p:txBody>
          <a:bodyPr wrap="square" lIns="508" tIns="508" rIns="508" bIns="508" rtlCol="0" anchor="t"/>
          <a:lstStyle/>
          <a:p>
            <a:pPr algn="l" indent="0" marL="0">
              <a:buNone/>
            </a:pPr>
            <a:r>
              <a:rPr lang="en-US" sz="1500" dirty="0">
                <a:solidFill>
                  <a:schemeClr val="bg2"/>
                </a:solidFill>
                <a:latin typeface="Calibri" pitchFamily="34" charset="0"/>
                <a:ea typeface="Calibri" pitchFamily="34" charset="-122"/>
                <a:cs typeface="Calibri" pitchFamily="34" charset="-120"/>
              </a:rPr>
              <a:t>oversold (2 rushes)</a:t>
            </a:r>
            <a:endParaRPr lang="en-US" sz="1500" dirty="0"/>
          </a:p>
        </p:txBody>
      </p:sp>
      <p:sp>
        <p:nvSpPr>
          <p:cNvPr id="10" name="close stat 12"/>
          <p:cNvSpPr/>
          <p:nvPr/>
        </p:nvSpPr>
        <p:spPr>
          <a:xfrm>
            <a:off x="6217920" y="3931920"/>
            <a:ext cx="2514600" cy="1371600"/>
          </a:xfrm>
          <a:prstGeom prst="roundRect">
            <a:avLst>
              <a:gd name="adj" fmla="val 8000"/>
            </a:avLst>
          </a:prstGeom>
          <a:solidFill>
            <a:schemeClr val="accent6"/>
          </a:solidFill>
          <a:ln w="12700">
            <a:solidFill>
              <a:schemeClr val="accent6"/>
            </a:solidFill>
            <a:prstDash val="solid"/>
          </a:ln>
        </p:spPr>
      </p:sp>
      <p:sp>
        <p:nvSpPr>
          <p:cNvPr id="11" name="close stat num 12"/>
          <p:cNvSpPr txBox="1"/>
          <p:nvPr/>
        </p:nvSpPr>
        <p:spPr>
          <a:xfrm>
            <a:off x="6400800" y="4023360"/>
            <a:ext cx="2148840" cy="731520"/>
          </a:xfrm>
          <a:prstGeom prst="rect">
            <a:avLst/>
          </a:prstGeom>
          <a:noFill/>
          <a:ln/>
        </p:spPr>
        <p:txBody>
          <a:bodyPr wrap="square" lIns="508" tIns="508" rIns="508" bIns="508"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12</a:t>
            </a:r>
            <a:endParaRPr lang="en-US" sz="3400" dirty="0"/>
          </a:p>
        </p:txBody>
      </p:sp>
      <p:sp>
        <p:nvSpPr>
          <p:cNvPr id="12" name="close stat label 12"/>
          <p:cNvSpPr txBox="1"/>
          <p:nvPr/>
        </p:nvSpPr>
        <p:spPr>
          <a:xfrm>
            <a:off x="6400800" y="4754880"/>
            <a:ext cx="2148840" cy="411480"/>
          </a:xfrm>
          <a:prstGeom prst="rect">
            <a:avLst/>
          </a:prstGeom>
          <a:noFill/>
          <a:ln/>
        </p:spPr>
        <p:txBody>
          <a:bodyPr wrap="square" lIns="508" tIns="508" rIns="508" bIns="508" rtlCol="0" anchor="t"/>
          <a:lstStyle/>
          <a:p>
            <a:pPr algn="l" indent="0" marL="0">
              <a:buNone/>
            </a:pPr>
            <a:r>
              <a:rPr lang="en-US" sz="1500" dirty="0">
                <a:solidFill>
                  <a:schemeClr val="bg2"/>
                </a:solidFill>
                <a:latin typeface="Calibri" pitchFamily="34" charset="0"/>
                <a:ea typeface="Calibri" pitchFamily="34" charset="-122"/>
                <a:cs typeface="Calibri" pitchFamily="34" charset="-120"/>
              </a:rPr>
              <a:t>weak spots found</a:t>
            </a:r>
            <a:endParaRPr lang="en-US" sz="1500" dirty="0"/>
          </a:p>
        </p:txBody>
      </p:sp>
      <p:sp>
        <p:nvSpPr>
          <p:cNvPr id="13" name="close stat 20 / 20"/>
          <p:cNvSpPr/>
          <p:nvPr/>
        </p:nvSpPr>
        <p:spPr>
          <a:xfrm>
            <a:off x="8961120" y="3931920"/>
            <a:ext cx="2514600" cy="1371600"/>
          </a:xfrm>
          <a:prstGeom prst="roundRect">
            <a:avLst>
              <a:gd name="adj" fmla="val 8000"/>
            </a:avLst>
          </a:prstGeom>
          <a:solidFill>
            <a:schemeClr val="accent6"/>
          </a:solidFill>
          <a:ln w="12700">
            <a:solidFill>
              <a:schemeClr val="accent6"/>
            </a:solidFill>
            <a:prstDash val="solid"/>
          </a:ln>
        </p:spPr>
      </p:sp>
      <p:sp>
        <p:nvSpPr>
          <p:cNvPr id="14" name="close stat num 20 / 20"/>
          <p:cNvSpPr txBox="1"/>
          <p:nvPr/>
        </p:nvSpPr>
        <p:spPr>
          <a:xfrm>
            <a:off x="9144000" y="4023360"/>
            <a:ext cx="2148840" cy="731520"/>
          </a:xfrm>
          <a:prstGeom prst="rect">
            <a:avLst/>
          </a:prstGeom>
          <a:noFill/>
          <a:ln/>
        </p:spPr>
        <p:txBody>
          <a:bodyPr wrap="square" lIns="508" tIns="508" rIns="508" bIns="508"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20 / 20</a:t>
            </a:r>
            <a:endParaRPr lang="en-US" sz="3400" dirty="0"/>
          </a:p>
        </p:txBody>
      </p:sp>
      <p:sp>
        <p:nvSpPr>
          <p:cNvPr id="15" name="close stat label 20 / 20"/>
          <p:cNvSpPr txBox="1"/>
          <p:nvPr/>
        </p:nvSpPr>
        <p:spPr>
          <a:xfrm>
            <a:off x="9144000" y="4754880"/>
            <a:ext cx="2148840" cy="411480"/>
          </a:xfrm>
          <a:prstGeom prst="rect">
            <a:avLst/>
          </a:prstGeom>
          <a:noFill/>
          <a:ln/>
        </p:spPr>
        <p:txBody>
          <a:bodyPr wrap="square" lIns="508" tIns="508" rIns="508" bIns="508" rtlCol="0" anchor="t"/>
          <a:lstStyle/>
          <a:p>
            <a:pPr algn="l" indent="0" marL="0">
              <a:buNone/>
            </a:pPr>
            <a:r>
              <a:rPr lang="en-US" sz="1500" dirty="0">
                <a:solidFill>
                  <a:schemeClr val="bg2"/>
                </a:solidFill>
                <a:latin typeface="Calibri" pitchFamily="34" charset="0"/>
                <a:ea typeface="Calibri" pitchFamily="34" charset="-122"/>
                <a:cs typeface="Calibri" pitchFamily="34" charset="-120"/>
              </a:rPr>
              <a:t>killer-test runs</a:t>
            </a:r>
            <a:endParaRPr lang="en-US" sz="1500" dirty="0"/>
          </a:p>
        </p:txBody>
      </p:sp>
      <p:sp>
        <p:nvSpPr>
          <p:cNvPr id="16" name="closing contact"/>
          <p:cNvSpPr txBox="1"/>
          <p:nvPr/>
        </p:nvSpPr>
        <p:spPr>
          <a:xfrm>
            <a:off x="731520" y="5760720"/>
            <a:ext cx="10698480" cy="548640"/>
          </a:xfrm>
          <a:prstGeom prst="rect">
            <a:avLst/>
          </a:prstGeom>
          <a:noFill/>
          <a:ln/>
        </p:spPr>
        <p:txBody>
          <a:bodyPr wrap="square" lIns="508" tIns="508" rIns="508" bIns="508" rtlCol="0" anchor="t"/>
          <a:lstStyle/>
          <a:p>
            <a:pPr algn="l" indent="0" marL="0">
              <a:buNone/>
            </a:pPr>
            <a:r>
              <a:rPr lang="en-US" sz="2000" dirty="0">
                <a:solidFill>
                  <a:schemeClr val="bg1"/>
                </a:solidFill>
                <a:latin typeface="Calibri" pitchFamily="34" charset="0"/>
                <a:ea typeface="Calibri" pitchFamily="34" charset="-122"/>
                <a:cs typeface="Calibri" pitchFamily="34" charset="-120"/>
              </a:rPr>
              <a:t>github.com/Yash13606/debugdevise   ·   Thank you. Questions?</a:t>
            </a:r>
            <a:endParaRPr lang="en-US" sz="2000" dirty="0"/>
          </a:p>
        </p:txBody>
      </p:sp>
    </p:spTree>
  </p:cSld>
  <p:clrMapOvr>
    <a:masterClrMapping/>
  </p:clrMapOvr>
</p:sld>
</file>

<file path=ppt/theme/theme1.xml><?xml version="1.0" encoding="utf-8"?>
<a:theme xmlns:a="http://schemas.openxmlformats.org/drawingml/2006/main" name="AtomicPass">
  <a:themeElements>
    <a:clrScheme name="AtomicPass">
      <a:dk1>
        <a:srgbClr val="12232B"/>
      </a:dk1>
      <a:lt1>
        <a:srgbClr val="FFFFFF"/>
      </a:lt1>
      <a:dk2>
        <a:srgbClr val="0B6E6E"/>
      </a:dk2>
      <a:lt2>
        <a:srgbClr val="EAF3F1"/>
      </a:lt2>
      <a:accent1>
        <a:srgbClr val="0B6E6E"/>
      </a:accent1>
      <a:accent2>
        <a:srgbClr val="E0A526"/>
      </a:accent2>
      <a:accent3>
        <a:srgbClr val="A8431F"/>
      </a:accent3>
      <a:accent4>
        <a:srgbClr val="5B6675"/>
      </a:accent4>
      <a:accent5>
        <a:srgbClr val="2F8F83"/>
      </a:accent5>
      <a:accent6>
        <a:srgbClr val="1B4B5A"/>
      </a:accent6>
      <a:hlink>
        <a:srgbClr val="0B6E6E"/>
      </a:hlink>
      <a:folHlink>
        <a:srgbClr val="5B6675"/>
      </a:folHlink>
    </a:clrScheme>
    <a:fontScheme name="AtomicPas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AtomicPass: Concurrency-Safe Ticketing</dc:title>
  <dc:subject>PptxGenJS Presentation</dc:subject>
  <dc:creator>Team DBG-462</dc:creator>
  <cp:lastModifiedBy>Team DBG-462</cp:lastModifiedBy>
  <cp:revision>1</cp:revision>
  <dcterms:created xsi:type="dcterms:W3CDTF">2026-10-06T07:08:16Z</dcterms:created>
  <dcterms:modified xsi:type="dcterms:W3CDTF">2026-10-06T07:08:16Z</dcterms:modified>
</cp:coreProperties>
</file>